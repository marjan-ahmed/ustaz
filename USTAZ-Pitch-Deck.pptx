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38160" y="0"/>
            <a:ext cx="4050791" cy="68580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58400" y="2194560"/>
            <a:ext cx="2468880" cy="24688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26880" y="4206240"/>
            <a:ext cx="1097280" cy="1097280"/>
          </a:xfrm>
          <a:prstGeom prst="ellipse">
            <a:avLst/>
          </a:prstGeom>
          <a:solidFill>
            <a:srgbClr val="1D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128016" cy="182880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240280"/>
            <a:ext cx="6400800" cy="2011680"/>
          </a:xfrm>
          <a:prstGeom prst="rect">
            <a:avLst/>
          </a:prstGeom>
          <a:noFill/>
        </p:spPr>
        <p:txBody>
          <a:bodyPr wrap="square" anchor="t">
            <a:spAutoFit/>
          </a:bodyPr>
          <a:lstStyle/>
          <a:p>
            <a:pPr algn="l">
              <a:lnSpc>
                <a:spcPct val="105000"/>
              </a:lnSpc>
              <a:spcAft>
                <a:spcPts val="1000"/>
              </a:spcAft>
            </a:pPr>
            <a:r>
              <a:rPr sz="6600" b="1">
                <a:solidFill>
                  <a:srgbClr val="111828"/>
                </a:solidFill>
                <a:latin typeface="Calibri"/>
              </a:rPr>
              <a:t>USTAZ</a:t>
            </a:r>
          </a:p>
          <a:p>
            <a:pPr algn="l">
              <a:lnSpc>
                <a:spcPct val="105000"/>
              </a:lnSpc>
              <a:spcAft>
                <a:spcPts val="1000"/>
              </a:spcAft>
            </a:pPr>
            <a:r>
              <a:rPr sz="2000" b="1">
                <a:solidFill>
                  <a:srgbClr val="DB4B0D"/>
                </a:solidFill>
                <a:latin typeface="Calibri"/>
              </a:rPr>
              <a:t>Trusted home-service professionals, on demand.</a:t>
            </a:r>
          </a:p>
        </p:txBody>
      </p:sp>
      <p:sp>
        <p:nvSpPr>
          <p:cNvPr id="8" name="TextBox 7"/>
          <p:cNvSpPr txBox="1"/>
          <p:nvPr/>
        </p:nvSpPr>
        <p:spPr>
          <a:xfrm>
            <a:off x="1170432" y="4160520"/>
            <a:ext cx="6400800" cy="914400"/>
          </a:xfrm>
          <a:prstGeom prst="rect">
            <a:avLst/>
          </a:prstGeom>
          <a:noFill/>
        </p:spPr>
        <p:txBody>
          <a:bodyPr wrap="square" anchor="t">
            <a:spAutoFit/>
          </a:bodyPr>
          <a:lstStyle/>
          <a:p>
            <a:pPr algn="l">
              <a:lnSpc>
                <a:spcPct val="105000"/>
              </a:lnSpc>
              <a:spcAft>
                <a:spcPts val="400"/>
              </a:spcAft>
            </a:pPr>
            <a:r>
              <a:rPr sz="1400" b="0">
                <a:solidFill>
                  <a:srgbClr val="3A3F4A"/>
                </a:solidFill>
                <a:latin typeface="Calibri"/>
              </a:rPr>
              <a:t>Pakistan's verified marketplace for electricians, plumbers, carpenters,</a:t>
            </a:r>
          </a:p>
          <a:p>
            <a:pPr algn="l">
              <a:lnSpc>
                <a:spcPct val="105000"/>
              </a:lnSpc>
              <a:spcAft>
                <a:spcPts val="400"/>
              </a:spcAft>
            </a:pPr>
            <a:r>
              <a:rPr sz="1400" b="0">
                <a:solidFill>
                  <a:srgbClr val="3A3F4A"/>
                </a:solidFill>
                <a:latin typeface="Calibri"/>
              </a:rPr>
              <a:t>AC, solar &amp; cleaning , with live tracking and a 3-day work guarantee.</a:t>
            </a:r>
          </a:p>
        </p:txBody>
      </p:sp>
      <p:sp>
        <p:nvSpPr>
          <p:cNvPr id="9" name="Rectangle 8"/>
          <p:cNvSpPr/>
          <p:nvPr/>
        </p:nvSpPr>
        <p:spPr>
          <a:xfrm>
            <a:off x="1170432" y="4846320"/>
            <a:ext cx="2011680" cy="64008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61872" y="4846320"/>
            <a:ext cx="2011680" cy="640080"/>
          </a:xfrm>
          <a:prstGeom prst="rect">
            <a:avLst/>
          </a:prstGeom>
          <a:noFill/>
        </p:spPr>
        <p:txBody>
          <a:bodyPr wrap="square" anchor="ctr">
            <a:spAutoFit/>
          </a:bodyPr>
          <a:lstStyle/>
          <a:p>
            <a:pPr algn="l">
              <a:lnSpc>
                <a:spcPct val="105000"/>
              </a:lnSpc>
              <a:spcAft>
                <a:spcPts val="0"/>
              </a:spcAft>
            </a:pPr>
            <a:r>
              <a:rPr sz="1600" b="1">
                <a:solidFill>
                  <a:srgbClr val="DB4B0D"/>
                </a:solidFill>
                <a:latin typeface="Calibri"/>
              </a:rPr>
              <a:t>6</a:t>
            </a:r>
            <a:r>
              <a:rPr sz="950" b="0">
                <a:solidFill>
                  <a:srgbClr val="3A3F4A"/>
                </a:solidFill>
                <a:latin typeface="Calibri"/>
              </a:rPr>
              <a:t>  Service categories live</a:t>
            </a:r>
          </a:p>
        </p:txBody>
      </p:sp>
      <p:sp>
        <p:nvSpPr>
          <p:cNvPr id="11" name="Rectangle 10"/>
          <p:cNvSpPr/>
          <p:nvPr/>
        </p:nvSpPr>
        <p:spPr>
          <a:xfrm>
            <a:off x="3319272" y="4846320"/>
            <a:ext cx="2011680" cy="64008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4846320"/>
            <a:ext cx="2011680" cy="640080"/>
          </a:xfrm>
          <a:prstGeom prst="rect">
            <a:avLst/>
          </a:prstGeom>
          <a:noFill/>
        </p:spPr>
        <p:txBody>
          <a:bodyPr wrap="square" anchor="ctr">
            <a:spAutoFit/>
          </a:bodyPr>
          <a:lstStyle/>
          <a:p>
            <a:pPr algn="l">
              <a:lnSpc>
                <a:spcPct val="105000"/>
              </a:lnSpc>
              <a:spcAft>
                <a:spcPts val="0"/>
              </a:spcAft>
            </a:pPr>
            <a:r>
              <a:rPr sz="1600" b="1">
                <a:solidFill>
                  <a:srgbClr val="DB4B0D"/>
                </a:solidFill>
                <a:latin typeface="Calibri"/>
              </a:rPr>
              <a:t>8+</a:t>
            </a:r>
            <a:r>
              <a:rPr sz="950" b="0">
                <a:solidFill>
                  <a:srgbClr val="3A3F4A"/>
                </a:solidFill>
                <a:latin typeface="Calibri"/>
              </a:rPr>
              <a:t>  Core systems shipped</a:t>
            </a:r>
          </a:p>
        </p:txBody>
      </p:sp>
      <p:sp>
        <p:nvSpPr>
          <p:cNvPr id="13" name="Rectangle 12"/>
          <p:cNvSpPr/>
          <p:nvPr/>
        </p:nvSpPr>
        <p:spPr>
          <a:xfrm>
            <a:off x="5468112" y="4846320"/>
            <a:ext cx="2011680" cy="64008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59552" y="4846320"/>
            <a:ext cx="2011680" cy="640080"/>
          </a:xfrm>
          <a:prstGeom prst="rect">
            <a:avLst/>
          </a:prstGeom>
          <a:noFill/>
        </p:spPr>
        <p:txBody>
          <a:bodyPr wrap="square" anchor="ctr">
            <a:spAutoFit/>
          </a:bodyPr>
          <a:lstStyle/>
          <a:p>
            <a:pPr algn="l">
              <a:lnSpc>
                <a:spcPct val="105000"/>
              </a:lnSpc>
              <a:spcAft>
                <a:spcPts val="0"/>
              </a:spcAft>
            </a:pPr>
            <a:r>
              <a:rPr sz="1600" b="1">
                <a:solidFill>
                  <a:srgbClr val="DB4B0D"/>
                </a:solidFill>
                <a:latin typeface="Calibri"/>
              </a:rPr>
              <a:t>100%</a:t>
            </a:r>
            <a:r>
              <a:rPr sz="950" b="0">
                <a:solidFill>
                  <a:srgbClr val="3A3F4A"/>
                </a:solidFill>
                <a:latin typeface="Calibri"/>
              </a:rPr>
              <a:t>  Tables RLS-secured</a:t>
            </a:r>
          </a:p>
        </p:txBody>
      </p:sp>
      <p:sp>
        <p:nvSpPr>
          <p:cNvPr id="15" name="TextBox 14"/>
          <p:cNvSpPr txBox="1"/>
          <p:nvPr/>
        </p:nvSpPr>
        <p:spPr>
          <a:xfrm>
            <a:off x="1170432" y="5623560"/>
            <a:ext cx="640080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 Live MVP:  </a:t>
            </a:r>
            <a:r>
              <a:rPr sz="1300" b="1">
                <a:solidFill>
                  <a:srgbClr val="111828"/>
                </a:solidFill>
                <a:latin typeface="Calibri"/>
              </a:rPr>
              <a:t>ustaz-bice.vercel.app</a:t>
            </a:r>
          </a:p>
        </p:txBody>
      </p:sp>
      <p:sp>
        <p:nvSpPr>
          <p:cNvPr id="16" name="TextBox 15"/>
          <p:cNvSpPr txBox="1"/>
          <p:nvPr/>
        </p:nvSpPr>
        <p:spPr>
          <a:xfrm>
            <a:off x="8138160" y="5120640"/>
            <a:ext cx="4050791" cy="457200"/>
          </a:xfrm>
          <a:prstGeom prst="rect">
            <a:avLst/>
          </a:prstGeom>
          <a:noFill/>
        </p:spPr>
        <p:txBody>
          <a:bodyPr wrap="square" anchor="t">
            <a:spAutoFit/>
          </a:bodyPr>
          <a:lstStyle/>
          <a:p>
            <a:pPr algn="ctr">
              <a:lnSpc>
                <a:spcPct val="105000"/>
              </a:lnSpc>
              <a:spcAft>
                <a:spcPts val="600"/>
              </a:spcAft>
            </a:pPr>
            <a:r>
              <a:rPr sz="1100" b="0">
                <a:solidFill>
                  <a:srgbClr val="CFD3DA"/>
                </a:solidFill>
                <a:latin typeface="Calibri"/>
              </a:rPr>
              <a:t>Applying for NIC Karachi incubation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 PROBLEM &amp; CUSTOMER PAIN POINTS</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Home services in Pakistan are broken on trust</a:t>
            </a:r>
          </a:p>
        </p:txBody>
      </p:sp>
      <p:sp>
        <p:nvSpPr>
          <p:cNvPr id="7" name="TextBox 6"/>
          <p:cNvSpPr txBox="1"/>
          <p:nvPr/>
        </p:nvSpPr>
        <p:spPr>
          <a:xfrm>
            <a:off x="731520" y="1737360"/>
            <a:ext cx="10607040" cy="731520"/>
          </a:xfrm>
          <a:prstGeom prst="rect">
            <a:avLst/>
          </a:prstGeom>
          <a:noFill/>
        </p:spPr>
        <p:txBody>
          <a:bodyPr wrap="square" anchor="t">
            <a:spAutoFit/>
          </a:bodyPr>
          <a:lstStyle/>
          <a:p>
            <a:pPr algn="l">
              <a:lnSpc>
                <a:spcPct val="112000"/>
              </a:lnSpc>
              <a:spcAft>
                <a:spcPts val="600"/>
              </a:spcAft>
            </a:pPr>
            <a:r>
              <a:rPr sz="1400" b="1">
                <a:solidFill>
                  <a:srgbClr val="DB4B0D"/>
                </a:solidFill>
                <a:latin typeface="Calibri"/>
              </a:rPr>
              <a:t>The anxiety: </a:t>
            </a:r>
            <a:r>
              <a:rPr sz="1300" b="0">
                <a:solidFill>
                  <a:srgbClr val="3A3F4A"/>
                </a:solidFill>
                <a:latin typeface="Calibri"/>
              </a:rPr>
              <a:t>a Karachi mother's AC dies in the June heat. She must let an unknown man into her home, with no idea who he is, what he'll charge, when he'll arrive, or whether it'll break again tomorrow.</a:t>
            </a:r>
          </a:p>
        </p:txBody>
      </p:sp>
      <p:sp>
        <p:nvSpPr>
          <p:cNvPr id="8" name="Rectangle 7"/>
          <p:cNvSpPr/>
          <p:nvPr/>
        </p:nvSpPr>
        <p:spPr>
          <a:xfrm>
            <a:off x="731520" y="2606040"/>
            <a:ext cx="109728"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606040"/>
            <a:ext cx="2926080" cy="54864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No verification</a:t>
            </a:r>
          </a:p>
        </p:txBody>
      </p:sp>
      <p:sp>
        <p:nvSpPr>
          <p:cNvPr id="10" name="Rectangle 9"/>
          <p:cNvSpPr/>
          <p:nvPr/>
        </p:nvSpPr>
        <p:spPr>
          <a:xfrm>
            <a:off x="3977639" y="2679192"/>
            <a:ext cx="1783080" cy="402336"/>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79192"/>
            <a:ext cx="1783080" cy="402336"/>
          </a:xfrm>
          <a:prstGeom prst="rect">
            <a:avLst/>
          </a:prstGeom>
          <a:noFill/>
        </p:spPr>
        <p:txBody>
          <a:bodyPr wrap="square" anchor="ctr">
            <a:spAutoFit/>
          </a:bodyPr>
          <a:lstStyle/>
          <a:p>
            <a:pPr algn="ctr">
              <a:lnSpc>
                <a:spcPct val="105000"/>
              </a:lnSpc>
              <a:spcAft>
                <a:spcPts val="600"/>
              </a:spcAft>
            </a:pPr>
            <a:r>
              <a:rPr sz="1050" b="1">
                <a:solidFill>
                  <a:srgbClr val="DB4B0D"/>
                </a:solidFill>
                <a:latin typeface="Calibri"/>
              </a:rPr>
              <a:t>Support</a:t>
            </a:r>
          </a:p>
        </p:txBody>
      </p:sp>
      <p:sp>
        <p:nvSpPr>
          <p:cNvPr id="12" name="TextBox 11"/>
          <p:cNvSpPr txBox="1"/>
          <p:nvPr/>
        </p:nvSpPr>
        <p:spPr>
          <a:xfrm>
            <a:off x="5943600" y="2606040"/>
            <a:ext cx="5486400" cy="548640"/>
          </a:xfrm>
          <a:prstGeom prst="rect">
            <a:avLst/>
          </a:prstGeom>
          <a:noFill/>
        </p:spPr>
        <p:txBody>
          <a:bodyPr wrap="square" anchor="ctr">
            <a:spAutoFit/>
          </a:bodyPr>
          <a:lstStyle/>
          <a:p>
            <a:pPr algn="l">
              <a:lnSpc>
                <a:spcPct val="100000"/>
              </a:lnSpc>
              <a:spcAft>
                <a:spcPts val="600"/>
              </a:spcAft>
            </a:pPr>
            <a:r>
              <a:rPr sz="1150" b="0">
                <a:solidFill>
                  <a:srgbClr val="3A3F4A"/>
                </a:solidFill>
                <a:latin typeface="Calibri"/>
              </a:rPr>
              <a:t>An unknown stranger in your home , no identity check, no accountability.</a:t>
            </a:r>
          </a:p>
        </p:txBody>
      </p:sp>
      <p:sp>
        <p:nvSpPr>
          <p:cNvPr id="13" name="Rectangle 12"/>
          <p:cNvSpPr/>
          <p:nvPr/>
        </p:nvSpPr>
        <p:spPr>
          <a:xfrm>
            <a:off x="731520" y="3209544"/>
            <a:ext cx="109728"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09544"/>
            <a:ext cx="2926080" cy="54864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Opaque pricing</a:t>
            </a:r>
          </a:p>
        </p:txBody>
      </p:sp>
      <p:sp>
        <p:nvSpPr>
          <p:cNvPr id="15" name="Rectangle 14"/>
          <p:cNvSpPr/>
          <p:nvPr/>
        </p:nvSpPr>
        <p:spPr>
          <a:xfrm>
            <a:off x="3977639" y="3282696"/>
            <a:ext cx="1783080" cy="402336"/>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77639" y="3282696"/>
            <a:ext cx="1783080" cy="402336"/>
          </a:xfrm>
          <a:prstGeom prst="rect">
            <a:avLst/>
          </a:prstGeom>
          <a:noFill/>
        </p:spPr>
        <p:txBody>
          <a:bodyPr wrap="square" anchor="ctr">
            <a:spAutoFit/>
          </a:bodyPr>
          <a:lstStyle/>
          <a:p>
            <a:pPr algn="ctr">
              <a:lnSpc>
                <a:spcPct val="105000"/>
              </a:lnSpc>
              <a:spcAft>
                <a:spcPts val="600"/>
              </a:spcAft>
            </a:pPr>
            <a:r>
              <a:rPr sz="1050" b="1">
                <a:solidFill>
                  <a:srgbClr val="DB4B0D"/>
                </a:solidFill>
                <a:latin typeface="Calibri"/>
              </a:rPr>
              <a:t>Financial</a:t>
            </a:r>
          </a:p>
        </p:txBody>
      </p:sp>
      <p:sp>
        <p:nvSpPr>
          <p:cNvPr id="17" name="TextBox 16"/>
          <p:cNvSpPr txBox="1"/>
          <p:nvPr/>
        </p:nvSpPr>
        <p:spPr>
          <a:xfrm>
            <a:off x="5943600" y="3209544"/>
            <a:ext cx="5486400" cy="548640"/>
          </a:xfrm>
          <a:prstGeom prst="rect">
            <a:avLst/>
          </a:prstGeom>
          <a:noFill/>
        </p:spPr>
        <p:txBody>
          <a:bodyPr wrap="square" anchor="ctr">
            <a:spAutoFit/>
          </a:bodyPr>
          <a:lstStyle/>
          <a:p>
            <a:pPr algn="l">
              <a:lnSpc>
                <a:spcPct val="100000"/>
              </a:lnSpc>
              <a:spcAft>
                <a:spcPts val="600"/>
              </a:spcAft>
            </a:pPr>
            <a:r>
              <a:rPr sz="1150" b="0">
                <a:solidFill>
                  <a:srgbClr val="3A3F4A"/>
                </a:solidFill>
                <a:latin typeface="Calibri"/>
              </a:rPr>
              <a:t>Overcharging is routine , no standard rates, no upfront quote, no receipt.</a:t>
            </a:r>
          </a:p>
        </p:txBody>
      </p:sp>
      <p:sp>
        <p:nvSpPr>
          <p:cNvPr id="18" name="Rectangle 17"/>
          <p:cNvSpPr/>
          <p:nvPr/>
        </p:nvSpPr>
        <p:spPr>
          <a:xfrm>
            <a:off x="731520" y="3813048"/>
            <a:ext cx="109728"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13048"/>
            <a:ext cx="2926080" cy="54864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No recourse / guarantee</a:t>
            </a:r>
          </a:p>
        </p:txBody>
      </p:sp>
      <p:sp>
        <p:nvSpPr>
          <p:cNvPr id="20" name="Rectangle 19"/>
          <p:cNvSpPr/>
          <p:nvPr/>
        </p:nvSpPr>
        <p:spPr>
          <a:xfrm>
            <a:off x="3977639" y="3886200"/>
            <a:ext cx="1783080" cy="402336"/>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77639" y="3886200"/>
            <a:ext cx="1783080" cy="402336"/>
          </a:xfrm>
          <a:prstGeom prst="rect">
            <a:avLst/>
          </a:prstGeom>
          <a:noFill/>
        </p:spPr>
        <p:txBody>
          <a:bodyPr wrap="square" anchor="ctr">
            <a:spAutoFit/>
          </a:bodyPr>
          <a:lstStyle/>
          <a:p>
            <a:pPr algn="ctr">
              <a:lnSpc>
                <a:spcPct val="105000"/>
              </a:lnSpc>
              <a:spcAft>
                <a:spcPts val="600"/>
              </a:spcAft>
            </a:pPr>
            <a:r>
              <a:rPr sz="1050" b="1">
                <a:solidFill>
                  <a:srgbClr val="DB4B0D"/>
                </a:solidFill>
                <a:latin typeface="Calibri"/>
              </a:rPr>
              <a:t>Process</a:t>
            </a:r>
          </a:p>
        </p:txBody>
      </p:sp>
      <p:sp>
        <p:nvSpPr>
          <p:cNvPr id="22" name="TextBox 21"/>
          <p:cNvSpPr txBox="1"/>
          <p:nvPr/>
        </p:nvSpPr>
        <p:spPr>
          <a:xfrm>
            <a:off x="5943600" y="3813048"/>
            <a:ext cx="5486400" cy="548640"/>
          </a:xfrm>
          <a:prstGeom prst="rect">
            <a:avLst/>
          </a:prstGeom>
          <a:noFill/>
        </p:spPr>
        <p:txBody>
          <a:bodyPr wrap="square" anchor="ctr">
            <a:spAutoFit/>
          </a:bodyPr>
          <a:lstStyle/>
          <a:p>
            <a:pPr algn="l">
              <a:lnSpc>
                <a:spcPct val="100000"/>
              </a:lnSpc>
              <a:spcAft>
                <a:spcPts val="600"/>
              </a:spcAft>
            </a:pPr>
            <a:r>
              <a:rPr sz="1150" b="0">
                <a:solidFill>
                  <a:srgbClr val="3A3F4A"/>
                </a:solidFill>
                <a:latin typeface="Calibri"/>
              </a:rPr>
              <a:t>If the work fails a day later, the worker vanishes , broken workflow.</a:t>
            </a:r>
          </a:p>
        </p:txBody>
      </p:sp>
      <p:sp>
        <p:nvSpPr>
          <p:cNvPr id="23" name="Rectangle 22"/>
          <p:cNvSpPr/>
          <p:nvPr/>
        </p:nvSpPr>
        <p:spPr>
          <a:xfrm>
            <a:off x="731520" y="4416552"/>
            <a:ext cx="109728"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416552"/>
            <a:ext cx="2926080" cy="54864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No visibility / ETA</a:t>
            </a:r>
          </a:p>
        </p:txBody>
      </p:sp>
      <p:sp>
        <p:nvSpPr>
          <p:cNvPr id="25" name="Rectangle 24"/>
          <p:cNvSpPr/>
          <p:nvPr/>
        </p:nvSpPr>
        <p:spPr>
          <a:xfrm>
            <a:off x="3977639" y="4489704"/>
            <a:ext cx="1783080" cy="402336"/>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77639" y="4489704"/>
            <a:ext cx="1783080" cy="402336"/>
          </a:xfrm>
          <a:prstGeom prst="rect">
            <a:avLst/>
          </a:prstGeom>
          <a:noFill/>
        </p:spPr>
        <p:txBody>
          <a:bodyPr wrap="square" anchor="ctr">
            <a:spAutoFit/>
          </a:bodyPr>
          <a:lstStyle/>
          <a:p>
            <a:pPr algn="ctr">
              <a:lnSpc>
                <a:spcPct val="105000"/>
              </a:lnSpc>
              <a:spcAft>
                <a:spcPts val="600"/>
              </a:spcAft>
            </a:pPr>
            <a:r>
              <a:rPr sz="1050" b="1">
                <a:solidFill>
                  <a:srgbClr val="DB4B0D"/>
                </a:solidFill>
                <a:latin typeface="Calibri"/>
              </a:rPr>
              <a:t>Productivity</a:t>
            </a:r>
          </a:p>
        </p:txBody>
      </p:sp>
      <p:sp>
        <p:nvSpPr>
          <p:cNvPr id="27" name="TextBox 26"/>
          <p:cNvSpPr txBox="1"/>
          <p:nvPr/>
        </p:nvSpPr>
        <p:spPr>
          <a:xfrm>
            <a:off x="5943600" y="4416552"/>
            <a:ext cx="5486400" cy="548640"/>
          </a:xfrm>
          <a:prstGeom prst="rect">
            <a:avLst/>
          </a:prstGeom>
          <a:noFill/>
        </p:spPr>
        <p:txBody>
          <a:bodyPr wrap="square" anchor="ctr">
            <a:spAutoFit/>
          </a:bodyPr>
          <a:lstStyle/>
          <a:p>
            <a:pPr algn="l">
              <a:lnSpc>
                <a:spcPct val="100000"/>
              </a:lnSpc>
              <a:spcAft>
                <a:spcPts val="600"/>
              </a:spcAft>
            </a:pPr>
            <a:r>
              <a:rPr sz="1150" b="0">
                <a:solidFill>
                  <a:srgbClr val="3A3F4A"/>
                </a:solidFill>
                <a:latin typeface="Calibri"/>
              </a:rPr>
              <a:t>"He's on the way" means waiting blind for hours , like a ride with no map.</a:t>
            </a:r>
          </a:p>
        </p:txBody>
      </p:sp>
      <p:sp>
        <p:nvSpPr>
          <p:cNvPr id="28" name="Rectangle 27"/>
          <p:cNvSpPr/>
          <p:nvPr/>
        </p:nvSpPr>
        <p:spPr>
          <a:xfrm>
            <a:off x="731520" y="5020056"/>
            <a:ext cx="109728"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020056"/>
            <a:ext cx="2926080" cy="54864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Supply side ignored</a:t>
            </a:r>
          </a:p>
        </p:txBody>
      </p:sp>
      <p:sp>
        <p:nvSpPr>
          <p:cNvPr id="30" name="Rectangle 29"/>
          <p:cNvSpPr/>
          <p:nvPr/>
        </p:nvSpPr>
        <p:spPr>
          <a:xfrm>
            <a:off x="3977639" y="5093208"/>
            <a:ext cx="1783080" cy="402336"/>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77639" y="5093208"/>
            <a:ext cx="1783080" cy="402336"/>
          </a:xfrm>
          <a:prstGeom prst="rect">
            <a:avLst/>
          </a:prstGeom>
          <a:noFill/>
        </p:spPr>
        <p:txBody>
          <a:bodyPr wrap="square" anchor="ctr">
            <a:spAutoFit/>
          </a:bodyPr>
          <a:lstStyle/>
          <a:p>
            <a:pPr algn="ctr">
              <a:lnSpc>
                <a:spcPct val="105000"/>
              </a:lnSpc>
              <a:spcAft>
                <a:spcPts val="600"/>
              </a:spcAft>
            </a:pPr>
            <a:r>
              <a:rPr sz="1050" b="1">
                <a:solidFill>
                  <a:srgbClr val="DB4B0D"/>
                </a:solidFill>
                <a:latin typeface="Calibri"/>
              </a:rPr>
              <a:t>Financial + Process</a:t>
            </a:r>
          </a:p>
        </p:txBody>
      </p:sp>
      <p:sp>
        <p:nvSpPr>
          <p:cNvPr id="32" name="TextBox 31"/>
          <p:cNvSpPr txBox="1"/>
          <p:nvPr/>
        </p:nvSpPr>
        <p:spPr>
          <a:xfrm>
            <a:off x="5943600" y="5020056"/>
            <a:ext cx="5486400" cy="548640"/>
          </a:xfrm>
          <a:prstGeom prst="rect">
            <a:avLst/>
          </a:prstGeom>
          <a:noFill/>
        </p:spPr>
        <p:txBody>
          <a:bodyPr wrap="square" anchor="ctr">
            <a:spAutoFit/>
          </a:bodyPr>
          <a:lstStyle/>
          <a:p>
            <a:pPr algn="l">
              <a:lnSpc>
                <a:spcPct val="100000"/>
              </a:lnSpc>
              <a:spcAft>
                <a:spcPts val="600"/>
              </a:spcAft>
            </a:pPr>
            <a:r>
              <a:rPr sz="1150" b="0">
                <a:solidFill>
                  <a:srgbClr val="3A3F4A"/>
                </a:solidFill>
                <a:latin typeface="Calibri"/>
              </a:rPr>
              <a:t>Skilled workers have no steady demand, no digital reach, no portable reputation.</a:t>
            </a:r>
          </a:p>
        </p:txBody>
      </p:sp>
      <p:sp>
        <p:nvSpPr>
          <p:cNvPr id="33" name="TextBox 32"/>
          <p:cNvSpPr txBox="1"/>
          <p:nvPr/>
        </p:nvSpPr>
        <p:spPr>
          <a:xfrm>
            <a:off x="731520" y="5760720"/>
            <a:ext cx="10607040" cy="457200"/>
          </a:xfrm>
          <a:prstGeom prst="rect">
            <a:avLst/>
          </a:prstGeom>
          <a:noFill/>
        </p:spPr>
        <p:txBody>
          <a:bodyPr wrap="square" anchor="t">
            <a:spAutoFit/>
          </a:bodyPr>
          <a:lstStyle/>
          <a:p>
            <a:pPr algn="l">
              <a:lnSpc>
                <a:spcPct val="105000"/>
              </a:lnSpc>
              <a:spcAft>
                <a:spcPts val="600"/>
              </a:spcAft>
            </a:pPr>
            <a:r>
              <a:rPr sz="1100" b="1">
                <a:solidFill>
                  <a:srgbClr val="111828"/>
                </a:solidFill>
                <a:latin typeface="Calibri"/>
              </a:rPr>
              <a:t>Pain mapped to NIC's four categories , Financial · Productivity · Process · Support.</a:t>
            </a:r>
          </a:p>
        </p:txBody>
      </p:sp>
      <p:sp>
        <p:nvSpPr>
          <p:cNvPr id="34" name="TextBox 33"/>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10312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332720" y="457200"/>
            <a:ext cx="1463040" cy="146304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058400" cy="45720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2. UNIQUE VALUE PROPOSITION</a:t>
            </a:r>
          </a:p>
        </p:txBody>
      </p:sp>
      <p:sp>
        <p:nvSpPr>
          <p:cNvPr id="6" name="TextBox 5"/>
          <p:cNvSpPr txBox="1"/>
          <p:nvPr/>
        </p:nvSpPr>
        <p:spPr>
          <a:xfrm>
            <a:off x="731520" y="1325880"/>
            <a:ext cx="10515600" cy="822960"/>
          </a:xfrm>
          <a:prstGeom prst="rect">
            <a:avLst/>
          </a:prstGeom>
          <a:noFill/>
        </p:spPr>
        <p:txBody>
          <a:bodyPr wrap="square" anchor="t">
            <a:spAutoFit/>
          </a:bodyPr>
          <a:lstStyle/>
          <a:p>
            <a:pPr algn="l">
              <a:lnSpc>
                <a:spcPct val="105000"/>
              </a:lnSpc>
              <a:spcAft>
                <a:spcPts val="600"/>
              </a:spcAft>
            </a:pPr>
            <a:r>
              <a:rPr sz="2800" b="1">
                <a:solidFill>
                  <a:srgbClr val="111828"/>
                </a:solidFill>
                <a:latin typeface="Calibri"/>
              </a:rPr>
              <a:t>Trust a stranger in your home , for the first time.</a:t>
            </a:r>
          </a:p>
        </p:txBody>
      </p:sp>
      <p:sp>
        <p:nvSpPr>
          <p:cNvPr id="7" name="TextBox 6"/>
          <p:cNvSpPr txBox="1"/>
          <p:nvPr/>
        </p:nvSpPr>
        <p:spPr>
          <a:xfrm>
            <a:off x="914400" y="2606040"/>
            <a:ext cx="10332720" cy="1737360"/>
          </a:xfrm>
          <a:prstGeom prst="rect">
            <a:avLst/>
          </a:prstGeom>
          <a:noFill/>
        </p:spPr>
        <p:txBody>
          <a:bodyPr wrap="square" anchor="ctr">
            <a:spAutoFit/>
          </a:bodyPr>
          <a:lstStyle/>
          <a:p>
            <a:pPr algn="l">
              <a:lnSpc>
                <a:spcPct val="116000"/>
              </a:lnSpc>
              <a:spcAft>
                <a:spcPts val="1000"/>
              </a:spcAft>
            </a:pPr>
            <a:r>
              <a:rPr sz="1800" b="0">
                <a:solidFill>
                  <a:srgbClr val="FFFFFF"/>
                </a:solidFill>
                <a:latin typeface="Calibri"/>
              </a:rPr>
              <a:t>USTAZ phone-verifies every pro, shows you exactly where they are, and </a:t>
            </a:r>
            <a:r>
              <a:rPr sz="1800" b="1">
                <a:solidFill>
                  <a:srgbClr val="DB4B0D"/>
                </a:solidFill>
                <a:latin typeface="Calibri"/>
              </a:rPr>
              <a:t>guarantees the work for 3 days , or we fix it free.</a:t>
            </a:r>
          </a:p>
          <a:p>
            <a:pPr algn="l">
              <a:lnSpc>
                <a:spcPct val="116000"/>
              </a:lnSpc>
              <a:spcAft>
                <a:spcPts val="1000"/>
              </a:spcAft>
            </a:pPr>
            <a:r>
              <a:rPr sz="1600" b="1">
                <a:solidFill>
                  <a:srgbClr val="F8C9A8"/>
                </a:solidFill>
                <a:latin typeface="Calibri"/>
              </a:rPr>
              <a:t>Halal by design , no interest, no hidden charges, just a transparent service fee.</a:t>
            </a:r>
          </a:p>
        </p:txBody>
      </p:sp>
      <p:sp>
        <p:nvSpPr>
          <p:cNvPr id="8" name="Rectangle 7"/>
          <p:cNvSpPr/>
          <p:nvPr/>
        </p:nvSpPr>
        <p:spPr>
          <a:xfrm>
            <a:off x="731520" y="4937760"/>
            <a:ext cx="2697480" cy="73152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937760"/>
            <a:ext cx="2697480" cy="731520"/>
          </a:xfrm>
          <a:prstGeom prst="rect">
            <a:avLst/>
          </a:prstGeom>
          <a:noFill/>
        </p:spPr>
        <p:txBody>
          <a:bodyPr wrap="square" anchor="ctr">
            <a:spAutoFit/>
          </a:bodyPr>
          <a:lstStyle/>
          <a:p>
            <a:pPr algn="ctr">
              <a:lnSpc>
                <a:spcPct val="105000"/>
              </a:lnSpc>
              <a:spcAft>
                <a:spcPts val="600"/>
              </a:spcAft>
            </a:pPr>
            <a:r>
              <a:rPr sz="1300" b="1">
                <a:solidFill>
                  <a:srgbClr val="111828"/>
                </a:solidFill>
                <a:latin typeface="Calibri"/>
              </a:rPr>
              <a:t>Feel safe at the door</a:t>
            </a:r>
          </a:p>
        </p:txBody>
      </p:sp>
      <p:sp>
        <p:nvSpPr>
          <p:cNvPr id="10" name="Rectangle 9"/>
          <p:cNvSpPr/>
          <p:nvPr/>
        </p:nvSpPr>
        <p:spPr>
          <a:xfrm>
            <a:off x="3520440" y="4937760"/>
            <a:ext cx="2697480" cy="73152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4937760"/>
            <a:ext cx="2697480" cy="731520"/>
          </a:xfrm>
          <a:prstGeom prst="rect">
            <a:avLst/>
          </a:prstGeom>
          <a:noFill/>
        </p:spPr>
        <p:txBody>
          <a:bodyPr wrap="square" anchor="ctr">
            <a:spAutoFit/>
          </a:bodyPr>
          <a:lstStyle/>
          <a:p>
            <a:pPr algn="ctr">
              <a:lnSpc>
                <a:spcPct val="105000"/>
              </a:lnSpc>
              <a:spcAft>
                <a:spcPts val="600"/>
              </a:spcAft>
            </a:pPr>
            <a:r>
              <a:rPr sz="1300" b="1">
                <a:solidFill>
                  <a:srgbClr val="111828"/>
                </a:solidFill>
                <a:latin typeface="Calibri"/>
              </a:rPr>
              <a:t>See them on the way</a:t>
            </a:r>
          </a:p>
        </p:txBody>
      </p:sp>
      <p:sp>
        <p:nvSpPr>
          <p:cNvPr id="12" name="Rectangle 11"/>
          <p:cNvSpPr/>
          <p:nvPr/>
        </p:nvSpPr>
        <p:spPr>
          <a:xfrm>
            <a:off x="6309360" y="4937760"/>
            <a:ext cx="2697480" cy="73152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4937760"/>
            <a:ext cx="2697480" cy="731520"/>
          </a:xfrm>
          <a:prstGeom prst="rect">
            <a:avLst/>
          </a:prstGeom>
          <a:noFill/>
        </p:spPr>
        <p:txBody>
          <a:bodyPr wrap="square" anchor="ctr">
            <a:spAutoFit/>
          </a:bodyPr>
          <a:lstStyle/>
          <a:p>
            <a:pPr algn="ctr">
              <a:lnSpc>
                <a:spcPct val="105000"/>
              </a:lnSpc>
              <a:spcAft>
                <a:spcPts val="600"/>
              </a:spcAft>
            </a:pPr>
            <a:r>
              <a:rPr sz="1300" b="1">
                <a:solidFill>
                  <a:srgbClr val="111828"/>
                </a:solidFill>
                <a:latin typeface="Calibri"/>
              </a:rPr>
              <a:t>Covered for 3 days</a:t>
            </a:r>
          </a:p>
        </p:txBody>
      </p:sp>
      <p:sp>
        <p:nvSpPr>
          <p:cNvPr id="14" name="Rectangle 13"/>
          <p:cNvSpPr/>
          <p:nvPr/>
        </p:nvSpPr>
        <p:spPr>
          <a:xfrm>
            <a:off x="9098280" y="4937760"/>
            <a:ext cx="2697480" cy="73152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98280" y="4937760"/>
            <a:ext cx="2697480" cy="731520"/>
          </a:xfrm>
          <a:prstGeom prst="rect">
            <a:avLst/>
          </a:prstGeom>
          <a:noFill/>
        </p:spPr>
        <p:txBody>
          <a:bodyPr wrap="square" anchor="ctr">
            <a:spAutoFit/>
          </a:bodyPr>
          <a:lstStyle/>
          <a:p>
            <a:pPr algn="ctr">
              <a:lnSpc>
                <a:spcPct val="105000"/>
              </a:lnSpc>
              <a:spcAft>
                <a:spcPts val="600"/>
              </a:spcAft>
            </a:pPr>
            <a:r>
              <a:rPr sz="1300" b="1">
                <a:solidFill>
                  <a:srgbClr val="111828"/>
                </a:solidFill>
                <a:latin typeface="Calibri"/>
              </a:rPr>
              <a:t>Halal, transparent fee</a:t>
            </a:r>
          </a:p>
        </p:txBody>
      </p:sp>
      <p:sp>
        <p:nvSpPr>
          <p:cNvPr id="16" name="TextBox 15"/>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3. SOLUTION &amp; MVP</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Verified. Tracked. Guaranteed.</a:t>
            </a:r>
          </a:p>
        </p:txBody>
      </p:sp>
      <p:sp>
        <p:nvSpPr>
          <p:cNvPr id="7" name="TextBox 6"/>
          <p:cNvSpPr txBox="1"/>
          <p:nvPr/>
        </p:nvSpPr>
        <p:spPr>
          <a:xfrm>
            <a:off x="731520" y="1783080"/>
            <a:ext cx="10515600" cy="457200"/>
          </a:xfrm>
          <a:prstGeom prst="rect">
            <a:avLst/>
          </a:prstGeom>
          <a:noFill/>
        </p:spPr>
        <p:txBody>
          <a:bodyPr wrap="square" anchor="t">
            <a:spAutoFit/>
          </a:bodyPr>
          <a:lstStyle/>
          <a:p>
            <a:pPr algn="l">
              <a:lnSpc>
                <a:spcPct val="105000"/>
              </a:lnSpc>
              <a:spcAft>
                <a:spcPts val="600"/>
              </a:spcAft>
            </a:pPr>
            <a:r>
              <a:rPr sz="1600" b="1">
                <a:solidFill>
                  <a:srgbClr val="DB4B0D"/>
                </a:solidFill>
                <a:latin typeface="Calibri"/>
              </a:rPr>
              <a:t>An on-demand marketplace of phone-verified pros, matched by location and tracked live.</a:t>
            </a:r>
          </a:p>
        </p:txBody>
      </p:sp>
      <p:sp>
        <p:nvSpPr>
          <p:cNvPr id="8" name="Rectangle 7"/>
          <p:cNvSpPr/>
          <p:nvPr/>
        </p:nvSpPr>
        <p:spPr>
          <a:xfrm>
            <a:off x="731520" y="2468880"/>
            <a:ext cx="3383280" cy="22860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97480"/>
            <a:ext cx="640080" cy="6400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43200"/>
            <a:ext cx="640080" cy="548640"/>
          </a:xfrm>
          <a:prstGeom prst="rect">
            <a:avLst/>
          </a:prstGeom>
          <a:noFill/>
        </p:spPr>
        <p:txBody>
          <a:bodyPr wrap="square" anchor="ctr">
            <a:spAutoFit/>
          </a:bodyPr>
          <a:lstStyle/>
          <a:p>
            <a:pPr algn="ctr">
              <a:lnSpc>
                <a:spcPct val="105000"/>
              </a:lnSpc>
              <a:spcAft>
                <a:spcPts val="600"/>
              </a:spcAft>
            </a:pPr>
            <a:r>
              <a:rPr sz="2200" b="1">
                <a:solidFill>
                  <a:srgbClr val="FFFFFF"/>
                </a:solidFill>
                <a:latin typeface="Calibri"/>
              </a:rPr>
              <a:t>1</a:t>
            </a:r>
          </a:p>
        </p:txBody>
      </p:sp>
      <p:sp>
        <p:nvSpPr>
          <p:cNvPr id="11" name="TextBox 10"/>
          <p:cNvSpPr txBox="1"/>
          <p:nvPr/>
        </p:nvSpPr>
        <p:spPr>
          <a:xfrm>
            <a:off x="960120" y="3520440"/>
            <a:ext cx="2926080" cy="1188720"/>
          </a:xfrm>
          <a:prstGeom prst="rect">
            <a:avLst/>
          </a:prstGeom>
          <a:noFill/>
        </p:spPr>
        <p:txBody>
          <a:bodyPr wrap="square" anchor="t">
            <a:spAutoFit/>
          </a:bodyPr>
          <a:lstStyle/>
          <a:p>
            <a:pPr algn="l">
              <a:lnSpc>
                <a:spcPct val="108000"/>
              </a:lnSpc>
              <a:spcAft>
                <a:spcPts val="600"/>
              </a:spcAft>
            </a:pPr>
            <a:r>
              <a:rPr sz="1450" b="1">
                <a:solidFill>
                  <a:srgbClr val="111828"/>
                </a:solidFill>
                <a:latin typeface="Calibri"/>
              </a:rPr>
              <a:t>Pick a service &amp; location</a:t>
            </a:r>
          </a:p>
          <a:p>
            <a:pPr algn="l">
              <a:lnSpc>
                <a:spcPct val="108000"/>
              </a:lnSpc>
              <a:spcAft>
                <a:spcPts val="600"/>
              </a:spcAft>
            </a:pPr>
            <a:r>
              <a:rPr sz="1150" b="0">
                <a:solidFill>
                  <a:srgbClr val="3A3F4A"/>
                </a:solidFill>
                <a:latin typeface="Calibri"/>
              </a:rPr>
              <a:t>Choose from electrician, plumber, carpenter, AC, solar or cleaning , set your spot on the map.</a:t>
            </a:r>
          </a:p>
        </p:txBody>
      </p:sp>
      <p:sp>
        <p:nvSpPr>
          <p:cNvPr id="12" name="Rectangle 11"/>
          <p:cNvSpPr/>
          <p:nvPr/>
        </p:nvSpPr>
        <p:spPr>
          <a:xfrm>
            <a:off x="4343400" y="2468880"/>
            <a:ext cx="3383280" cy="22860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72000" y="2697480"/>
            <a:ext cx="640080" cy="6400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743200"/>
            <a:ext cx="640080" cy="548640"/>
          </a:xfrm>
          <a:prstGeom prst="rect">
            <a:avLst/>
          </a:prstGeom>
          <a:noFill/>
        </p:spPr>
        <p:txBody>
          <a:bodyPr wrap="square" anchor="ctr">
            <a:spAutoFit/>
          </a:bodyPr>
          <a:lstStyle/>
          <a:p>
            <a:pPr algn="ctr">
              <a:lnSpc>
                <a:spcPct val="105000"/>
              </a:lnSpc>
              <a:spcAft>
                <a:spcPts val="600"/>
              </a:spcAft>
            </a:pPr>
            <a:r>
              <a:rPr sz="2200" b="1">
                <a:solidFill>
                  <a:srgbClr val="FFFFFF"/>
                </a:solidFill>
                <a:latin typeface="Calibri"/>
              </a:rPr>
              <a:t>2</a:t>
            </a:r>
          </a:p>
        </p:txBody>
      </p:sp>
      <p:sp>
        <p:nvSpPr>
          <p:cNvPr id="15" name="TextBox 14"/>
          <p:cNvSpPr txBox="1"/>
          <p:nvPr/>
        </p:nvSpPr>
        <p:spPr>
          <a:xfrm>
            <a:off x="4572000" y="3520440"/>
            <a:ext cx="2926080" cy="1188720"/>
          </a:xfrm>
          <a:prstGeom prst="rect">
            <a:avLst/>
          </a:prstGeom>
          <a:noFill/>
        </p:spPr>
        <p:txBody>
          <a:bodyPr wrap="square" anchor="t">
            <a:spAutoFit/>
          </a:bodyPr>
          <a:lstStyle/>
          <a:p>
            <a:pPr algn="l">
              <a:lnSpc>
                <a:spcPct val="108000"/>
              </a:lnSpc>
              <a:spcAft>
                <a:spcPts val="600"/>
              </a:spcAft>
            </a:pPr>
            <a:r>
              <a:rPr sz="1450" b="1">
                <a:solidFill>
                  <a:srgbClr val="111828"/>
                </a:solidFill>
                <a:latin typeface="Calibri"/>
              </a:rPr>
              <a:t>Get matched instantly</a:t>
            </a:r>
          </a:p>
          <a:p>
            <a:pPr algn="l">
              <a:lnSpc>
                <a:spcPct val="108000"/>
              </a:lnSpc>
              <a:spcAft>
                <a:spcPts val="600"/>
              </a:spcAft>
            </a:pPr>
            <a:r>
              <a:rPr sz="1150" b="0">
                <a:solidFill>
                  <a:srgbClr val="3A3F4A"/>
                </a:solidFill>
                <a:latin typeface="Calibri"/>
              </a:rPr>
              <a:t>PostGIS finds nearby phone-verified providers; they accept in real time.</a:t>
            </a:r>
          </a:p>
        </p:txBody>
      </p:sp>
      <p:sp>
        <p:nvSpPr>
          <p:cNvPr id="16" name="Rectangle 15"/>
          <p:cNvSpPr/>
          <p:nvPr/>
        </p:nvSpPr>
        <p:spPr>
          <a:xfrm>
            <a:off x="7955280" y="2468880"/>
            <a:ext cx="3383280" cy="22860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183880" y="2697480"/>
            <a:ext cx="640080" cy="6400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2743200"/>
            <a:ext cx="640080" cy="548640"/>
          </a:xfrm>
          <a:prstGeom prst="rect">
            <a:avLst/>
          </a:prstGeom>
          <a:noFill/>
        </p:spPr>
        <p:txBody>
          <a:bodyPr wrap="square" anchor="ctr">
            <a:spAutoFit/>
          </a:bodyPr>
          <a:lstStyle/>
          <a:p>
            <a:pPr algn="ctr">
              <a:lnSpc>
                <a:spcPct val="105000"/>
              </a:lnSpc>
              <a:spcAft>
                <a:spcPts val="600"/>
              </a:spcAft>
            </a:pPr>
            <a:r>
              <a:rPr sz="2200" b="1">
                <a:solidFill>
                  <a:srgbClr val="FFFFFF"/>
                </a:solidFill>
                <a:latin typeface="Calibri"/>
              </a:rPr>
              <a:t>3</a:t>
            </a:r>
          </a:p>
        </p:txBody>
      </p:sp>
      <p:sp>
        <p:nvSpPr>
          <p:cNvPr id="19" name="TextBox 18"/>
          <p:cNvSpPr txBox="1"/>
          <p:nvPr/>
        </p:nvSpPr>
        <p:spPr>
          <a:xfrm>
            <a:off x="8183880" y="3520440"/>
            <a:ext cx="2926080" cy="1188720"/>
          </a:xfrm>
          <a:prstGeom prst="rect">
            <a:avLst/>
          </a:prstGeom>
          <a:noFill/>
        </p:spPr>
        <p:txBody>
          <a:bodyPr wrap="square" anchor="t">
            <a:spAutoFit/>
          </a:bodyPr>
          <a:lstStyle/>
          <a:p>
            <a:pPr algn="l">
              <a:lnSpc>
                <a:spcPct val="108000"/>
              </a:lnSpc>
              <a:spcAft>
                <a:spcPts val="600"/>
              </a:spcAft>
            </a:pPr>
            <a:r>
              <a:rPr sz="1450" b="1">
                <a:solidFill>
                  <a:srgbClr val="111828"/>
                </a:solidFill>
                <a:latin typeface="Calibri"/>
              </a:rPr>
              <a:t>Track live &amp; pay on done</a:t>
            </a:r>
          </a:p>
          <a:p>
            <a:pPr algn="l">
              <a:lnSpc>
                <a:spcPct val="108000"/>
              </a:lnSpc>
              <a:spcAft>
                <a:spcPts val="600"/>
              </a:spcAft>
            </a:pPr>
            <a:r>
              <a:rPr sz="1150" b="0">
                <a:solidFill>
                  <a:srgbClr val="3A3F4A"/>
                </a:solidFill>
                <a:latin typeface="Calibri"/>
              </a:rPr>
              <a:t>Watch your pro arrive on a live map, chat in-app, pay on completion , covered by a 3-day warranty.</a:t>
            </a:r>
          </a:p>
        </p:txBody>
      </p:sp>
      <p:sp>
        <p:nvSpPr>
          <p:cNvPr id="20" name="Rectangle 19"/>
          <p:cNvSpPr/>
          <p:nvPr/>
        </p:nvSpPr>
        <p:spPr>
          <a:xfrm>
            <a:off x="731520" y="4892040"/>
            <a:ext cx="5029200" cy="118872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92040"/>
            <a:ext cx="5029200" cy="1188720"/>
          </a:xfrm>
          <a:prstGeom prst="rect">
            <a:avLst/>
          </a:prstGeom>
          <a:noFill/>
        </p:spPr>
        <p:txBody>
          <a:bodyPr wrap="square" anchor="ctr">
            <a:spAutoFit/>
          </a:bodyPr>
          <a:lstStyle/>
          <a:p>
            <a:pPr algn="ctr">
              <a:lnSpc>
                <a:spcPct val="105000"/>
              </a:lnSpc>
              <a:spcAft>
                <a:spcPts val="600"/>
              </a:spcAft>
            </a:pPr>
            <a:r>
              <a:rPr sz="1400" b="1">
                <a:solidFill>
                  <a:srgbClr val="DB4B0D"/>
                </a:solidFill>
                <a:latin typeface="Calibri"/>
              </a:rPr>
              <a:t>[  PRODUCT SCREENSHOT  ]</a:t>
            </a:r>
          </a:p>
          <a:p>
            <a:pPr algn="ctr">
              <a:lnSpc>
                <a:spcPct val="105000"/>
              </a:lnSpc>
              <a:spcAft>
                <a:spcPts val="600"/>
              </a:spcAft>
            </a:pPr>
            <a:r>
              <a:rPr sz="1000" b="0">
                <a:solidFill>
                  <a:srgbClr val="CFD3DA"/>
                </a:solidFill>
                <a:latin typeface="Calibri"/>
              </a:rPr>
              <a:t>Insert: booking flow / live GPS / provider dashboard</a:t>
            </a:r>
          </a:p>
          <a:p>
            <a:pPr algn="ctr">
              <a:lnSpc>
                <a:spcPct val="105000"/>
              </a:lnSpc>
              <a:spcAft>
                <a:spcPts val="600"/>
              </a:spcAft>
            </a:pPr>
            <a:r>
              <a:rPr sz="1000" b="0">
                <a:solidFill>
                  <a:srgbClr val="CFD3DA"/>
                </a:solidFill>
                <a:latin typeface="Calibri"/>
              </a:rPr>
              <a:t>ustaz-bice.vercel.app , live MVP, verifiable by panel</a:t>
            </a:r>
          </a:p>
        </p:txBody>
      </p:sp>
      <p:sp>
        <p:nvSpPr>
          <p:cNvPr id="22" name="TextBox 21"/>
          <p:cNvSpPr txBox="1"/>
          <p:nvPr/>
        </p:nvSpPr>
        <p:spPr>
          <a:xfrm>
            <a:off x="6035040" y="4892040"/>
            <a:ext cx="5486400" cy="1188720"/>
          </a:xfrm>
          <a:prstGeom prst="rect">
            <a:avLst/>
          </a:prstGeom>
          <a:noFill/>
        </p:spPr>
        <p:txBody>
          <a:bodyPr wrap="square" anchor="t">
            <a:spAutoFit/>
          </a:bodyPr>
          <a:lstStyle/>
          <a:p>
            <a:pPr algn="l">
              <a:lnSpc>
                <a:spcPct val="108000"/>
              </a:lnSpc>
              <a:spcAft>
                <a:spcPts val="400"/>
              </a:spcAft>
            </a:pPr>
            <a:r>
              <a:rPr sz="1300" b="1">
                <a:solidFill>
                  <a:srgbClr val="111828"/>
                </a:solidFill>
                <a:latin typeface="Calibri"/>
              </a:rPr>
              <a:t>Trust built in:  </a:t>
            </a:r>
          </a:p>
          <a:p>
            <a:pPr algn="l">
              <a:lnSpc>
                <a:spcPct val="108000"/>
              </a:lnSpc>
              <a:spcAft>
                <a:spcPts val="400"/>
              </a:spcAft>
            </a:pPr>
            <a:r>
              <a:rPr sz="1150" b="0">
                <a:solidFill>
                  <a:srgbClr val="3A3F4A"/>
                </a:solidFill>
                <a:latin typeface="Calibri"/>
              </a:rPr>
              <a:t>Phone-verified providers · live GPS · in-app chat &amp; push</a:t>
            </a:r>
          </a:p>
          <a:p>
            <a:pPr algn="l">
              <a:lnSpc>
                <a:spcPct val="108000"/>
              </a:lnSpc>
              <a:spcAft>
                <a:spcPts val="400"/>
              </a:spcAft>
            </a:pPr>
            <a:r>
              <a:rPr sz="1150" b="0">
                <a:solidFill>
                  <a:srgbClr val="3A3F4A"/>
                </a:solidFill>
                <a:latin typeface="Calibri"/>
              </a:rPr>
              <a:t>3-day free re-fix · two-way ratings · prepaid escrow wallet</a:t>
            </a:r>
          </a:p>
          <a:p>
            <a:pPr algn="l">
              <a:lnSpc>
                <a:spcPct val="108000"/>
              </a:lnSpc>
              <a:spcAft>
                <a:spcPts val="400"/>
              </a:spcAft>
            </a:pPr>
            <a:r>
              <a:rPr sz="1100" b="1">
                <a:solidFill>
                  <a:srgbClr val="DB4B0D"/>
                </a:solidFill>
                <a:latin typeface="Calibri"/>
              </a:rPr>
              <a:t>CNIC &amp; background checks launching in Phase 2</a:t>
            </a:r>
          </a:p>
        </p:txBody>
      </p:sp>
      <p:sp>
        <p:nvSpPr>
          <p:cNvPr id="23" name="TextBox 22"/>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4. MARKET SIZING  (TAM · SAM · SOM)</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A vast, underserved, digitizing market</a:t>
            </a:r>
          </a:p>
        </p:txBody>
      </p:sp>
      <p:sp>
        <p:nvSpPr>
          <p:cNvPr id="7" name="Rectangle 6"/>
          <p:cNvSpPr/>
          <p:nvPr/>
        </p:nvSpPr>
        <p:spPr>
          <a:xfrm>
            <a:off x="731520" y="1920240"/>
            <a:ext cx="2606040" cy="338328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0200" y="1600200"/>
            <a:ext cx="868680" cy="8686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1664208"/>
            <a:ext cx="868680" cy="777240"/>
          </a:xfrm>
          <a:prstGeom prst="rect">
            <a:avLst/>
          </a:prstGeom>
          <a:noFill/>
        </p:spPr>
        <p:txBody>
          <a:bodyPr wrap="square" anchor="ctr">
            <a:spAutoFit/>
          </a:bodyPr>
          <a:lstStyle/>
          <a:p>
            <a:pPr algn="ctr">
              <a:lnSpc>
                <a:spcPct val="105000"/>
              </a:lnSpc>
              <a:spcAft>
                <a:spcPts val="600"/>
              </a:spcAft>
            </a:pPr>
            <a:r>
              <a:rPr sz="1800" b="1">
                <a:solidFill>
                  <a:srgbClr val="FFFFFF"/>
                </a:solidFill>
                <a:latin typeface="Calibri"/>
              </a:rPr>
              <a:t>01</a:t>
            </a:r>
          </a:p>
        </p:txBody>
      </p:sp>
      <p:sp>
        <p:nvSpPr>
          <p:cNvPr id="10" name="TextBox 9"/>
          <p:cNvSpPr txBox="1"/>
          <p:nvPr/>
        </p:nvSpPr>
        <p:spPr>
          <a:xfrm>
            <a:off x="731520" y="2560320"/>
            <a:ext cx="2606040" cy="411480"/>
          </a:xfrm>
          <a:prstGeom prst="rect">
            <a:avLst/>
          </a:prstGeom>
          <a:noFill/>
        </p:spPr>
        <p:txBody>
          <a:bodyPr wrap="square" anchor="t">
            <a:spAutoFit/>
          </a:bodyPr>
          <a:lstStyle/>
          <a:p>
            <a:pPr algn="ctr">
              <a:lnSpc>
                <a:spcPct val="105000"/>
              </a:lnSpc>
              <a:spcAft>
                <a:spcPts val="600"/>
              </a:spcAft>
            </a:pPr>
            <a:r>
              <a:rPr sz="1400" b="1">
                <a:solidFill>
                  <a:srgbClr val="111828"/>
                </a:solidFill>
                <a:latin typeface="Calibri"/>
              </a:rPr>
              <a:t>TAM</a:t>
            </a:r>
          </a:p>
        </p:txBody>
      </p:sp>
      <p:sp>
        <p:nvSpPr>
          <p:cNvPr id="11" name="TextBox 10"/>
          <p:cNvSpPr txBox="1"/>
          <p:nvPr/>
        </p:nvSpPr>
        <p:spPr>
          <a:xfrm>
            <a:off x="731520" y="2907792"/>
            <a:ext cx="2606040" cy="548640"/>
          </a:xfrm>
          <a:prstGeom prst="rect">
            <a:avLst/>
          </a:prstGeom>
          <a:noFill/>
        </p:spPr>
        <p:txBody>
          <a:bodyPr wrap="square" anchor="t">
            <a:spAutoFit/>
          </a:bodyPr>
          <a:lstStyle/>
          <a:p>
            <a:pPr algn="ctr">
              <a:lnSpc>
                <a:spcPct val="105000"/>
              </a:lnSpc>
              <a:spcAft>
                <a:spcPts val="600"/>
              </a:spcAft>
            </a:pPr>
            <a:r>
              <a:rPr sz="2200" b="1">
                <a:solidFill>
                  <a:srgbClr val="DB4B0D"/>
                </a:solidFill>
                <a:latin typeface="Calibri"/>
              </a:rPr>
              <a:t>~PKR 800 to 1,300B</a:t>
            </a:r>
          </a:p>
        </p:txBody>
      </p:sp>
      <p:sp>
        <p:nvSpPr>
          <p:cNvPr id="12" name="TextBox 11"/>
          <p:cNvSpPr txBox="1"/>
          <p:nvPr/>
        </p:nvSpPr>
        <p:spPr>
          <a:xfrm>
            <a:off x="868680" y="3520440"/>
            <a:ext cx="2331720" cy="1645920"/>
          </a:xfrm>
          <a:prstGeom prst="rect">
            <a:avLst/>
          </a:prstGeom>
          <a:noFill/>
        </p:spPr>
        <p:txBody>
          <a:bodyPr wrap="square" anchor="t">
            <a:spAutoFit/>
          </a:bodyPr>
          <a:lstStyle/>
          <a:p>
            <a:pPr algn="ctr">
              <a:lnSpc>
                <a:spcPct val="108000"/>
              </a:lnSpc>
              <a:spcAft>
                <a:spcPts val="600"/>
              </a:spcAft>
            </a:pPr>
            <a:r>
              <a:rPr sz="950" b="0">
                <a:solidFill>
                  <a:srgbClr val="3A3F4A"/>
                </a:solidFill>
                <a:latin typeface="Calibri"/>
              </a:rPr>
              <a:t>Pakistan home services (informal + formal). Source: SMEDA / ILO, 2024.</a:t>
            </a:r>
          </a:p>
        </p:txBody>
      </p:sp>
      <p:sp>
        <p:nvSpPr>
          <p:cNvPr id="13" name="Rectangle 12"/>
          <p:cNvSpPr/>
          <p:nvPr/>
        </p:nvSpPr>
        <p:spPr>
          <a:xfrm>
            <a:off x="3520440" y="1920240"/>
            <a:ext cx="2606040" cy="338328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89120" y="1600200"/>
            <a:ext cx="868680" cy="8686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664208"/>
            <a:ext cx="868680" cy="777240"/>
          </a:xfrm>
          <a:prstGeom prst="rect">
            <a:avLst/>
          </a:prstGeom>
          <a:noFill/>
        </p:spPr>
        <p:txBody>
          <a:bodyPr wrap="square" anchor="ctr">
            <a:spAutoFit/>
          </a:bodyPr>
          <a:lstStyle/>
          <a:p>
            <a:pPr algn="ctr">
              <a:lnSpc>
                <a:spcPct val="105000"/>
              </a:lnSpc>
              <a:spcAft>
                <a:spcPts val="600"/>
              </a:spcAft>
            </a:pPr>
            <a:r>
              <a:rPr sz="1800" b="1">
                <a:solidFill>
                  <a:srgbClr val="FFFFFF"/>
                </a:solidFill>
                <a:latin typeface="Calibri"/>
              </a:rPr>
              <a:t>02</a:t>
            </a:r>
          </a:p>
        </p:txBody>
      </p:sp>
      <p:sp>
        <p:nvSpPr>
          <p:cNvPr id="16" name="TextBox 15"/>
          <p:cNvSpPr txBox="1"/>
          <p:nvPr/>
        </p:nvSpPr>
        <p:spPr>
          <a:xfrm>
            <a:off x="3520440" y="2560320"/>
            <a:ext cx="2606040" cy="411480"/>
          </a:xfrm>
          <a:prstGeom prst="rect">
            <a:avLst/>
          </a:prstGeom>
          <a:noFill/>
        </p:spPr>
        <p:txBody>
          <a:bodyPr wrap="square" anchor="t">
            <a:spAutoFit/>
          </a:bodyPr>
          <a:lstStyle/>
          <a:p>
            <a:pPr algn="ctr">
              <a:lnSpc>
                <a:spcPct val="105000"/>
              </a:lnSpc>
              <a:spcAft>
                <a:spcPts val="600"/>
              </a:spcAft>
            </a:pPr>
            <a:r>
              <a:rPr sz="1400" b="1">
                <a:solidFill>
                  <a:srgbClr val="111828"/>
                </a:solidFill>
                <a:latin typeface="Calibri"/>
              </a:rPr>
              <a:t>SAM</a:t>
            </a:r>
          </a:p>
        </p:txBody>
      </p:sp>
      <p:sp>
        <p:nvSpPr>
          <p:cNvPr id="17" name="TextBox 16"/>
          <p:cNvSpPr txBox="1"/>
          <p:nvPr/>
        </p:nvSpPr>
        <p:spPr>
          <a:xfrm>
            <a:off x="3520440" y="2907792"/>
            <a:ext cx="2606040" cy="548640"/>
          </a:xfrm>
          <a:prstGeom prst="rect">
            <a:avLst/>
          </a:prstGeom>
          <a:noFill/>
        </p:spPr>
        <p:txBody>
          <a:bodyPr wrap="square" anchor="t">
            <a:spAutoFit/>
          </a:bodyPr>
          <a:lstStyle/>
          <a:p>
            <a:pPr algn="ctr">
              <a:lnSpc>
                <a:spcPct val="105000"/>
              </a:lnSpc>
              <a:spcAft>
                <a:spcPts val="600"/>
              </a:spcAft>
            </a:pPr>
            <a:r>
              <a:rPr sz="2200" b="1">
                <a:solidFill>
                  <a:srgbClr val="DB4B0D"/>
                </a:solidFill>
                <a:latin typeface="Calibri"/>
              </a:rPr>
              <a:t>~PKR 160B</a:t>
            </a:r>
          </a:p>
        </p:txBody>
      </p:sp>
      <p:sp>
        <p:nvSpPr>
          <p:cNvPr id="18" name="TextBox 17"/>
          <p:cNvSpPr txBox="1"/>
          <p:nvPr/>
        </p:nvSpPr>
        <p:spPr>
          <a:xfrm>
            <a:off x="3657600" y="3520440"/>
            <a:ext cx="2331720" cy="1645920"/>
          </a:xfrm>
          <a:prstGeom prst="rect">
            <a:avLst/>
          </a:prstGeom>
          <a:noFill/>
        </p:spPr>
        <p:txBody>
          <a:bodyPr wrap="square" anchor="t">
            <a:spAutoFit/>
          </a:bodyPr>
          <a:lstStyle/>
          <a:p>
            <a:pPr algn="ctr">
              <a:lnSpc>
                <a:spcPct val="108000"/>
              </a:lnSpc>
              <a:spcAft>
                <a:spcPts val="600"/>
              </a:spcAft>
            </a:pPr>
            <a:r>
              <a:rPr sz="950" b="0">
                <a:solidFill>
                  <a:srgbClr val="3A3F4A"/>
                </a:solidFill>
                <a:latin typeface="Calibri"/>
              </a:rPr>
              <a:t>Smartphone-enabled urban households , Karachi, Lahore, Islamabad, Faisalabad. Source: PTA / PBS HIES, 2025.</a:t>
            </a:r>
          </a:p>
        </p:txBody>
      </p:sp>
      <p:sp>
        <p:nvSpPr>
          <p:cNvPr id="19" name="Rectangle 18"/>
          <p:cNvSpPr/>
          <p:nvPr/>
        </p:nvSpPr>
        <p:spPr>
          <a:xfrm>
            <a:off x="6309360" y="1920240"/>
            <a:ext cx="2606040" cy="338328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78040" y="1600200"/>
            <a:ext cx="868680" cy="8686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1664208"/>
            <a:ext cx="868680" cy="777240"/>
          </a:xfrm>
          <a:prstGeom prst="rect">
            <a:avLst/>
          </a:prstGeom>
          <a:noFill/>
        </p:spPr>
        <p:txBody>
          <a:bodyPr wrap="square" anchor="ctr">
            <a:spAutoFit/>
          </a:bodyPr>
          <a:lstStyle/>
          <a:p>
            <a:pPr algn="ctr">
              <a:lnSpc>
                <a:spcPct val="105000"/>
              </a:lnSpc>
              <a:spcAft>
                <a:spcPts val="600"/>
              </a:spcAft>
            </a:pPr>
            <a:r>
              <a:rPr sz="1800" b="1">
                <a:solidFill>
                  <a:srgbClr val="FFFFFF"/>
                </a:solidFill>
                <a:latin typeface="Calibri"/>
              </a:rPr>
              <a:t>03</a:t>
            </a:r>
          </a:p>
        </p:txBody>
      </p:sp>
      <p:sp>
        <p:nvSpPr>
          <p:cNvPr id="22" name="TextBox 21"/>
          <p:cNvSpPr txBox="1"/>
          <p:nvPr/>
        </p:nvSpPr>
        <p:spPr>
          <a:xfrm>
            <a:off x="6309360" y="2560320"/>
            <a:ext cx="2606040" cy="411480"/>
          </a:xfrm>
          <a:prstGeom prst="rect">
            <a:avLst/>
          </a:prstGeom>
          <a:noFill/>
        </p:spPr>
        <p:txBody>
          <a:bodyPr wrap="square" anchor="t">
            <a:spAutoFit/>
          </a:bodyPr>
          <a:lstStyle/>
          <a:p>
            <a:pPr algn="ctr">
              <a:lnSpc>
                <a:spcPct val="105000"/>
              </a:lnSpc>
              <a:spcAft>
                <a:spcPts val="600"/>
              </a:spcAft>
            </a:pPr>
            <a:r>
              <a:rPr sz="1400" b="1">
                <a:solidFill>
                  <a:srgbClr val="111828"/>
                </a:solidFill>
                <a:latin typeface="Calibri"/>
              </a:rPr>
              <a:t>SOM Y1</a:t>
            </a:r>
          </a:p>
        </p:txBody>
      </p:sp>
      <p:sp>
        <p:nvSpPr>
          <p:cNvPr id="23" name="TextBox 22"/>
          <p:cNvSpPr txBox="1"/>
          <p:nvPr/>
        </p:nvSpPr>
        <p:spPr>
          <a:xfrm>
            <a:off x="6309360" y="2907792"/>
            <a:ext cx="2606040" cy="548640"/>
          </a:xfrm>
          <a:prstGeom prst="rect">
            <a:avLst/>
          </a:prstGeom>
          <a:noFill/>
        </p:spPr>
        <p:txBody>
          <a:bodyPr wrap="square" anchor="t">
            <a:spAutoFit/>
          </a:bodyPr>
          <a:lstStyle/>
          <a:p>
            <a:pPr algn="ctr">
              <a:lnSpc>
                <a:spcPct val="105000"/>
              </a:lnSpc>
              <a:spcAft>
                <a:spcPts val="600"/>
              </a:spcAft>
            </a:pPr>
            <a:r>
              <a:rPr sz="2200" b="1">
                <a:solidFill>
                  <a:srgbClr val="DB4B0D"/>
                </a:solidFill>
                <a:latin typeface="Calibri"/>
              </a:rPr>
              <a:t>~PKR 1.4M</a:t>
            </a:r>
          </a:p>
        </p:txBody>
      </p:sp>
      <p:sp>
        <p:nvSpPr>
          <p:cNvPr id="24" name="TextBox 23"/>
          <p:cNvSpPr txBox="1"/>
          <p:nvPr/>
        </p:nvSpPr>
        <p:spPr>
          <a:xfrm>
            <a:off x="6446520" y="3520440"/>
            <a:ext cx="2331720" cy="1645920"/>
          </a:xfrm>
          <a:prstGeom prst="rect">
            <a:avLst/>
          </a:prstGeom>
          <a:noFill/>
        </p:spPr>
        <p:txBody>
          <a:bodyPr wrap="square" anchor="t">
            <a:spAutoFit/>
          </a:bodyPr>
          <a:lstStyle/>
          <a:p>
            <a:pPr algn="ctr">
              <a:lnSpc>
                <a:spcPct val="108000"/>
              </a:lnSpc>
              <a:spcAft>
                <a:spcPts val="600"/>
              </a:spcAft>
            </a:pPr>
            <a:r>
              <a:rPr sz="950" b="0">
                <a:solidFill>
                  <a:srgbClr val="3A3F4A"/>
                </a:solidFill>
                <a:latin typeface="Calibri"/>
              </a:rPr>
              <a:t>Year 1 Karachi pilot: 40 providers x 12 jobs/mo x Rs. 72 commission.</a:t>
            </a:r>
          </a:p>
        </p:txBody>
      </p:sp>
      <p:sp>
        <p:nvSpPr>
          <p:cNvPr id="25" name="Rectangle 24"/>
          <p:cNvSpPr/>
          <p:nvPr/>
        </p:nvSpPr>
        <p:spPr>
          <a:xfrm>
            <a:off x="9098280" y="1920240"/>
            <a:ext cx="2606040" cy="338328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966960" y="1600200"/>
            <a:ext cx="868680" cy="8686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66960" y="1664208"/>
            <a:ext cx="868680" cy="777240"/>
          </a:xfrm>
          <a:prstGeom prst="rect">
            <a:avLst/>
          </a:prstGeom>
          <a:noFill/>
        </p:spPr>
        <p:txBody>
          <a:bodyPr wrap="square" anchor="ctr">
            <a:spAutoFit/>
          </a:bodyPr>
          <a:lstStyle/>
          <a:p>
            <a:pPr algn="ctr">
              <a:lnSpc>
                <a:spcPct val="105000"/>
              </a:lnSpc>
              <a:spcAft>
                <a:spcPts val="600"/>
              </a:spcAft>
            </a:pPr>
            <a:r>
              <a:rPr sz="1800" b="1">
                <a:solidFill>
                  <a:srgbClr val="FFFFFF"/>
                </a:solidFill>
                <a:latin typeface="Calibri"/>
              </a:rPr>
              <a:t>04</a:t>
            </a:r>
          </a:p>
        </p:txBody>
      </p:sp>
      <p:sp>
        <p:nvSpPr>
          <p:cNvPr id="28" name="TextBox 27"/>
          <p:cNvSpPr txBox="1"/>
          <p:nvPr/>
        </p:nvSpPr>
        <p:spPr>
          <a:xfrm>
            <a:off x="9098280" y="2560320"/>
            <a:ext cx="2606040" cy="411480"/>
          </a:xfrm>
          <a:prstGeom prst="rect">
            <a:avLst/>
          </a:prstGeom>
          <a:noFill/>
        </p:spPr>
        <p:txBody>
          <a:bodyPr wrap="square" anchor="t">
            <a:spAutoFit/>
          </a:bodyPr>
          <a:lstStyle/>
          <a:p>
            <a:pPr algn="ctr">
              <a:lnSpc>
                <a:spcPct val="105000"/>
              </a:lnSpc>
              <a:spcAft>
                <a:spcPts val="600"/>
              </a:spcAft>
            </a:pPr>
            <a:r>
              <a:rPr sz="1400" b="1">
                <a:solidFill>
                  <a:srgbClr val="111828"/>
                </a:solidFill>
                <a:latin typeface="Calibri"/>
              </a:rPr>
              <a:t>SOM Y3</a:t>
            </a:r>
          </a:p>
        </p:txBody>
      </p:sp>
      <p:sp>
        <p:nvSpPr>
          <p:cNvPr id="29" name="TextBox 28"/>
          <p:cNvSpPr txBox="1"/>
          <p:nvPr/>
        </p:nvSpPr>
        <p:spPr>
          <a:xfrm>
            <a:off x="9098280" y="2907792"/>
            <a:ext cx="2606040" cy="548640"/>
          </a:xfrm>
          <a:prstGeom prst="rect">
            <a:avLst/>
          </a:prstGeom>
          <a:noFill/>
        </p:spPr>
        <p:txBody>
          <a:bodyPr wrap="square" anchor="t">
            <a:spAutoFit/>
          </a:bodyPr>
          <a:lstStyle/>
          <a:p>
            <a:pPr algn="ctr">
              <a:lnSpc>
                <a:spcPct val="105000"/>
              </a:lnSpc>
              <a:spcAft>
                <a:spcPts val="600"/>
              </a:spcAft>
            </a:pPr>
            <a:r>
              <a:rPr sz="2200" b="1">
                <a:solidFill>
                  <a:srgbClr val="DB4B0D"/>
                </a:solidFill>
                <a:latin typeface="Calibri"/>
              </a:rPr>
              <a:t>~PKR 25M</a:t>
            </a:r>
          </a:p>
        </p:txBody>
      </p:sp>
      <p:sp>
        <p:nvSpPr>
          <p:cNvPr id="30" name="TextBox 29"/>
          <p:cNvSpPr txBox="1"/>
          <p:nvPr/>
        </p:nvSpPr>
        <p:spPr>
          <a:xfrm>
            <a:off x="9235440" y="3520440"/>
            <a:ext cx="2331720" cy="1645920"/>
          </a:xfrm>
          <a:prstGeom prst="rect">
            <a:avLst/>
          </a:prstGeom>
          <a:noFill/>
        </p:spPr>
        <p:txBody>
          <a:bodyPr wrap="square" anchor="t">
            <a:spAutoFit/>
          </a:bodyPr>
          <a:lstStyle/>
          <a:p>
            <a:pPr algn="ctr">
              <a:lnSpc>
                <a:spcPct val="108000"/>
              </a:lnSpc>
              <a:spcAft>
                <a:spcPts val="600"/>
              </a:spcAft>
            </a:pPr>
            <a:r>
              <a:rPr sz="950" b="0">
                <a:solidFill>
                  <a:srgbClr val="3A3F4A"/>
                </a:solidFill>
                <a:latin typeface="Calibri"/>
              </a:rPr>
              <a:t>Year 3: 175 providers x 25 jobs/mo x Rs. 72 x 12 mo , Karachi mature + Lahore entry.</a:t>
            </a:r>
          </a:p>
        </p:txBody>
      </p:sp>
      <p:sp>
        <p:nvSpPr>
          <p:cNvPr id="31" name="Rectangle 30"/>
          <p:cNvSpPr/>
          <p:nvPr/>
        </p:nvSpPr>
        <p:spPr>
          <a:xfrm>
            <a:off x="731520" y="5440680"/>
            <a:ext cx="10698480" cy="86868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5513832"/>
            <a:ext cx="10332720" cy="777240"/>
          </a:xfrm>
          <a:prstGeom prst="rect">
            <a:avLst/>
          </a:prstGeom>
          <a:noFill/>
        </p:spPr>
        <p:txBody>
          <a:bodyPr wrap="square" anchor="t">
            <a:spAutoFit/>
          </a:bodyPr>
          <a:lstStyle/>
          <a:p>
            <a:pPr algn="l">
              <a:lnSpc>
                <a:spcPct val="104000"/>
              </a:lnSpc>
              <a:spcAft>
                <a:spcPts val="300"/>
              </a:spcAft>
            </a:pPr>
            <a:r>
              <a:rPr sz="1200" b="1">
                <a:solidFill>
                  <a:srgbClr val="DB4B0D"/>
                </a:solidFill>
                <a:latin typeface="Calibri"/>
              </a:rPr>
              <a:t>Bottom-up SOM:  </a:t>
            </a:r>
            <a:r>
              <a:rPr sz="1100" b="0">
                <a:solidFill>
                  <a:srgbClr val="FFFFFF"/>
                </a:solidFill>
                <a:latin typeface="Calibri"/>
              </a:rPr>
              <a:t>Y1: 40 providers x 12 jobs/mo x Rs. 600 avg x 12% = ~Rs. 1.4M.   Y3: 175 x 25 jobs/mo x Rs. 600 x 12% = ~Rs. 3.8M/quarter.</a:t>
            </a:r>
          </a:p>
          <a:p>
            <a:pPr algn="l">
              <a:lnSpc>
                <a:spcPct val="104000"/>
              </a:lnSpc>
              <a:spcAft>
                <a:spcPts val="300"/>
              </a:spcAft>
            </a:pPr>
            <a:r>
              <a:rPr sz="1000" b="1">
                <a:solidFill>
                  <a:srgbClr val="CFD3DA"/>
                </a:solidFill>
                <a:latin typeface="Calibri"/>
              </a:rPr>
              <a:t>Sources: SMEDA/ILO 2024. Y1 is conservative pilot-year only , multi-year ramp to Rs. 25M+.</a:t>
            </a:r>
          </a:p>
        </p:txBody>
      </p:sp>
      <p:sp>
        <p:nvSpPr>
          <p:cNvPr id="33" name="TextBox 32"/>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5. CUSTOMER SEGMENTATION &amp; PERSONA</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Two personas, served on both sides</a:t>
            </a:r>
          </a:p>
        </p:txBody>
      </p:sp>
      <p:sp>
        <p:nvSpPr>
          <p:cNvPr id="7" name="Rectangle 6"/>
          <p:cNvSpPr/>
          <p:nvPr/>
        </p:nvSpPr>
        <p:spPr>
          <a:xfrm>
            <a:off x="731520" y="1783080"/>
            <a:ext cx="5166360" cy="393192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516636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63440" cy="548640"/>
          </a:xfrm>
          <a:prstGeom prst="rect">
            <a:avLst/>
          </a:prstGeom>
          <a:noFill/>
        </p:spPr>
        <p:txBody>
          <a:bodyPr wrap="square" anchor="t">
            <a:spAutoFit/>
          </a:bodyPr>
          <a:lstStyle/>
          <a:p>
            <a:pPr algn="l">
              <a:lnSpc>
                <a:spcPct val="105000"/>
              </a:lnSpc>
              <a:spcAft>
                <a:spcPts val="600"/>
              </a:spcAft>
            </a:pPr>
            <a:r>
              <a:rPr sz="1350" b="1">
                <a:solidFill>
                  <a:srgbClr val="DB4B0D"/>
                </a:solidFill>
                <a:latin typeface="Calibri"/>
              </a:rPr>
              <a:t>DEMAND , "Safe Household Manager"</a:t>
            </a:r>
          </a:p>
        </p:txBody>
      </p:sp>
      <p:sp>
        <p:nvSpPr>
          <p:cNvPr id="10" name="TextBox 9"/>
          <p:cNvSpPr txBox="1"/>
          <p:nvPr/>
        </p:nvSpPr>
        <p:spPr>
          <a:xfrm>
            <a:off x="1005840" y="2560320"/>
            <a:ext cx="4709160" cy="3017520"/>
          </a:xfrm>
          <a:prstGeom prst="rect">
            <a:avLst/>
          </a:prstGeom>
          <a:noFill/>
        </p:spPr>
        <p:txBody>
          <a:bodyPr wrap="square" anchor="t">
            <a:spAutoFit/>
          </a:bodyPr>
          <a:lstStyle/>
          <a:p>
            <a:pPr algn="l">
              <a:lnSpc>
                <a:spcPct val="108000"/>
              </a:lnSpc>
              <a:spcAft>
                <a:spcPts val="700"/>
              </a:spcAft>
            </a:pPr>
            <a:r>
              <a:rPr sz="1200" b="1">
                <a:solidFill>
                  <a:srgbClr val="111828"/>
                </a:solidFill>
                <a:latin typeface="Calibri"/>
              </a:rPr>
              <a:t>Demographic: </a:t>
            </a:r>
            <a:r>
              <a:rPr sz="1200" b="0">
                <a:solidFill>
                  <a:srgbClr val="3A3F4A"/>
                </a:solidFill>
                <a:latin typeface="Calibri"/>
              </a:rPr>
              <a:t>age 28 to 50, urban Karachi, SEC A/B household.</a:t>
            </a:r>
          </a:p>
          <a:p>
            <a:pPr algn="l">
              <a:lnSpc>
                <a:spcPct val="108000"/>
              </a:lnSpc>
              <a:spcAft>
                <a:spcPts val="700"/>
              </a:spcAft>
            </a:pPr>
            <a:r>
              <a:rPr sz="1200" b="1">
                <a:solidFill>
                  <a:srgbClr val="111828"/>
                </a:solidFill>
                <a:latin typeface="Calibri"/>
              </a:rPr>
              <a:t>Geographic: </a:t>
            </a:r>
            <a:r>
              <a:rPr sz="1200" b="0">
                <a:solidFill>
                  <a:srgbClr val="3A3F4A"/>
                </a:solidFill>
                <a:latin typeface="Calibri"/>
              </a:rPr>
              <a:t>DHA, Clifton, Gulshan, PECHS, North Nazimabad.</a:t>
            </a:r>
          </a:p>
          <a:p>
            <a:pPr algn="l">
              <a:lnSpc>
                <a:spcPct val="108000"/>
              </a:lnSpc>
              <a:spcAft>
                <a:spcPts val="700"/>
              </a:spcAft>
            </a:pPr>
            <a:r>
              <a:rPr sz="1200" b="1">
                <a:solidFill>
                  <a:srgbClr val="111828"/>
                </a:solidFill>
                <a:latin typeface="Calibri"/>
              </a:rPr>
              <a:t>Psychographic: </a:t>
            </a:r>
            <a:r>
              <a:rPr sz="1200" b="0">
                <a:solidFill>
                  <a:srgbClr val="3A3F4A"/>
                </a:solidFill>
                <a:latin typeface="Calibri"/>
              </a:rPr>
              <a:t>values safety over price; has been overcharged; manages the home; won't risk an unverified stranger; wants a visible ETA and accountability.</a:t>
            </a:r>
          </a:p>
          <a:p>
            <a:pPr algn="l">
              <a:lnSpc>
                <a:spcPct val="108000"/>
              </a:lnSpc>
              <a:spcAft>
                <a:spcPts val="700"/>
              </a:spcAft>
            </a:pPr>
            <a:r>
              <a:rPr sz="1200" b="1">
                <a:solidFill>
                  <a:srgbClr val="DB4B0D"/>
                </a:solidFill>
                <a:latin typeface="Calibri"/>
              </a:rPr>
              <a:t>Trigger: </a:t>
            </a:r>
            <a:r>
              <a:rPr sz="1200" b="0">
                <a:solidFill>
                  <a:srgbClr val="3A3F4A"/>
                </a:solidFill>
                <a:latin typeface="Calibri"/>
              </a:rPr>
              <a:t>AC breaks in June , needs a trusted technician today, not a stranger from a Facebook group.</a:t>
            </a:r>
          </a:p>
          <a:p>
            <a:pPr algn="l">
              <a:lnSpc>
                <a:spcPct val="108000"/>
              </a:lnSpc>
              <a:spcAft>
                <a:spcPts val="700"/>
              </a:spcAft>
            </a:pPr>
            <a:r>
              <a:rPr sz="1200" b="1">
                <a:solidFill>
                  <a:srgbClr val="111828"/>
                </a:solidFill>
                <a:latin typeface="Calibri"/>
              </a:rPr>
              <a:t>Channel: </a:t>
            </a:r>
            <a:r>
              <a:rPr sz="1200" b="0">
                <a:solidFill>
                  <a:srgbClr val="3A3F4A"/>
                </a:solidFill>
                <a:latin typeface="Calibri"/>
              </a:rPr>
              <a:t>Meta/TikTok ads (Karachi women 25 to 45) + residential society B2B2C partnerships.</a:t>
            </a:r>
          </a:p>
        </p:txBody>
      </p:sp>
      <p:sp>
        <p:nvSpPr>
          <p:cNvPr id="11" name="Rectangle 10"/>
          <p:cNvSpPr/>
          <p:nvPr/>
        </p:nvSpPr>
        <p:spPr>
          <a:xfrm>
            <a:off x="6263640" y="1783080"/>
            <a:ext cx="5166360" cy="393192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516636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11680"/>
            <a:ext cx="4663440" cy="548640"/>
          </a:xfrm>
          <a:prstGeom prst="rect">
            <a:avLst/>
          </a:prstGeom>
          <a:noFill/>
        </p:spPr>
        <p:txBody>
          <a:bodyPr wrap="square" anchor="t">
            <a:spAutoFit/>
          </a:bodyPr>
          <a:lstStyle/>
          <a:p>
            <a:pPr algn="l">
              <a:lnSpc>
                <a:spcPct val="105000"/>
              </a:lnSpc>
              <a:spcAft>
                <a:spcPts val="600"/>
              </a:spcAft>
            </a:pPr>
            <a:r>
              <a:rPr sz="1350" b="1">
                <a:solidFill>
                  <a:srgbClr val="DB4B0D"/>
                </a:solidFill>
                <a:latin typeface="Calibri"/>
              </a:rPr>
              <a:t>SUPPLY , "Underserved Tradesman"</a:t>
            </a:r>
          </a:p>
        </p:txBody>
      </p:sp>
      <p:sp>
        <p:nvSpPr>
          <p:cNvPr id="14" name="TextBox 13"/>
          <p:cNvSpPr txBox="1"/>
          <p:nvPr/>
        </p:nvSpPr>
        <p:spPr>
          <a:xfrm>
            <a:off x="6537960" y="2560320"/>
            <a:ext cx="4709160" cy="3017520"/>
          </a:xfrm>
          <a:prstGeom prst="rect">
            <a:avLst/>
          </a:prstGeom>
          <a:noFill/>
        </p:spPr>
        <p:txBody>
          <a:bodyPr wrap="square" anchor="t">
            <a:spAutoFit/>
          </a:bodyPr>
          <a:lstStyle/>
          <a:p>
            <a:pPr algn="l">
              <a:lnSpc>
                <a:spcPct val="108000"/>
              </a:lnSpc>
              <a:spcAft>
                <a:spcPts val="700"/>
              </a:spcAft>
            </a:pPr>
            <a:r>
              <a:rPr sz="1200" b="1">
                <a:solidFill>
                  <a:srgbClr val="FFFFFF"/>
                </a:solidFill>
                <a:latin typeface="Calibri"/>
              </a:rPr>
              <a:t>Demographic: </a:t>
            </a:r>
            <a:r>
              <a:rPr sz="1200" b="0">
                <a:solidFill>
                  <a:srgbClr val="CFD3DA"/>
                </a:solidFill>
                <a:latin typeface="Calibri"/>
              </a:rPr>
              <a:t>age 22 to 45, skilled electrician / plumber / AC tech.</a:t>
            </a:r>
          </a:p>
          <a:p>
            <a:pPr algn="l">
              <a:lnSpc>
                <a:spcPct val="108000"/>
              </a:lnSpc>
              <a:spcAft>
                <a:spcPts val="700"/>
              </a:spcAft>
            </a:pPr>
            <a:r>
              <a:rPr sz="1200" b="1">
                <a:solidFill>
                  <a:srgbClr val="FFFFFF"/>
                </a:solidFill>
                <a:latin typeface="Calibri"/>
              </a:rPr>
              <a:t>Geographic: </a:t>
            </a:r>
            <a:r>
              <a:rPr sz="1200" b="0">
                <a:solidFill>
                  <a:srgbClr val="CFD3DA"/>
                </a:solidFill>
                <a:latin typeface="Calibri"/>
              </a:rPr>
              <a:t>works across Karachi, based in lower-income areas.</a:t>
            </a:r>
          </a:p>
          <a:p>
            <a:pPr algn="l">
              <a:lnSpc>
                <a:spcPct val="108000"/>
              </a:lnSpc>
              <a:spcAft>
                <a:spcPts val="700"/>
              </a:spcAft>
            </a:pPr>
            <a:r>
              <a:rPr sz="1200" b="1">
                <a:solidFill>
                  <a:srgbClr val="FFFFFF"/>
                </a:solidFill>
                <a:latin typeface="Calibri"/>
              </a:rPr>
              <a:t>Psychographic: </a:t>
            </a:r>
            <a:r>
              <a:rPr sz="1200" b="0">
                <a:solidFill>
                  <a:srgbClr val="CFD3DA"/>
                </a:solidFill>
                <a:latin typeface="Calibri"/>
              </a:rPr>
              <a:t>wants steady, predictable digital demand and a reputation that travels with him; tired of middlemen taking large cuts.</a:t>
            </a:r>
          </a:p>
          <a:p>
            <a:pPr algn="l">
              <a:lnSpc>
                <a:spcPct val="108000"/>
              </a:lnSpc>
              <a:spcAft>
                <a:spcPts val="700"/>
              </a:spcAft>
            </a:pPr>
            <a:r>
              <a:rPr sz="1200" b="1">
                <a:solidFill>
                  <a:srgbClr val="DB4B0D"/>
                </a:solidFill>
                <a:latin typeface="Calibri"/>
              </a:rPr>
              <a:t>Trigger: </a:t>
            </a:r>
            <a:r>
              <a:rPr sz="1200" b="0">
                <a:solidFill>
                  <a:srgbClr val="CFD3DA"/>
                </a:solidFill>
                <a:latin typeface="Calibri"/>
              </a:rPr>
              <a:t>wants to stop depending on ustads / contractors and own his own customer pipeline.</a:t>
            </a:r>
          </a:p>
          <a:p>
            <a:pPr algn="l">
              <a:lnSpc>
                <a:spcPct val="108000"/>
              </a:lnSpc>
              <a:spcAft>
                <a:spcPts val="700"/>
              </a:spcAft>
            </a:pPr>
            <a:r>
              <a:rPr sz="1200" b="1">
                <a:solidFill>
                  <a:srgbClr val="FFFFFF"/>
                </a:solidFill>
                <a:latin typeface="Calibri"/>
              </a:rPr>
              <a:t>Channel: </a:t>
            </a:r>
            <a:r>
              <a:rPr sz="1200" b="0">
                <a:solidFill>
                  <a:srgbClr val="CFD3DA"/>
                </a:solidFill>
                <a:latin typeface="Calibri"/>
              </a:rPr>
              <a:t>door-to-door at trade hubs (Saddar, Lea Market) + guild batch-onboarding.</a:t>
            </a:r>
          </a:p>
        </p:txBody>
      </p:sp>
      <p:sp>
        <p:nvSpPr>
          <p:cNvPr id="15" name="TextBox 14"/>
          <p:cNvSpPr txBox="1"/>
          <p:nvPr/>
        </p:nvSpPr>
        <p:spPr>
          <a:xfrm>
            <a:off x="731520" y="5852160"/>
            <a:ext cx="10698480" cy="365760"/>
          </a:xfrm>
          <a:prstGeom prst="rect">
            <a:avLst/>
          </a:prstGeom>
          <a:noFill/>
        </p:spPr>
        <p:txBody>
          <a:bodyPr wrap="square" anchor="t">
            <a:spAutoFit/>
          </a:bodyPr>
          <a:lstStyle/>
          <a:p>
            <a:pPr algn="l">
              <a:lnSpc>
                <a:spcPct val="105000"/>
              </a:lnSpc>
              <a:spcAft>
                <a:spcPts val="600"/>
              </a:spcAft>
            </a:pPr>
            <a:r>
              <a:rPr sz="1100" b="0">
                <a:solidFill>
                  <a:srgbClr val="111828"/>
                </a:solidFill>
                <a:latin typeface="Calibri"/>
              </a:rPr>
              <a:t>This two-sided pool , Karachi's middle-class households x the city's skilled tradesmen , is our SAM foundation (sizing on previous slide).</a:t>
            </a:r>
          </a:p>
        </p:txBody>
      </p:sp>
      <p:sp>
        <p:nvSpPr>
          <p:cNvPr id="16" name="TextBox 15"/>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6. COMPETITOR ANALYSIS / ALTERNATIVES</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We compete with chaos , and beat it</a:t>
            </a:r>
          </a:p>
        </p:txBody>
      </p:sp>
      <p:graphicFrame>
        <p:nvGraphicFramePr>
          <p:cNvPr id="7" name="Table 6"/>
          <p:cNvGraphicFramePr>
            <a:graphicFrameLocks noGrp="1"/>
          </p:cNvGraphicFramePr>
          <p:nvPr/>
        </p:nvGraphicFramePr>
        <p:xfrm>
          <a:off x="731520" y="1783080"/>
          <a:ext cx="10698480" cy="3246120"/>
        </p:xfrm>
        <a:graphic>
          <a:graphicData uri="http://schemas.openxmlformats.org/drawingml/2006/table">
            <a:tbl>
              <a:tblPr firstRow="1" bandRow="1">
                <a:tableStyleId>{5C22544A-7EE6-4342-B048-85BDC9FD1C3A}</a:tableStyleId>
              </a:tblPr>
              <a:tblGrid>
                <a:gridCol w="2468880"/>
                <a:gridCol w="1371600"/>
                <a:gridCol w="1371600"/>
                <a:gridCol w="1371600"/>
                <a:gridCol w="1371600"/>
                <a:gridCol w="1371600"/>
                <a:gridCol w="1371600"/>
              </a:tblGrid>
              <a:tr h="405765">
                <a:tc>
                  <a:txBody>
                    <a:bodyPr/>
                    <a:lstStyle/>
                    <a:p>
                      <a:pPr algn="l"/>
                      <a:r>
                        <a:rPr sz="1100" b="1">
                          <a:solidFill>
                            <a:srgbClr val="FFFFFF"/>
                          </a:solidFill>
                          <a:latin typeface="Calibri"/>
                        </a:rPr>
                        <a:t>Alternative</a:t>
                      </a:r>
                    </a:p>
                  </a:txBody>
                  <a:tcPr>
                    <a:solidFill>
                      <a:srgbClr val="111828"/>
                    </a:solidFill>
                  </a:tcPr>
                </a:tc>
                <a:tc>
                  <a:txBody>
                    <a:bodyPr/>
                    <a:lstStyle/>
                    <a:p>
                      <a:pPr algn="ctr"/>
                      <a:r>
                        <a:rPr sz="1100" b="1">
                          <a:solidFill>
                            <a:srgbClr val="FFFFFF"/>
                          </a:solidFill>
                          <a:latin typeface="Calibri"/>
                        </a:rPr>
                        <a:t>Verified</a:t>
                      </a:r>
                    </a:p>
                  </a:txBody>
                  <a:tcPr>
                    <a:solidFill>
                      <a:srgbClr val="111828"/>
                    </a:solidFill>
                  </a:tcPr>
                </a:tc>
                <a:tc>
                  <a:txBody>
                    <a:bodyPr/>
                    <a:lstStyle/>
                    <a:p>
                      <a:pPr algn="ctr"/>
                      <a:r>
                        <a:rPr sz="1100" b="1">
                          <a:solidFill>
                            <a:srgbClr val="FFFFFF"/>
                          </a:solidFill>
                          <a:latin typeface="Calibri"/>
                        </a:rPr>
                        <a:t>Live GPS</a:t>
                      </a:r>
                    </a:p>
                  </a:txBody>
                  <a:tcPr>
                    <a:solidFill>
                      <a:srgbClr val="111828"/>
                    </a:solidFill>
                  </a:tcPr>
                </a:tc>
                <a:tc>
                  <a:txBody>
                    <a:bodyPr/>
                    <a:lstStyle/>
                    <a:p>
                      <a:pPr algn="ctr"/>
                      <a:r>
                        <a:rPr sz="1100" b="1">
                          <a:solidFill>
                            <a:srgbClr val="FFFFFF"/>
                          </a:solidFill>
                          <a:latin typeface="Calibri"/>
                        </a:rPr>
                        <a:t>Warranty</a:t>
                      </a:r>
                    </a:p>
                  </a:txBody>
                  <a:tcPr>
                    <a:solidFill>
                      <a:srgbClr val="111828"/>
                    </a:solidFill>
                  </a:tcPr>
                </a:tc>
                <a:tc>
                  <a:txBody>
                    <a:bodyPr/>
                    <a:lstStyle/>
                    <a:p>
                      <a:pPr algn="ctr"/>
                      <a:r>
                        <a:rPr sz="1100" b="1">
                          <a:solidFill>
                            <a:srgbClr val="FFFFFF"/>
                          </a:solidFill>
                          <a:latin typeface="Calibri"/>
                        </a:rPr>
                        <a:t>Escrow</a:t>
                      </a:r>
                    </a:p>
                  </a:txBody>
                  <a:tcPr>
                    <a:solidFill>
                      <a:srgbClr val="111828"/>
                    </a:solidFill>
                  </a:tcPr>
                </a:tc>
                <a:tc>
                  <a:txBody>
                    <a:bodyPr/>
                    <a:lstStyle/>
                    <a:p>
                      <a:pPr algn="ctr"/>
                      <a:r>
                        <a:rPr sz="1100" b="1">
                          <a:solidFill>
                            <a:srgbClr val="FFFFFF"/>
                          </a:solidFill>
                          <a:latin typeface="Calibri"/>
                        </a:rPr>
                        <a:t>Reputation</a:t>
                      </a:r>
                    </a:p>
                  </a:txBody>
                  <a:tcPr>
                    <a:solidFill>
                      <a:srgbClr val="111828"/>
                    </a:solidFill>
                  </a:tcPr>
                </a:tc>
                <a:tc>
                  <a:txBody>
                    <a:bodyPr/>
                    <a:lstStyle/>
                    <a:p>
                      <a:pPr algn="ctr"/>
                      <a:r>
                        <a:rPr sz="1100" b="1">
                          <a:solidFill>
                            <a:srgbClr val="FFFFFF"/>
                          </a:solidFill>
                          <a:latin typeface="Calibri"/>
                        </a:rPr>
                        <a:t>Price clarity</a:t>
                      </a:r>
                    </a:p>
                  </a:txBody>
                  <a:tcPr>
                    <a:solidFill>
                      <a:srgbClr val="111828"/>
                    </a:solidFill>
                  </a:tcPr>
                </a:tc>
              </a:tr>
              <a:tr h="405765">
                <a:tc>
                  <a:txBody>
                    <a:bodyPr/>
                    <a:lstStyle/>
                    <a:p>
                      <a:pPr algn="l"/>
                      <a:r>
                        <a:rPr b="1" sz="1150">
                          <a:solidFill>
                            <a:srgbClr val="FFFFFF"/>
                          </a:solidFill>
                          <a:latin typeface="Calibri"/>
                        </a:rPr>
                        <a:t>USTAZ</a:t>
                      </a:r>
                    </a:p>
                  </a:txBody>
                  <a:tcPr>
                    <a:solidFill>
                      <a:srgbClr val="DB4B0D"/>
                    </a:solidFill>
                  </a:tcPr>
                </a:tc>
                <a:tc>
                  <a:txBody>
                    <a:bodyPr/>
                    <a:lstStyle/>
                    <a:p>
                      <a:pPr algn="ctr"/>
                      <a:r>
                        <a:rPr b="1" sz="1300">
                          <a:solidFill>
                            <a:srgbClr val="1E9E5A"/>
                          </a:solidFill>
                          <a:latin typeface="Calibri"/>
                        </a:rPr>
                        <a:t>✓</a:t>
                      </a:r>
                    </a:p>
                  </a:txBody>
                  <a:tcPr>
                    <a:solidFill>
                      <a:srgbClr val="F8C9A8"/>
                    </a:solidFill>
                  </a:tcPr>
                </a:tc>
                <a:tc>
                  <a:txBody>
                    <a:bodyPr/>
                    <a:lstStyle/>
                    <a:p>
                      <a:pPr algn="ctr"/>
                      <a:r>
                        <a:rPr b="1" sz="1300">
                          <a:solidFill>
                            <a:srgbClr val="1E9E5A"/>
                          </a:solidFill>
                          <a:latin typeface="Calibri"/>
                        </a:rPr>
                        <a:t>✓</a:t>
                      </a:r>
                    </a:p>
                  </a:txBody>
                  <a:tcPr>
                    <a:solidFill>
                      <a:srgbClr val="F8C9A8"/>
                    </a:solidFill>
                  </a:tcPr>
                </a:tc>
                <a:tc>
                  <a:txBody>
                    <a:bodyPr/>
                    <a:lstStyle/>
                    <a:p>
                      <a:pPr algn="ctr"/>
                      <a:r>
                        <a:rPr b="1" sz="1300">
                          <a:solidFill>
                            <a:srgbClr val="1E9E5A"/>
                          </a:solidFill>
                          <a:latin typeface="Calibri"/>
                        </a:rPr>
                        <a:t>✓</a:t>
                      </a:r>
                    </a:p>
                  </a:txBody>
                  <a:tcPr>
                    <a:solidFill>
                      <a:srgbClr val="F8C9A8"/>
                    </a:solidFill>
                  </a:tcPr>
                </a:tc>
                <a:tc>
                  <a:txBody>
                    <a:bodyPr/>
                    <a:lstStyle/>
                    <a:p>
                      <a:pPr algn="ctr"/>
                      <a:r>
                        <a:rPr b="1" sz="1300">
                          <a:solidFill>
                            <a:srgbClr val="1E9E5A"/>
                          </a:solidFill>
                          <a:latin typeface="Calibri"/>
                        </a:rPr>
                        <a:t>✓</a:t>
                      </a:r>
                    </a:p>
                  </a:txBody>
                  <a:tcPr>
                    <a:solidFill>
                      <a:srgbClr val="F8C9A8"/>
                    </a:solidFill>
                  </a:tcPr>
                </a:tc>
                <a:tc>
                  <a:txBody>
                    <a:bodyPr/>
                    <a:lstStyle/>
                    <a:p>
                      <a:pPr algn="ctr"/>
                      <a:r>
                        <a:rPr b="1" sz="1300">
                          <a:solidFill>
                            <a:srgbClr val="1E9E5A"/>
                          </a:solidFill>
                          <a:latin typeface="Calibri"/>
                        </a:rPr>
                        <a:t>✓</a:t>
                      </a:r>
                    </a:p>
                  </a:txBody>
                  <a:tcPr>
                    <a:solidFill>
                      <a:srgbClr val="F8C9A8"/>
                    </a:solidFill>
                  </a:tcPr>
                </a:tc>
                <a:tc>
                  <a:txBody>
                    <a:bodyPr/>
                    <a:lstStyle/>
                    <a:p>
                      <a:pPr algn="ctr"/>
                      <a:r>
                        <a:rPr b="1" sz="1300">
                          <a:solidFill>
                            <a:srgbClr val="1E9E5A"/>
                          </a:solidFill>
                          <a:latin typeface="Calibri"/>
                        </a:rPr>
                        <a:t>✓</a:t>
                      </a:r>
                    </a:p>
                  </a:txBody>
                  <a:tcPr>
                    <a:solidFill>
                      <a:srgbClr val="F8C9A8"/>
                    </a:solidFill>
                  </a:tcPr>
                </a:tc>
              </a:tr>
              <a:tr h="405765">
                <a:tc>
                  <a:txBody>
                    <a:bodyPr/>
                    <a:lstStyle/>
                    <a:p>
                      <a:pPr algn="l"/>
                      <a:r>
                        <a:rPr b="1" sz="1150">
                          <a:solidFill>
                            <a:srgbClr val="1E9E5A"/>
                          </a:solidFill>
                          <a:latin typeface="Calibri"/>
                        </a:rPr>
                        <a:t>Urban Company (IN)</a:t>
                      </a:r>
                    </a:p>
                  </a:txBody>
                  <a:tcPr>
                    <a:solidFill>
                      <a:srgbClr val="1E9E5A"/>
                    </a:solidFill>
                  </a:tcPr>
                </a:tc>
                <a:tc>
                  <a:txBody>
                    <a:bodyPr/>
                    <a:lstStyle/>
                    <a:p>
                      <a:pPr algn="ctr"/>
                      <a:r>
                        <a:rPr b="1" sz="1300">
                          <a:solidFill>
                            <a:srgbClr val="1E9E5A"/>
                          </a:solidFill>
                          <a:latin typeface="Calibri"/>
                        </a:rPr>
                        <a:t>✓</a:t>
                      </a:r>
                    </a:p>
                  </a:txBody>
                  <a:tcPr>
                    <a:solidFill>
                      <a:srgbClr val="E8F0FE"/>
                    </a:solidFill>
                  </a:tcPr>
                </a:tc>
                <a:tc>
                  <a:txBody>
                    <a:bodyPr/>
                    <a:lstStyle/>
                    <a:p>
                      <a:pPr algn="ctr"/>
                      <a:r>
                        <a:rPr b="1" sz="1300">
                          <a:solidFill>
                            <a:srgbClr val="1E9E5A"/>
                          </a:solidFill>
                          <a:latin typeface="Calibri"/>
                        </a:rPr>
                        <a:t>✓</a:t>
                      </a:r>
                    </a:p>
                  </a:txBody>
                  <a:tcPr>
                    <a:solidFill>
                      <a:srgbClr val="E8F0FE"/>
                    </a:solidFill>
                  </a:tcPr>
                </a:tc>
                <a:tc>
                  <a:txBody>
                    <a:bodyPr/>
                    <a:lstStyle/>
                    <a:p>
                      <a:pPr algn="ctr"/>
                      <a:r>
                        <a:rPr b="1" sz="1300">
                          <a:solidFill>
                            <a:srgbClr val="1E9E5A"/>
                          </a:solidFill>
                          <a:latin typeface="Calibri"/>
                        </a:rPr>
                        <a:t>✓</a:t>
                      </a:r>
                    </a:p>
                  </a:txBody>
                  <a:tcPr>
                    <a:solidFill>
                      <a:srgbClr val="E8F0FE"/>
                    </a:solidFill>
                  </a:tcPr>
                </a:tc>
                <a:tc>
                  <a:txBody>
                    <a:bodyPr/>
                    <a:lstStyle/>
                    <a:p>
                      <a:pPr algn="ctr"/>
                      <a:r>
                        <a:rPr b="1" sz="1300">
                          <a:solidFill>
                            <a:srgbClr val="1E9E5A"/>
                          </a:solidFill>
                          <a:latin typeface="Calibri"/>
                        </a:rPr>
                        <a:t>✓</a:t>
                      </a:r>
                    </a:p>
                  </a:txBody>
                  <a:tcPr>
                    <a:solidFill>
                      <a:srgbClr val="E8F0FE"/>
                    </a:solidFill>
                  </a:tcPr>
                </a:tc>
                <a:tc>
                  <a:txBody>
                    <a:bodyPr/>
                    <a:lstStyle/>
                    <a:p>
                      <a:pPr algn="ctr"/>
                      <a:r>
                        <a:rPr b="1" sz="1300">
                          <a:solidFill>
                            <a:srgbClr val="1E9E5A"/>
                          </a:solidFill>
                          <a:latin typeface="Calibri"/>
                        </a:rPr>
                        <a:t>✓</a:t>
                      </a:r>
                    </a:p>
                  </a:txBody>
                  <a:tcPr>
                    <a:solidFill>
                      <a:srgbClr val="E8F0FE"/>
                    </a:solidFill>
                  </a:tcPr>
                </a:tc>
                <a:tc>
                  <a:txBody>
                    <a:bodyPr/>
                    <a:lstStyle/>
                    <a:p>
                      <a:pPr algn="ctr"/>
                      <a:r>
                        <a:rPr b="1" sz="1300">
                          <a:solidFill>
                            <a:srgbClr val="1E9E5A"/>
                          </a:solidFill>
                          <a:latin typeface="Calibri"/>
                        </a:rPr>
                        <a:t>✓</a:t>
                      </a:r>
                    </a:p>
                  </a:txBody>
                  <a:tcPr>
                    <a:solidFill>
                      <a:srgbClr val="E8F0FE"/>
                    </a:solidFill>
                  </a:tcPr>
                </a:tc>
              </a:tr>
              <a:tr h="405765">
                <a:tc>
                  <a:txBody>
                    <a:bodyPr/>
                    <a:lstStyle/>
                    <a:p>
                      <a:pPr algn="l"/>
                      <a:r>
                        <a:rPr b="1" sz="1150">
                          <a:solidFill>
                            <a:srgbClr val="111828"/>
                          </a:solidFill>
                          <a:latin typeface="Calibri"/>
                        </a:rPr>
                        <a:t>Mahir</a:t>
                      </a:r>
                    </a:p>
                  </a:txBody>
                  <a:tcPr>
                    <a:solidFill>
                      <a:srgbClr val="FFFFFF"/>
                    </a:solidFill>
                  </a:tcPr>
                </a:tc>
                <a:tc>
                  <a:txBody>
                    <a:bodyPr/>
                    <a:lstStyle/>
                    <a:p>
                      <a:pPr algn="ctr"/>
                      <a:r>
                        <a:rPr b="1" sz="1300">
                          <a:solidFill>
                            <a:srgbClr val="C97A1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97A12"/>
                          </a:solidFill>
                          <a:latin typeface="Calibri"/>
                        </a:rPr>
                        <a:t>~</a:t>
                      </a:r>
                    </a:p>
                  </a:txBody>
                  <a:tcPr>
                    <a:solidFill>
                      <a:srgbClr val="FCEEE2"/>
                    </a:solidFill>
                  </a:tcPr>
                </a:tc>
                <a:tc>
                  <a:txBody>
                    <a:bodyPr/>
                    <a:lstStyle/>
                    <a:p>
                      <a:pPr algn="ctr"/>
                      <a:r>
                        <a:rPr b="1" sz="1300">
                          <a:solidFill>
                            <a:srgbClr val="C97A12"/>
                          </a:solidFill>
                          <a:latin typeface="Calibri"/>
                        </a:rPr>
                        <a:t>~</a:t>
                      </a:r>
                    </a:p>
                  </a:txBody>
                  <a:tcPr>
                    <a:solidFill>
                      <a:srgbClr val="FCEEE2"/>
                    </a:solidFill>
                  </a:tcPr>
                </a:tc>
              </a:tr>
              <a:tr h="405765">
                <a:tc>
                  <a:txBody>
                    <a:bodyPr/>
                    <a:lstStyle/>
                    <a:p>
                      <a:pPr algn="l"/>
                      <a:r>
                        <a:rPr b="1" sz="1150">
                          <a:solidFill>
                            <a:srgbClr val="111828"/>
                          </a:solidFill>
                          <a:latin typeface="Calibri"/>
                        </a:rPr>
                        <a:t>RepairGuru</a:t>
                      </a:r>
                    </a:p>
                  </a:txBody>
                  <a:tcPr>
                    <a:solidFill>
                      <a:srgbClr val="FFFFFF"/>
                    </a:solidFill>
                  </a:tcPr>
                </a:tc>
                <a:tc>
                  <a:txBody>
                    <a:bodyPr/>
                    <a:lstStyle/>
                    <a:p>
                      <a:pPr algn="ctr"/>
                      <a:r>
                        <a:rPr b="1" sz="1300">
                          <a:solidFill>
                            <a:srgbClr val="C97A1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97A12"/>
                          </a:solidFill>
                          <a:latin typeface="Calibri"/>
                        </a:rPr>
                        <a:t>~</a:t>
                      </a:r>
                    </a:p>
                  </a:txBody>
                  <a:tcPr>
                    <a:solidFill>
                      <a:srgbClr val="FFFFFF"/>
                    </a:solidFill>
                  </a:tcPr>
                </a:tc>
                <a:tc>
                  <a:txBody>
                    <a:bodyPr/>
                    <a:lstStyle/>
                    <a:p>
                      <a:pPr algn="ctr"/>
                      <a:r>
                        <a:rPr b="1" sz="1300">
                          <a:solidFill>
                            <a:srgbClr val="C97A12"/>
                          </a:solidFill>
                          <a:latin typeface="Calibri"/>
                        </a:rPr>
                        <a:t>~</a:t>
                      </a:r>
                    </a:p>
                  </a:txBody>
                  <a:tcPr>
                    <a:solidFill>
                      <a:srgbClr val="FFFFFF"/>
                    </a:solidFill>
                  </a:tcPr>
                </a:tc>
              </a:tr>
              <a:tr h="405765">
                <a:tc>
                  <a:txBody>
                    <a:bodyPr/>
                    <a:lstStyle/>
                    <a:p>
                      <a:pPr algn="l"/>
                      <a:r>
                        <a:rPr b="1" sz="1150">
                          <a:solidFill>
                            <a:srgbClr val="111828"/>
                          </a:solidFill>
                          <a:latin typeface="Calibri"/>
                        </a:rPr>
                        <a:t>OLX / classifieds</a:t>
                      </a:r>
                    </a:p>
                  </a:txBody>
                  <a:tcPr>
                    <a:solidFill>
                      <a:srgbClr val="FFFFFF"/>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r>
              <a:tr h="405765">
                <a:tc>
                  <a:txBody>
                    <a:bodyPr/>
                    <a:lstStyle/>
                    <a:p>
                      <a:pPr algn="l"/>
                      <a:r>
                        <a:rPr b="1" sz="1150">
                          <a:solidFill>
                            <a:srgbClr val="111828"/>
                          </a:solidFill>
                          <a:latin typeface="Calibri"/>
                        </a:rPr>
                        <a:t>Facebook groups</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c>
                  <a:txBody>
                    <a:bodyPr/>
                    <a:lstStyle/>
                    <a:p>
                      <a:pPr algn="ctr"/>
                      <a:r>
                        <a:rPr b="1" sz="1300">
                          <a:solidFill>
                            <a:srgbClr val="C23B22"/>
                          </a:solidFill>
                          <a:latin typeface="Calibri"/>
                        </a:rPr>
                        <a:t>✗</a:t>
                      </a:r>
                    </a:p>
                  </a:txBody>
                  <a:tcPr>
                    <a:solidFill>
                      <a:srgbClr val="FFFFFF"/>
                    </a:solidFill>
                  </a:tcPr>
                </a:tc>
              </a:tr>
              <a:tr h="405765">
                <a:tc>
                  <a:txBody>
                    <a:bodyPr/>
                    <a:lstStyle/>
                    <a:p>
                      <a:pPr algn="l"/>
                      <a:r>
                        <a:rPr b="1" sz="1150">
                          <a:solidFill>
                            <a:srgbClr val="111828"/>
                          </a:solidFill>
                          <a:latin typeface="Calibri"/>
                        </a:rPr>
                        <a:t>Word-of-mouth</a:t>
                      </a:r>
                    </a:p>
                  </a:txBody>
                  <a:tcPr>
                    <a:solidFill>
                      <a:srgbClr val="FFFFFF"/>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c>
                  <a:txBody>
                    <a:bodyPr/>
                    <a:lstStyle/>
                    <a:p>
                      <a:pPr algn="ctr"/>
                      <a:r>
                        <a:rPr b="1" sz="1300">
                          <a:solidFill>
                            <a:srgbClr val="C97A12"/>
                          </a:solidFill>
                          <a:latin typeface="Calibri"/>
                        </a:rPr>
                        <a:t>~</a:t>
                      </a:r>
                    </a:p>
                  </a:txBody>
                  <a:tcPr>
                    <a:solidFill>
                      <a:srgbClr val="FCEEE2"/>
                    </a:solidFill>
                  </a:tcPr>
                </a:tc>
                <a:tc>
                  <a:txBody>
                    <a:bodyPr/>
                    <a:lstStyle/>
                    <a:p>
                      <a:pPr algn="ctr"/>
                      <a:r>
                        <a:rPr b="1" sz="1300">
                          <a:solidFill>
                            <a:srgbClr val="C23B22"/>
                          </a:solidFill>
                          <a:latin typeface="Calibri"/>
                        </a:rPr>
                        <a:t>✗</a:t>
                      </a:r>
                    </a:p>
                  </a:txBody>
                  <a:tcPr>
                    <a:solidFill>
                      <a:srgbClr val="FCEEE2"/>
                    </a:solidFill>
                  </a:tcPr>
                </a:tc>
              </a:tr>
            </a:tbl>
          </a:graphicData>
        </a:graphic>
      </p:graphicFrame>
      <p:sp>
        <p:nvSpPr>
          <p:cNvPr id="8" name="Rectangle 7"/>
          <p:cNvSpPr/>
          <p:nvPr/>
        </p:nvSpPr>
        <p:spPr>
          <a:xfrm>
            <a:off x="731520" y="5138928"/>
            <a:ext cx="10698480" cy="420624"/>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38928"/>
            <a:ext cx="10332720" cy="420624"/>
          </a:xfrm>
          <a:prstGeom prst="rect">
            <a:avLst/>
          </a:prstGeom>
          <a:noFill/>
        </p:spPr>
        <p:txBody>
          <a:bodyPr wrap="square" anchor="ctr">
            <a:spAutoFit/>
          </a:bodyPr>
          <a:lstStyle/>
          <a:p>
            <a:pPr algn="l">
              <a:lnSpc>
                <a:spcPct val="105000"/>
              </a:lnSpc>
              <a:spcAft>
                <a:spcPts val="600"/>
              </a:spcAft>
            </a:pPr>
            <a:r>
              <a:rPr sz="1100" b="1">
                <a:solidFill>
                  <a:srgbClr val="111828"/>
                </a:solidFill>
                <a:latin typeface="Calibri"/>
              </a:rPr>
              <a:t>The real competitor is informality , ~90 to 95% of the market is still cash, unverified, untracked.  </a:t>
            </a:r>
            <a:r>
              <a:rPr sz="900" b="0">
                <a:solidFill>
                  <a:srgbClr val="6B707A"/>
                </a:solidFill>
                <a:latin typeface="Calibri"/>
              </a:rPr>
              <a:t>(industry estimate)</a:t>
            </a:r>
          </a:p>
        </p:txBody>
      </p:sp>
      <p:sp>
        <p:nvSpPr>
          <p:cNvPr id="10" name="Rectangle 9"/>
          <p:cNvSpPr/>
          <p:nvPr/>
        </p:nvSpPr>
        <p:spPr>
          <a:xfrm>
            <a:off x="731520" y="5632704"/>
            <a:ext cx="10698480" cy="676656"/>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632704"/>
            <a:ext cx="10332720" cy="676656"/>
          </a:xfrm>
          <a:prstGeom prst="rect">
            <a:avLst/>
          </a:prstGeom>
          <a:noFill/>
        </p:spPr>
        <p:txBody>
          <a:bodyPr wrap="square" anchor="ctr">
            <a:spAutoFit/>
          </a:bodyPr>
          <a:lstStyle/>
          <a:p>
            <a:pPr algn="l">
              <a:lnSpc>
                <a:spcPct val="100000"/>
              </a:lnSpc>
              <a:spcAft>
                <a:spcPts val="100"/>
              </a:spcAft>
            </a:pPr>
            <a:r>
              <a:rPr sz="1100" b="1">
                <a:solidFill>
                  <a:srgbClr val="DB4B0D"/>
                </a:solidFill>
                <a:latin typeface="Calibri"/>
              </a:rPr>
              <a:t>Urban Company validated this model at $2.8B in India , Pakistan's market is structurally identical and 3 years behind.  </a:t>
            </a:r>
            <a:r>
              <a:rPr sz="1000" b="0">
                <a:solidFill>
                  <a:srgbClr val="FFFFFF"/>
                </a:solidFill>
                <a:latin typeface="Calibri"/>
              </a:rPr>
              <a:t>Why bookings stay on-platform (anti disintermediation): 3-day warranty &amp; dispute cover apply only to in-app jobs.</a:t>
            </a:r>
          </a:p>
        </p:txBody>
      </p:sp>
      <p:sp>
        <p:nvSpPr>
          <p:cNvPr id="12" name="TextBox 11"/>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7. MARKETING &amp; DISTRIBUTION CHANNELS</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Two acquisition engines, one flywheel</a:t>
            </a:r>
          </a:p>
        </p:txBody>
      </p:sp>
      <p:sp>
        <p:nvSpPr>
          <p:cNvPr id="7" name="Rectangle 6"/>
          <p:cNvSpPr/>
          <p:nvPr/>
        </p:nvSpPr>
        <p:spPr>
          <a:xfrm>
            <a:off x="731520" y="1783080"/>
            <a:ext cx="5166360" cy="352044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516636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6344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DEMAND  ·  acquiring customers</a:t>
            </a:r>
          </a:p>
        </p:txBody>
      </p:sp>
      <p:sp>
        <p:nvSpPr>
          <p:cNvPr id="10" name="TextBox 9"/>
          <p:cNvSpPr txBox="1"/>
          <p:nvPr/>
        </p:nvSpPr>
        <p:spPr>
          <a:xfrm>
            <a:off x="1005840" y="2560320"/>
            <a:ext cx="4709160" cy="2651760"/>
          </a:xfrm>
          <a:prstGeom prst="rect">
            <a:avLst/>
          </a:prstGeom>
          <a:noFill/>
        </p:spPr>
        <p:txBody>
          <a:bodyPr wrap="square">
            <a:spAutoFit/>
          </a:bodyPr>
          <a:lstStyle/>
          <a:p>
            <a:pPr>
              <a:lnSpc>
                <a:spcPct val="105000"/>
              </a:lnSpc>
              <a:spcAft>
                <a:spcPts val="700"/>
              </a:spcAft>
            </a:pPr>
            <a:r>
              <a:rPr sz="1200" b="1">
                <a:solidFill>
                  <a:srgbClr val="DB4B0D"/>
                </a:solidFill>
                <a:latin typeface="Calibri"/>
              </a:rPr>
              <a:t>▸  </a:t>
            </a:r>
            <a:r>
              <a:rPr sz="1200" b="1">
                <a:solidFill>
                  <a:srgbClr val="111828"/>
                </a:solidFill>
                <a:latin typeface="Calibri"/>
              </a:rPr>
              <a:t>Meta / TikTok ads , </a:t>
            </a:r>
            <a:r>
              <a:rPr sz="1200" b="0">
                <a:solidFill>
                  <a:srgbClr val="3A3F4A"/>
                </a:solidFill>
                <a:latin typeface="Calibri"/>
              </a:rPr>
              <a:t>Karachi women 25 to 45, home-owner interest.</a:t>
            </a:r>
          </a:p>
          <a:p>
            <a:pPr>
              <a:lnSpc>
                <a:spcPct val="105000"/>
              </a:lnSpc>
              <a:spcAft>
                <a:spcPts val="700"/>
              </a:spcAft>
            </a:pPr>
            <a:r>
              <a:rPr sz="1200" b="1">
                <a:solidFill>
                  <a:srgbClr val="DB4B0D"/>
                </a:solidFill>
                <a:latin typeface="Calibri"/>
              </a:rPr>
              <a:t>▸  </a:t>
            </a:r>
            <a:r>
              <a:rPr sz="1200" b="1">
                <a:solidFill>
                  <a:srgbClr val="111828"/>
                </a:solidFill>
                <a:latin typeface="Calibri"/>
              </a:rPr>
              <a:t>SEO landing pages , </a:t>
            </a:r>
            <a:r>
              <a:rPr sz="1200" b="0">
                <a:solidFill>
                  <a:srgbClr val="3A3F4A"/>
                </a:solidFill>
                <a:latin typeface="Calibri"/>
              </a:rPr>
              <a:t>per service x city (already shipped , a live channel asset).</a:t>
            </a:r>
          </a:p>
          <a:p>
            <a:pPr>
              <a:lnSpc>
                <a:spcPct val="105000"/>
              </a:lnSpc>
              <a:spcAft>
                <a:spcPts val="700"/>
              </a:spcAft>
            </a:pPr>
            <a:r>
              <a:rPr sz="1200" b="1">
                <a:solidFill>
                  <a:srgbClr val="DB4B0D"/>
                </a:solidFill>
                <a:latin typeface="Calibri"/>
              </a:rPr>
              <a:t>▸  </a:t>
            </a:r>
            <a:r>
              <a:rPr sz="1200" b="1">
                <a:solidFill>
                  <a:srgbClr val="111828"/>
                </a:solidFill>
                <a:latin typeface="Calibri"/>
              </a:rPr>
              <a:t>Residential societies (B2B2C) , </a:t>
            </a:r>
            <a:r>
              <a:rPr sz="1200" b="0">
                <a:solidFill>
                  <a:srgbClr val="3A3F4A"/>
                </a:solidFill>
                <a:latin typeface="Calibri"/>
              </a:rPr>
              <a:t>one manager unlocks 200+ households.</a:t>
            </a:r>
          </a:p>
          <a:p>
            <a:pPr>
              <a:lnSpc>
                <a:spcPct val="105000"/>
              </a:lnSpc>
              <a:spcAft>
                <a:spcPts val="700"/>
              </a:spcAft>
            </a:pPr>
            <a:r>
              <a:rPr sz="1200" b="1">
                <a:solidFill>
                  <a:srgbClr val="DB4B0D"/>
                </a:solidFill>
                <a:latin typeface="Calibri"/>
              </a:rPr>
              <a:t>▸  </a:t>
            </a:r>
            <a:r>
              <a:rPr sz="1200" b="1">
                <a:solidFill>
                  <a:srgbClr val="111828"/>
                </a:solidFill>
                <a:latin typeface="Calibri"/>
              </a:rPr>
              <a:t>Referral loop , </a:t>
            </a:r>
            <a:r>
              <a:rPr sz="1200" b="0">
                <a:solidFill>
                  <a:srgbClr val="3A3F4A"/>
                </a:solidFill>
                <a:latin typeface="Calibri"/>
              </a:rPr>
              <a:t>customers earn for each new customer.</a:t>
            </a:r>
          </a:p>
          <a:p>
            <a:pPr>
              <a:lnSpc>
                <a:spcPct val="105000"/>
              </a:lnSpc>
              <a:spcAft>
                <a:spcPts val="700"/>
              </a:spcAft>
            </a:pPr>
            <a:r>
              <a:rPr sz="1200" b="1">
                <a:solidFill>
                  <a:srgbClr val="DB4B0D"/>
                </a:solidFill>
                <a:latin typeface="Calibri"/>
              </a:rPr>
              <a:t>▸  </a:t>
            </a:r>
            <a:r>
              <a:rPr sz="1200" b="1">
                <a:solidFill>
                  <a:srgbClr val="111828"/>
                </a:solidFill>
                <a:latin typeface="Calibri"/>
              </a:rPr>
              <a:t>Community &amp; mosque networks , </a:t>
            </a:r>
            <a:r>
              <a:rPr sz="1200" b="0">
                <a:solidFill>
                  <a:srgbClr val="3A3F4A"/>
                </a:solidFill>
                <a:latin typeface="Calibri"/>
              </a:rPr>
              <a:t>trust-building in conservative areas.</a:t>
            </a:r>
          </a:p>
        </p:txBody>
      </p:sp>
      <p:sp>
        <p:nvSpPr>
          <p:cNvPr id="11" name="Rectangle 10"/>
          <p:cNvSpPr/>
          <p:nvPr/>
        </p:nvSpPr>
        <p:spPr>
          <a:xfrm>
            <a:off x="6263640" y="1783080"/>
            <a:ext cx="5166360" cy="352044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516636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11680"/>
            <a:ext cx="466344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SUPPLY  ·  acquiring providers</a:t>
            </a:r>
          </a:p>
        </p:txBody>
      </p:sp>
      <p:sp>
        <p:nvSpPr>
          <p:cNvPr id="14" name="TextBox 13"/>
          <p:cNvSpPr txBox="1"/>
          <p:nvPr/>
        </p:nvSpPr>
        <p:spPr>
          <a:xfrm>
            <a:off x="6537960" y="2560320"/>
            <a:ext cx="4709160" cy="2651760"/>
          </a:xfrm>
          <a:prstGeom prst="rect">
            <a:avLst/>
          </a:prstGeom>
          <a:noFill/>
        </p:spPr>
        <p:txBody>
          <a:bodyPr wrap="square">
            <a:spAutoFit/>
          </a:bodyPr>
          <a:lstStyle/>
          <a:p>
            <a:pPr>
              <a:lnSpc>
                <a:spcPct val="105000"/>
              </a:lnSpc>
              <a:spcAft>
                <a:spcPts val="800"/>
              </a:spcAft>
            </a:pPr>
            <a:r>
              <a:rPr sz="1200" b="1">
                <a:solidFill>
                  <a:srgbClr val="DB4B0D"/>
                </a:solidFill>
                <a:latin typeface="Calibri"/>
              </a:rPr>
              <a:t>▸  </a:t>
            </a:r>
            <a:r>
              <a:rPr sz="1200" b="1">
                <a:solidFill>
                  <a:srgbClr val="111828"/>
                </a:solidFill>
                <a:latin typeface="Calibri"/>
              </a:rPr>
              <a:t>Door-to-door , </a:t>
            </a:r>
            <a:r>
              <a:rPr sz="1200" b="0">
                <a:solidFill>
                  <a:srgbClr val="CFD3DA"/>
                </a:solidFill>
                <a:latin typeface="Calibri"/>
              </a:rPr>
              <a:t>Karachi trade hubs (Saddar, Lea Market, Sohrab Goth).</a:t>
            </a:r>
          </a:p>
          <a:p>
            <a:pPr>
              <a:lnSpc>
                <a:spcPct val="105000"/>
              </a:lnSpc>
              <a:spcAft>
                <a:spcPts val="800"/>
              </a:spcAft>
            </a:pPr>
            <a:r>
              <a:rPr sz="1200" b="1">
                <a:solidFill>
                  <a:srgbClr val="DB4B0D"/>
                </a:solidFill>
                <a:latin typeface="Calibri"/>
              </a:rPr>
              <a:t>▸  </a:t>
            </a:r>
            <a:r>
              <a:rPr sz="1200" b="1">
                <a:solidFill>
                  <a:srgbClr val="111828"/>
                </a:solidFill>
                <a:latin typeface="Calibri"/>
              </a:rPr>
              <a:t>Ustad / contractor referrals , </a:t>
            </a:r>
            <a:r>
              <a:rPr sz="1200" b="0">
                <a:solidFill>
                  <a:srgbClr val="CFD3DA"/>
                </a:solidFill>
                <a:latin typeface="Calibri"/>
              </a:rPr>
              <a:t>master tradesmen refer apprentices.</a:t>
            </a:r>
          </a:p>
          <a:p>
            <a:pPr>
              <a:lnSpc>
                <a:spcPct val="105000"/>
              </a:lnSpc>
              <a:spcAft>
                <a:spcPts val="800"/>
              </a:spcAft>
            </a:pPr>
            <a:r>
              <a:rPr sz="1200" b="1">
                <a:solidFill>
                  <a:srgbClr val="DB4B0D"/>
                </a:solidFill>
                <a:latin typeface="Calibri"/>
              </a:rPr>
              <a:t>▸  </a:t>
            </a:r>
            <a:r>
              <a:rPr sz="1200" b="1">
                <a:solidFill>
                  <a:srgbClr val="111828"/>
                </a:solidFill>
                <a:latin typeface="Calibri"/>
              </a:rPr>
              <a:t>Provider-led word-of-mouth , </a:t>
            </a:r>
            <a:r>
              <a:rPr sz="1200" b="0">
                <a:solidFill>
                  <a:srgbClr val="CFD3DA"/>
                </a:solidFill>
                <a:latin typeface="Calibri"/>
              </a:rPr>
              <a:t>satisfied pros recruit peers, at zero cost.</a:t>
            </a:r>
          </a:p>
          <a:p>
            <a:pPr>
              <a:lnSpc>
                <a:spcPct val="105000"/>
              </a:lnSpc>
              <a:spcAft>
                <a:spcPts val="800"/>
              </a:spcAft>
            </a:pPr>
            <a:r>
              <a:rPr sz="1200" b="1">
                <a:solidFill>
                  <a:srgbClr val="DB4B0D"/>
                </a:solidFill>
                <a:latin typeface="Calibri"/>
              </a:rPr>
              <a:t>▸  </a:t>
            </a:r>
            <a:r>
              <a:rPr sz="1200" b="1">
                <a:solidFill>
                  <a:srgbClr val="111828"/>
                </a:solidFill>
                <a:latin typeface="Calibri"/>
              </a:rPr>
              <a:t>Trade associations , </a:t>
            </a:r>
            <a:r>
              <a:rPr sz="1200" b="0">
                <a:solidFill>
                  <a:srgbClr val="CFD3DA"/>
                </a:solidFill>
                <a:latin typeface="Calibri"/>
              </a:rPr>
              <a:t>electrician &amp; plumber guild outreach.</a:t>
            </a:r>
          </a:p>
        </p:txBody>
      </p:sp>
      <p:sp>
        <p:nvSpPr>
          <p:cNvPr id="15" name="Rectangle 14"/>
          <p:cNvSpPr/>
          <p:nvPr/>
        </p:nvSpPr>
        <p:spPr>
          <a:xfrm>
            <a:off x="731520" y="5394960"/>
            <a:ext cx="10698480" cy="9144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440680"/>
            <a:ext cx="10332720" cy="822960"/>
          </a:xfrm>
          <a:prstGeom prst="rect">
            <a:avLst/>
          </a:prstGeom>
          <a:noFill/>
        </p:spPr>
        <p:txBody>
          <a:bodyPr wrap="square" anchor="t">
            <a:spAutoFit/>
          </a:bodyPr>
          <a:lstStyle/>
          <a:p>
            <a:pPr algn="l">
              <a:lnSpc>
                <a:spcPct val="104000"/>
              </a:lnSpc>
              <a:spcAft>
                <a:spcPts val="300"/>
              </a:spcAft>
            </a:pPr>
            <a:r>
              <a:rPr sz="1200" b="1">
                <a:solidFill>
                  <a:srgbClr val="DB4B0D"/>
                </a:solidFill>
                <a:latin typeface="Calibri"/>
              </a:rPr>
              <a:t>Cold start strategy:  </a:t>
            </a:r>
            <a:r>
              <a:rPr sz="1100" b="0">
                <a:solidFill>
                  <a:srgbClr val="FFFFFF"/>
                </a:solidFill>
                <a:latin typeface="Calibri"/>
              </a:rPr>
              <a:t>We seed supply FIRST through guild batch-onboarding (20 to 30 tradesmen at a time via trade associations), then activate demand with a subsidized first job incentive.</a:t>
            </a:r>
          </a:p>
          <a:p>
            <a:pPr algn="l">
              <a:lnSpc>
                <a:spcPct val="104000"/>
              </a:lnSpc>
              <a:spcAft>
                <a:spcPts val="300"/>
              </a:spcAft>
            </a:pPr>
            <a:r>
              <a:rPr sz="1000" b="1">
                <a:solidFill>
                  <a:srgbClr val="CFD3DA"/>
                </a:solidFill>
                <a:latin typeface="Calibri"/>
              </a:rPr>
              <a:t>Referral loops on both sides drive CAC down over time as the network compounds.</a:t>
            </a:r>
          </a:p>
        </p:txBody>
      </p:sp>
      <p:sp>
        <p:nvSpPr>
          <p:cNvPr id="17" name="TextBox 16"/>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8. REVENUE STREAMS &amp; BUSINESS MODEL</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Free credit, then a 12% prepaid commission</a:t>
            </a:r>
          </a:p>
        </p:txBody>
      </p:sp>
      <p:sp>
        <p:nvSpPr>
          <p:cNvPr id="7" name="Rectangle 6"/>
          <p:cNvSpPr/>
          <p:nvPr/>
        </p:nvSpPr>
        <p:spPr>
          <a:xfrm>
            <a:off x="731520" y="1783080"/>
            <a:ext cx="5669280" cy="329184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566928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521208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HOW WE EARN  ·  prepaid wallet</a:t>
            </a:r>
          </a:p>
        </p:txBody>
      </p:sp>
      <p:sp>
        <p:nvSpPr>
          <p:cNvPr id="10" name="Oval 9"/>
          <p:cNvSpPr/>
          <p:nvPr/>
        </p:nvSpPr>
        <p:spPr>
          <a:xfrm>
            <a:off x="1005840" y="2514600"/>
            <a:ext cx="411480" cy="4114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14600"/>
            <a:ext cx="41148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1</a:t>
            </a:r>
          </a:p>
        </p:txBody>
      </p:sp>
      <p:sp>
        <p:nvSpPr>
          <p:cNvPr id="12" name="TextBox 11"/>
          <p:cNvSpPr txBox="1"/>
          <p:nvPr/>
        </p:nvSpPr>
        <p:spPr>
          <a:xfrm>
            <a:off x="1554480" y="2478024"/>
            <a:ext cx="4663440" cy="914400"/>
          </a:xfrm>
          <a:prstGeom prst="rect">
            <a:avLst/>
          </a:prstGeom>
          <a:noFill/>
        </p:spPr>
        <p:txBody>
          <a:bodyPr wrap="square" anchor="t">
            <a:spAutoFit/>
          </a:bodyPr>
          <a:lstStyle/>
          <a:p>
            <a:pPr algn="l">
              <a:lnSpc>
                <a:spcPct val="103000"/>
              </a:lnSpc>
              <a:spcAft>
                <a:spcPts val="200"/>
              </a:spcAft>
            </a:pPr>
            <a:r>
              <a:rPr sz="1250" b="1">
                <a:solidFill>
                  <a:srgbClr val="FFFFFF"/>
                </a:solidFill>
                <a:latin typeface="Calibri"/>
              </a:rPr>
              <a:t>Free Rs. 500 welcome credit</a:t>
            </a:r>
          </a:p>
          <a:p>
            <a:pPr algn="l">
              <a:lnSpc>
                <a:spcPct val="103000"/>
              </a:lnSpc>
              <a:spcAft>
                <a:spcPts val="200"/>
              </a:spcAft>
            </a:pPr>
            <a:r>
              <a:rPr sz="1050" b="0">
                <a:solidFill>
                  <a:srgbClr val="CFD3DA"/>
                </a:solidFill>
                <a:latin typeface="Calibri"/>
              </a:rPr>
              <a:t>Every new provider claims Rs. 500 on their dashboard , start earning with no upfront cost.</a:t>
            </a:r>
          </a:p>
        </p:txBody>
      </p:sp>
      <p:sp>
        <p:nvSpPr>
          <p:cNvPr id="13" name="Oval 12"/>
          <p:cNvSpPr/>
          <p:nvPr/>
        </p:nvSpPr>
        <p:spPr>
          <a:xfrm>
            <a:off x="1005840" y="3355848"/>
            <a:ext cx="411480" cy="4114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355848"/>
            <a:ext cx="41148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2</a:t>
            </a:r>
          </a:p>
        </p:txBody>
      </p:sp>
      <p:sp>
        <p:nvSpPr>
          <p:cNvPr id="15" name="TextBox 14"/>
          <p:cNvSpPr txBox="1"/>
          <p:nvPr/>
        </p:nvSpPr>
        <p:spPr>
          <a:xfrm>
            <a:off x="1554480" y="3319272"/>
            <a:ext cx="4663440" cy="914400"/>
          </a:xfrm>
          <a:prstGeom prst="rect">
            <a:avLst/>
          </a:prstGeom>
          <a:noFill/>
        </p:spPr>
        <p:txBody>
          <a:bodyPr wrap="square" anchor="t">
            <a:spAutoFit/>
          </a:bodyPr>
          <a:lstStyle/>
          <a:p>
            <a:pPr algn="l">
              <a:lnSpc>
                <a:spcPct val="103000"/>
              </a:lnSpc>
              <a:spcAft>
                <a:spcPts val="200"/>
              </a:spcAft>
            </a:pPr>
            <a:r>
              <a:rPr sz="1250" b="1">
                <a:solidFill>
                  <a:srgbClr val="FFFFFF"/>
                </a:solidFill>
                <a:latin typeface="Calibri"/>
              </a:rPr>
              <a:t>12% deducted per completed job</a:t>
            </a:r>
          </a:p>
          <a:p>
            <a:pPr algn="l">
              <a:lnSpc>
                <a:spcPct val="103000"/>
              </a:lnSpc>
              <a:spcAft>
                <a:spcPts val="200"/>
              </a:spcAft>
            </a:pPr>
            <a:r>
              <a:rPr sz="1050" b="0">
                <a:solidFill>
                  <a:srgbClr val="CFD3DA"/>
                </a:solidFill>
                <a:latin typeface="Calibri"/>
              </a:rPr>
              <a:t>On each finished job the platform deducts a 12% commission from the provider's wallet (e.g. a Rs. 500 job = Rs. 60).</a:t>
            </a:r>
          </a:p>
        </p:txBody>
      </p:sp>
      <p:sp>
        <p:nvSpPr>
          <p:cNvPr id="16" name="Oval 15"/>
          <p:cNvSpPr/>
          <p:nvPr/>
        </p:nvSpPr>
        <p:spPr>
          <a:xfrm>
            <a:off x="1005840" y="4197096"/>
            <a:ext cx="411480" cy="41148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197096"/>
            <a:ext cx="41148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3</a:t>
            </a:r>
          </a:p>
        </p:txBody>
      </p:sp>
      <p:sp>
        <p:nvSpPr>
          <p:cNvPr id="18" name="TextBox 17"/>
          <p:cNvSpPr txBox="1"/>
          <p:nvPr/>
        </p:nvSpPr>
        <p:spPr>
          <a:xfrm>
            <a:off x="1554480" y="4160520"/>
            <a:ext cx="4663440" cy="914400"/>
          </a:xfrm>
          <a:prstGeom prst="rect">
            <a:avLst/>
          </a:prstGeom>
          <a:noFill/>
        </p:spPr>
        <p:txBody>
          <a:bodyPr wrap="square" anchor="t">
            <a:spAutoFit/>
          </a:bodyPr>
          <a:lstStyle/>
          <a:p>
            <a:pPr algn="l">
              <a:lnSpc>
                <a:spcPct val="103000"/>
              </a:lnSpc>
              <a:spcAft>
                <a:spcPts val="200"/>
              </a:spcAft>
            </a:pPr>
            <a:r>
              <a:rPr sz="1250" b="1">
                <a:solidFill>
                  <a:srgbClr val="FFFFFF"/>
                </a:solidFill>
                <a:latin typeface="Calibri"/>
              </a:rPr>
              <a:t>Top up when credit runs low</a:t>
            </a:r>
          </a:p>
          <a:p>
            <a:pPr algn="l">
              <a:lnSpc>
                <a:spcPct val="103000"/>
              </a:lnSpc>
              <a:spcAft>
                <a:spcPts val="200"/>
              </a:spcAft>
            </a:pPr>
            <a:r>
              <a:rPr sz="1050" b="0">
                <a:solidFill>
                  <a:srgbClr val="CFD3DA"/>
                </a:solidFill>
                <a:latin typeface="Calibri"/>
              </a:rPr>
              <a:t>The free Rs. 500 credit covers the first several jobs; then the provider tops up to keep receiving jobs (0 balance = paused).</a:t>
            </a:r>
          </a:p>
        </p:txBody>
      </p:sp>
      <p:sp>
        <p:nvSpPr>
          <p:cNvPr id="19" name="Rectangle 18"/>
          <p:cNvSpPr/>
          <p:nvPr/>
        </p:nvSpPr>
        <p:spPr>
          <a:xfrm>
            <a:off x="6675120" y="1783080"/>
            <a:ext cx="4754880" cy="32918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1783080"/>
            <a:ext cx="475488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2011680"/>
            <a:ext cx="420624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TOP UP PACKAGES</a:t>
            </a:r>
          </a:p>
        </p:txBody>
      </p:sp>
      <p:sp>
        <p:nvSpPr>
          <p:cNvPr id="22" name="Rectangle 21"/>
          <p:cNvSpPr/>
          <p:nvPr/>
        </p:nvSpPr>
        <p:spPr>
          <a:xfrm>
            <a:off x="6949440" y="2514600"/>
            <a:ext cx="4206240" cy="713232"/>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49440" y="2514600"/>
            <a:ext cx="91440" cy="713232"/>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2514600"/>
            <a:ext cx="2103120" cy="713232"/>
          </a:xfrm>
          <a:prstGeom prst="rect">
            <a:avLst/>
          </a:prstGeom>
          <a:noFill/>
        </p:spPr>
        <p:txBody>
          <a:bodyPr wrap="square" anchor="ctr">
            <a:spAutoFit/>
          </a:bodyPr>
          <a:lstStyle/>
          <a:p>
            <a:pPr algn="l">
              <a:lnSpc>
                <a:spcPct val="100000"/>
              </a:lnSpc>
              <a:spcAft>
                <a:spcPts val="100"/>
              </a:spcAft>
            </a:pPr>
            <a:r>
              <a:rPr sz="1300" b="1">
                <a:solidFill>
                  <a:srgbClr val="111828"/>
                </a:solidFill>
                <a:latin typeface="Calibri"/>
              </a:rPr>
              <a:t>Starter</a:t>
            </a:r>
          </a:p>
          <a:p>
            <a:pPr algn="l">
              <a:lnSpc>
                <a:spcPct val="100000"/>
              </a:lnSpc>
              <a:spcAft>
                <a:spcPts val="100"/>
              </a:spcAft>
            </a:pPr>
            <a:r>
              <a:rPr sz="950" b="0">
                <a:solidFill>
                  <a:srgbClr val="3A3F4A"/>
                </a:solidFill>
                <a:latin typeface="Calibri"/>
              </a:rPr>
              <a:t>Just testing</a:t>
            </a:r>
          </a:p>
        </p:txBody>
      </p:sp>
      <p:sp>
        <p:nvSpPr>
          <p:cNvPr id="25" name="TextBox 24"/>
          <p:cNvSpPr txBox="1"/>
          <p:nvPr/>
        </p:nvSpPr>
        <p:spPr>
          <a:xfrm>
            <a:off x="9144000" y="2514600"/>
            <a:ext cx="1920240" cy="713232"/>
          </a:xfrm>
          <a:prstGeom prst="rect">
            <a:avLst/>
          </a:prstGeom>
          <a:noFill/>
        </p:spPr>
        <p:txBody>
          <a:bodyPr wrap="square" anchor="ctr">
            <a:spAutoFit/>
          </a:bodyPr>
          <a:lstStyle/>
          <a:p>
            <a:pPr algn="r">
              <a:lnSpc>
                <a:spcPct val="105000"/>
              </a:lnSpc>
              <a:spcAft>
                <a:spcPts val="600"/>
              </a:spcAft>
            </a:pPr>
            <a:r>
              <a:rPr sz="1600" b="1">
                <a:solidFill>
                  <a:srgbClr val="DB4B0D"/>
                </a:solidFill>
                <a:latin typeface="Calibri"/>
              </a:rPr>
              <a:t>Rs. 500</a:t>
            </a:r>
          </a:p>
        </p:txBody>
      </p:sp>
      <p:sp>
        <p:nvSpPr>
          <p:cNvPr id="26" name="Rectangle 25"/>
          <p:cNvSpPr/>
          <p:nvPr/>
        </p:nvSpPr>
        <p:spPr>
          <a:xfrm>
            <a:off x="6949440" y="3319272"/>
            <a:ext cx="4206240" cy="713232"/>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49440" y="3319272"/>
            <a:ext cx="91440" cy="713232"/>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0" y="3319272"/>
            <a:ext cx="2103120" cy="713232"/>
          </a:xfrm>
          <a:prstGeom prst="rect">
            <a:avLst/>
          </a:prstGeom>
          <a:noFill/>
        </p:spPr>
        <p:txBody>
          <a:bodyPr wrap="square" anchor="ctr">
            <a:spAutoFit/>
          </a:bodyPr>
          <a:lstStyle/>
          <a:p>
            <a:pPr algn="l">
              <a:lnSpc>
                <a:spcPct val="100000"/>
              </a:lnSpc>
              <a:spcAft>
                <a:spcPts val="100"/>
              </a:spcAft>
            </a:pPr>
            <a:r>
              <a:rPr sz="1300" b="1">
                <a:solidFill>
                  <a:srgbClr val="111828"/>
                </a:solidFill>
                <a:latin typeface="Calibri"/>
              </a:rPr>
              <a:t>Standard</a:t>
            </a:r>
          </a:p>
          <a:p>
            <a:pPr algn="l">
              <a:lnSpc>
                <a:spcPct val="100000"/>
              </a:lnSpc>
              <a:spcAft>
                <a:spcPts val="100"/>
              </a:spcAft>
            </a:pPr>
            <a:r>
              <a:rPr sz="950" b="0">
                <a:solidFill>
                  <a:srgbClr val="3A3F4A"/>
                </a:solidFill>
                <a:latin typeface="Calibri"/>
              </a:rPr>
              <a:t>Regular work  ·  popular</a:t>
            </a:r>
          </a:p>
        </p:txBody>
      </p:sp>
      <p:sp>
        <p:nvSpPr>
          <p:cNvPr id="29" name="TextBox 28"/>
          <p:cNvSpPr txBox="1"/>
          <p:nvPr/>
        </p:nvSpPr>
        <p:spPr>
          <a:xfrm>
            <a:off x="9144000" y="3319272"/>
            <a:ext cx="1920240" cy="713232"/>
          </a:xfrm>
          <a:prstGeom prst="rect">
            <a:avLst/>
          </a:prstGeom>
          <a:noFill/>
        </p:spPr>
        <p:txBody>
          <a:bodyPr wrap="square" anchor="ctr">
            <a:spAutoFit/>
          </a:bodyPr>
          <a:lstStyle/>
          <a:p>
            <a:pPr algn="r">
              <a:lnSpc>
                <a:spcPct val="105000"/>
              </a:lnSpc>
              <a:spcAft>
                <a:spcPts val="600"/>
              </a:spcAft>
            </a:pPr>
            <a:r>
              <a:rPr sz="1600" b="1">
                <a:solidFill>
                  <a:srgbClr val="DB4B0D"/>
                </a:solidFill>
                <a:latin typeface="Calibri"/>
              </a:rPr>
              <a:t>Rs. 1,000</a:t>
            </a:r>
          </a:p>
        </p:txBody>
      </p:sp>
      <p:sp>
        <p:nvSpPr>
          <p:cNvPr id="30" name="Rectangle 29"/>
          <p:cNvSpPr/>
          <p:nvPr/>
        </p:nvSpPr>
        <p:spPr>
          <a:xfrm>
            <a:off x="6949440" y="4123944"/>
            <a:ext cx="4206240" cy="713232"/>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49440" y="4123944"/>
            <a:ext cx="91440" cy="713232"/>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0" y="4123944"/>
            <a:ext cx="2103120" cy="713232"/>
          </a:xfrm>
          <a:prstGeom prst="rect">
            <a:avLst/>
          </a:prstGeom>
          <a:noFill/>
        </p:spPr>
        <p:txBody>
          <a:bodyPr wrap="square" anchor="ctr">
            <a:spAutoFit/>
          </a:bodyPr>
          <a:lstStyle/>
          <a:p>
            <a:pPr algn="l">
              <a:lnSpc>
                <a:spcPct val="100000"/>
              </a:lnSpc>
              <a:spcAft>
                <a:spcPts val="100"/>
              </a:spcAft>
            </a:pPr>
            <a:r>
              <a:rPr sz="1300" b="1">
                <a:solidFill>
                  <a:srgbClr val="111828"/>
                </a:solidFill>
                <a:latin typeface="Calibri"/>
              </a:rPr>
              <a:t>Pro</a:t>
            </a:r>
          </a:p>
          <a:p>
            <a:pPr algn="l">
              <a:lnSpc>
                <a:spcPct val="100000"/>
              </a:lnSpc>
              <a:spcAft>
                <a:spcPts val="100"/>
              </a:spcAft>
            </a:pPr>
            <a:r>
              <a:rPr sz="950" b="0">
                <a:solidFill>
                  <a:srgbClr val="3A3F4A"/>
                </a:solidFill>
                <a:latin typeface="Calibri"/>
              </a:rPr>
              <a:t>Full time</a:t>
            </a:r>
          </a:p>
        </p:txBody>
      </p:sp>
      <p:sp>
        <p:nvSpPr>
          <p:cNvPr id="33" name="TextBox 32"/>
          <p:cNvSpPr txBox="1"/>
          <p:nvPr/>
        </p:nvSpPr>
        <p:spPr>
          <a:xfrm>
            <a:off x="9144000" y="4123944"/>
            <a:ext cx="1920240" cy="713232"/>
          </a:xfrm>
          <a:prstGeom prst="rect">
            <a:avLst/>
          </a:prstGeom>
          <a:noFill/>
        </p:spPr>
        <p:txBody>
          <a:bodyPr wrap="square" anchor="ctr">
            <a:spAutoFit/>
          </a:bodyPr>
          <a:lstStyle/>
          <a:p>
            <a:pPr algn="r">
              <a:lnSpc>
                <a:spcPct val="105000"/>
              </a:lnSpc>
              <a:spcAft>
                <a:spcPts val="600"/>
              </a:spcAft>
            </a:pPr>
            <a:r>
              <a:rPr sz="1600" b="1">
                <a:solidFill>
                  <a:srgbClr val="DB4B0D"/>
                </a:solidFill>
                <a:latin typeface="Calibri"/>
              </a:rPr>
              <a:t>Rs. 2,000</a:t>
            </a:r>
          </a:p>
        </p:txBody>
      </p:sp>
      <p:sp>
        <p:nvSpPr>
          <p:cNvPr id="34" name="TextBox 33"/>
          <p:cNvSpPr txBox="1"/>
          <p:nvPr/>
        </p:nvSpPr>
        <p:spPr>
          <a:xfrm>
            <a:off x="6949440" y="4846320"/>
            <a:ext cx="4297680" cy="365760"/>
          </a:xfrm>
          <a:prstGeom prst="rect">
            <a:avLst/>
          </a:prstGeom>
          <a:noFill/>
        </p:spPr>
        <p:txBody>
          <a:bodyPr wrap="square" anchor="t">
            <a:spAutoFit/>
          </a:bodyPr>
          <a:lstStyle/>
          <a:p>
            <a:pPr algn="l">
              <a:lnSpc>
                <a:spcPct val="100000"/>
              </a:lnSpc>
              <a:spcAft>
                <a:spcPts val="600"/>
              </a:spcAft>
            </a:pPr>
            <a:r>
              <a:rPr sz="1000" b="0">
                <a:solidFill>
                  <a:srgbClr val="3A3F4A"/>
                </a:solidFill>
                <a:latin typeface="Calibri"/>
              </a:rPr>
              <a:t>Pay via Easypaisa · JazzCash · Bank → upload receipt → admin credits wallet.</a:t>
            </a:r>
          </a:p>
        </p:txBody>
      </p:sp>
      <p:sp>
        <p:nvSpPr>
          <p:cNvPr id="35" name="Rectangle 34"/>
          <p:cNvSpPr/>
          <p:nvPr/>
        </p:nvSpPr>
        <p:spPr>
          <a:xfrm>
            <a:off x="731520" y="5166360"/>
            <a:ext cx="10698480" cy="11430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0120" y="5212080"/>
            <a:ext cx="10424160" cy="365760"/>
          </a:xfrm>
          <a:prstGeom prst="rect">
            <a:avLst/>
          </a:prstGeom>
          <a:noFill/>
        </p:spPr>
        <p:txBody>
          <a:bodyPr wrap="square" anchor="t">
            <a:spAutoFit/>
          </a:bodyPr>
          <a:lstStyle/>
          <a:p>
            <a:pPr algn="l">
              <a:lnSpc>
                <a:spcPct val="105000"/>
              </a:lnSpc>
              <a:spcAft>
                <a:spcPts val="200"/>
              </a:spcAft>
            </a:pPr>
            <a:r>
              <a:rPr sz="1200" b="1">
                <a:solidFill>
                  <a:srgbClr val="DB4B0D"/>
                </a:solidFill>
                <a:latin typeface="Calibri"/>
              </a:rPr>
              <a:t>Monetization timeline:</a:t>
            </a:r>
          </a:p>
        </p:txBody>
      </p:sp>
      <p:sp>
        <p:nvSpPr>
          <p:cNvPr id="37" name="Rectangle 36"/>
          <p:cNvSpPr/>
          <p:nvPr/>
        </p:nvSpPr>
        <p:spPr>
          <a:xfrm>
            <a:off x="960120" y="5577840"/>
            <a:ext cx="73152"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532120"/>
            <a:ext cx="2377440" cy="640080"/>
          </a:xfrm>
          <a:prstGeom prst="rect">
            <a:avLst/>
          </a:prstGeom>
          <a:noFill/>
        </p:spPr>
        <p:txBody>
          <a:bodyPr wrap="square" anchor="t">
            <a:spAutoFit/>
          </a:bodyPr>
          <a:lstStyle/>
          <a:p>
            <a:pPr algn="l">
              <a:lnSpc>
                <a:spcPct val="100000"/>
              </a:lnSpc>
              <a:spcAft>
                <a:spcPts val="100"/>
              </a:spcAft>
            </a:pPr>
            <a:r>
              <a:rPr sz="1000" b="1">
                <a:solidFill>
                  <a:srgbClr val="DB4B0D"/>
                </a:solidFill>
                <a:latin typeface="Calibri"/>
              </a:rPr>
              <a:t>Phase 1</a:t>
            </a:r>
          </a:p>
          <a:p>
            <a:pPr algn="l">
              <a:lnSpc>
                <a:spcPct val="100000"/>
              </a:lnSpc>
              <a:spcAft>
                <a:spcPts val="100"/>
              </a:spcAft>
            </a:pPr>
            <a:r>
              <a:rPr sz="1000" b="1">
                <a:solidFill>
                  <a:srgbClr val="111828"/>
                </a:solidFill>
                <a:latin typeface="Calibri"/>
              </a:rPr>
              <a:t>Free credit seeding</a:t>
            </a:r>
          </a:p>
          <a:p>
            <a:pPr algn="l">
              <a:lnSpc>
                <a:spcPct val="100000"/>
              </a:lnSpc>
              <a:spcAft>
                <a:spcPts val="100"/>
              </a:spcAft>
            </a:pPr>
            <a:r>
              <a:rPr sz="850" b="0">
                <a:solidFill>
                  <a:srgbClr val="3A3F4A"/>
                </a:solidFill>
                <a:latin typeface="Calibri"/>
              </a:rPr>
              <a:t>Providers onboard at zero cost, build habits</a:t>
            </a:r>
          </a:p>
        </p:txBody>
      </p:sp>
      <p:sp>
        <p:nvSpPr>
          <p:cNvPr id="39" name="Rectangle 38"/>
          <p:cNvSpPr/>
          <p:nvPr/>
        </p:nvSpPr>
        <p:spPr>
          <a:xfrm>
            <a:off x="3566160" y="5577840"/>
            <a:ext cx="73152"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03320" y="5532120"/>
            <a:ext cx="2377440" cy="640080"/>
          </a:xfrm>
          <a:prstGeom prst="rect">
            <a:avLst/>
          </a:prstGeom>
          <a:noFill/>
        </p:spPr>
        <p:txBody>
          <a:bodyPr wrap="square" anchor="t">
            <a:spAutoFit/>
          </a:bodyPr>
          <a:lstStyle/>
          <a:p>
            <a:pPr algn="l">
              <a:lnSpc>
                <a:spcPct val="100000"/>
              </a:lnSpc>
              <a:spcAft>
                <a:spcPts val="100"/>
              </a:spcAft>
            </a:pPr>
            <a:r>
              <a:rPr sz="1000" b="1">
                <a:solidFill>
                  <a:srgbClr val="DB4B0D"/>
                </a:solidFill>
                <a:latin typeface="Calibri"/>
              </a:rPr>
              <a:t>Phase 2</a:t>
            </a:r>
          </a:p>
          <a:p>
            <a:pPr algn="l">
              <a:lnSpc>
                <a:spcPct val="100000"/>
              </a:lnSpc>
              <a:spcAft>
                <a:spcPts val="100"/>
              </a:spcAft>
            </a:pPr>
            <a:r>
              <a:rPr sz="1000" b="1">
                <a:solidFill>
                  <a:srgbClr val="111828"/>
                </a:solidFill>
                <a:latin typeface="Calibri"/>
              </a:rPr>
              <a:t>First top-ups</a:t>
            </a:r>
          </a:p>
          <a:p>
            <a:pPr algn="l">
              <a:lnSpc>
                <a:spcPct val="100000"/>
              </a:lnSpc>
              <a:spcAft>
                <a:spcPts val="100"/>
              </a:spcAft>
            </a:pPr>
            <a:r>
              <a:rPr sz="850" b="0">
                <a:solidFill>
                  <a:srgbClr val="3A3F4A"/>
                </a:solidFill>
                <a:latin typeface="Calibri"/>
              </a:rPr>
              <a:t>Providers convert to paid as free credit exhausts</a:t>
            </a:r>
          </a:p>
        </p:txBody>
      </p:sp>
      <p:sp>
        <p:nvSpPr>
          <p:cNvPr id="41" name="Rectangle 40"/>
          <p:cNvSpPr/>
          <p:nvPr/>
        </p:nvSpPr>
        <p:spPr>
          <a:xfrm>
            <a:off x="6172200" y="5577840"/>
            <a:ext cx="73152"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09360" y="5532120"/>
            <a:ext cx="2377440" cy="640080"/>
          </a:xfrm>
          <a:prstGeom prst="rect">
            <a:avLst/>
          </a:prstGeom>
          <a:noFill/>
        </p:spPr>
        <p:txBody>
          <a:bodyPr wrap="square" anchor="t">
            <a:spAutoFit/>
          </a:bodyPr>
          <a:lstStyle/>
          <a:p>
            <a:pPr algn="l">
              <a:lnSpc>
                <a:spcPct val="100000"/>
              </a:lnSpc>
              <a:spcAft>
                <a:spcPts val="100"/>
              </a:spcAft>
            </a:pPr>
            <a:r>
              <a:rPr sz="1000" b="1">
                <a:solidFill>
                  <a:srgbClr val="DB4B0D"/>
                </a:solidFill>
                <a:latin typeface="Calibri"/>
              </a:rPr>
              <a:t>Phase 3</a:t>
            </a:r>
          </a:p>
          <a:p>
            <a:pPr algn="l">
              <a:lnSpc>
                <a:spcPct val="100000"/>
              </a:lnSpc>
              <a:spcAft>
                <a:spcPts val="100"/>
              </a:spcAft>
            </a:pPr>
            <a:r>
              <a:rPr sz="1000" b="1">
                <a:solidFill>
                  <a:srgbClr val="111828"/>
                </a:solidFill>
                <a:latin typeface="Calibri"/>
              </a:rPr>
              <a:t>Commission flowing</a:t>
            </a:r>
          </a:p>
          <a:p>
            <a:pPr algn="l">
              <a:lnSpc>
                <a:spcPct val="100000"/>
              </a:lnSpc>
              <a:spcAft>
                <a:spcPts val="100"/>
              </a:spcAft>
            </a:pPr>
            <a:r>
              <a:rPr sz="850" b="0">
                <a:solidFill>
                  <a:srgbClr val="3A3F4A"/>
                </a:solidFill>
                <a:latin typeface="Calibri"/>
              </a:rPr>
              <a:t>12% per job, recurring revenue compounds</a:t>
            </a:r>
          </a:p>
        </p:txBody>
      </p:sp>
      <p:sp>
        <p:nvSpPr>
          <p:cNvPr id="43" name="Rectangle 42"/>
          <p:cNvSpPr/>
          <p:nvPr/>
        </p:nvSpPr>
        <p:spPr>
          <a:xfrm>
            <a:off x="8778240" y="5577840"/>
            <a:ext cx="73152" cy="54864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15400" y="5532120"/>
            <a:ext cx="2377440" cy="640080"/>
          </a:xfrm>
          <a:prstGeom prst="rect">
            <a:avLst/>
          </a:prstGeom>
          <a:noFill/>
        </p:spPr>
        <p:txBody>
          <a:bodyPr wrap="square" anchor="t">
            <a:spAutoFit/>
          </a:bodyPr>
          <a:lstStyle/>
          <a:p>
            <a:pPr algn="l">
              <a:lnSpc>
                <a:spcPct val="100000"/>
              </a:lnSpc>
              <a:spcAft>
                <a:spcPts val="100"/>
              </a:spcAft>
            </a:pPr>
            <a:r>
              <a:rPr sz="1000" b="1">
                <a:solidFill>
                  <a:srgbClr val="DB4B0D"/>
                </a:solidFill>
                <a:latin typeface="Calibri"/>
              </a:rPr>
              <a:t>Phase 4</a:t>
            </a:r>
          </a:p>
          <a:p>
            <a:pPr algn="l">
              <a:lnSpc>
                <a:spcPct val="100000"/>
              </a:lnSpc>
              <a:spcAft>
                <a:spcPts val="100"/>
              </a:spcAft>
            </a:pPr>
            <a:r>
              <a:rPr sz="1000" b="1">
                <a:solidFill>
                  <a:srgbClr val="111828"/>
                </a:solidFill>
                <a:latin typeface="Calibri"/>
              </a:rPr>
              <a:t>Break even</a:t>
            </a:r>
          </a:p>
          <a:p>
            <a:pPr algn="l">
              <a:lnSpc>
                <a:spcPct val="100000"/>
              </a:lnSpc>
              <a:spcAft>
                <a:spcPts val="100"/>
              </a:spcAft>
            </a:pPr>
            <a:r>
              <a:rPr sz="850" b="0">
                <a:solidFill>
                  <a:srgbClr val="3A3F4A"/>
                </a:solidFill>
                <a:latin typeface="Calibri"/>
              </a:rPr>
              <a:t>~280 jobs/mo covers cloud + acquisition burn</a:t>
            </a:r>
          </a:p>
        </p:txBody>
      </p:sp>
      <p:sp>
        <p:nvSpPr>
          <p:cNvPr id="45" name="TextBox 44"/>
          <p:cNvSpPr txBox="1"/>
          <p:nvPr/>
        </p:nvSpPr>
        <p:spPr>
          <a:xfrm>
            <a:off x="960120" y="6263640"/>
            <a:ext cx="10424160" cy="274320"/>
          </a:xfrm>
          <a:prstGeom prst="rect">
            <a:avLst/>
          </a:prstGeom>
          <a:noFill/>
        </p:spPr>
        <p:txBody>
          <a:bodyPr wrap="square" anchor="t">
            <a:spAutoFit/>
          </a:bodyPr>
          <a:lstStyle/>
          <a:p>
            <a:pPr algn="l">
              <a:lnSpc>
                <a:spcPct val="105000"/>
              </a:lnSpc>
              <a:spcAft>
                <a:spcPts val="600"/>
              </a:spcAft>
            </a:pPr>
            <a:r>
              <a:rPr sz="950" b="0">
                <a:solidFill>
                  <a:srgbClr val="3A3F4A"/>
                </a:solidFill>
                <a:latin typeface="Calibri"/>
              </a:rPr>
              <a:t>Sharia (ujrah): fee charged ONLY on completed, customer confirmed jobs; unused prepaid credit fully refundable. No interest, no ambiguity.</a:t>
            </a:r>
          </a:p>
        </p:txBody>
      </p:sp>
      <p:sp>
        <p:nvSpPr>
          <p:cNvPr id="46" name="TextBox 45"/>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9. COST STRUCTURE  (CapEx vs OpEx)</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A lean, software-margin business</a:t>
            </a:r>
          </a:p>
        </p:txBody>
      </p:sp>
      <p:sp>
        <p:nvSpPr>
          <p:cNvPr id="7" name="Rectangle 6"/>
          <p:cNvSpPr/>
          <p:nvPr/>
        </p:nvSpPr>
        <p:spPr>
          <a:xfrm>
            <a:off x="731520" y="1783080"/>
            <a:ext cx="3200400" cy="3200400"/>
          </a:xfrm>
          <a:prstGeom prst="rect">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20040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93392"/>
            <a:ext cx="274320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CAPEX · one time</a:t>
            </a:r>
          </a:p>
        </p:txBody>
      </p:sp>
      <p:sp>
        <p:nvSpPr>
          <p:cNvPr id="10" name="TextBox 9"/>
          <p:cNvSpPr txBox="1"/>
          <p:nvPr/>
        </p:nvSpPr>
        <p:spPr>
          <a:xfrm>
            <a:off x="960120" y="2487168"/>
            <a:ext cx="2834640" cy="2377440"/>
          </a:xfrm>
          <a:prstGeom prst="rect">
            <a:avLst/>
          </a:prstGeom>
          <a:noFill/>
        </p:spPr>
        <p:txBody>
          <a:bodyPr wrap="square">
            <a:spAutoFit/>
          </a:bodyPr>
          <a:lstStyle/>
          <a:p>
            <a:pPr>
              <a:lnSpc>
                <a:spcPct val="105000"/>
              </a:lnSpc>
              <a:spcAft>
                <a:spcPts val="1000"/>
              </a:spcAft>
            </a:pPr>
            <a:r>
              <a:rPr sz="1150" b="1">
                <a:solidFill>
                  <a:srgbClr val="DB4B0D"/>
                </a:solidFill>
                <a:latin typeface="Calibri"/>
              </a:rPr>
              <a:t>▸  </a:t>
            </a:r>
            <a:r>
              <a:rPr sz="1150">
                <a:solidFill>
                  <a:srgbClr val="3A3F4A"/>
                </a:solidFill>
                <a:latin typeface="Calibri"/>
              </a:rPr>
              <a:t>Product dev , done (founder-built)</a:t>
            </a:r>
          </a:p>
          <a:p>
            <a:pPr>
              <a:lnSpc>
                <a:spcPct val="105000"/>
              </a:lnSpc>
              <a:spcAft>
                <a:spcPts val="1000"/>
              </a:spcAft>
            </a:pPr>
            <a:r>
              <a:rPr sz="1150" b="1">
                <a:solidFill>
                  <a:srgbClr val="DB4B0D"/>
                </a:solidFill>
                <a:latin typeface="Calibri"/>
              </a:rPr>
              <a:t>▸  </a:t>
            </a:r>
            <a:r>
              <a:rPr sz="1150">
                <a:solidFill>
                  <a:srgbClr val="3A3F4A"/>
                </a:solidFill>
                <a:latin typeface="Calibri"/>
              </a:rPr>
              <a:t>Office space &amp; setup</a:t>
            </a:r>
          </a:p>
          <a:p>
            <a:pPr>
              <a:lnSpc>
                <a:spcPct val="105000"/>
              </a:lnSpc>
              <a:spcAft>
                <a:spcPts val="1000"/>
              </a:spcAft>
            </a:pPr>
            <a:r>
              <a:rPr sz="1150" b="1">
                <a:solidFill>
                  <a:srgbClr val="DB4B0D"/>
                </a:solidFill>
                <a:latin typeface="Calibri"/>
              </a:rPr>
              <a:t>▸  </a:t>
            </a:r>
            <a:r>
              <a:rPr sz="1150">
                <a:solidFill>
                  <a:srgbClr val="3A3F4A"/>
                </a:solidFill>
                <a:latin typeface="Calibri"/>
              </a:rPr>
              <a:t>Brand &amp; design system</a:t>
            </a:r>
          </a:p>
          <a:p>
            <a:pPr>
              <a:lnSpc>
                <a:spcPct val="105000"/>
              </a:lnSpc>
              <a:spcAft>
                <a:spcPts val="1000"/>
              </a:spcAft>
            </a:pPr>
            <a:r>
              <a:rPr sz="1150" b="1">
                <a:solidFill>
                  <a:srgbClr val="DB4B0D"/>
                </a:solidFill>
                <a:latin typeface="Calibri"/>
              </a:rPr>
              <a:t>▸  </a:t>
            </a:r>
            <a:r>
              <a:rPr sz="1150">
                <a:solidFill>
                  <a:srgbClr val="3A3F4A"/>
                </a:solidFill>
                <a:latin typeface="Calibri"/>
              </a:rPr>
              <a:t>Native mobile app build</a:t>
            </a:r>
          </a:p>
          <a:p>
            <a:pPr>
              <a:lnSpc>
                <a:spcPct val="105000"/>
              </a:lnSpc>
              <a:spcAft>
                <a:spcPts val="1000"/>
              </a:spcAft>
            </a:pPr>
            <a:r>
              <a:rPr sz="1150" b="1">
                <a:solidFill>
                  <a:srgbClr val="DB4B0D"/>
                </a:solidFill>
                <a:latin typeface="Calibri"/>
              </a:rPr>
              <a:t>▸  </a:t>
            </a:r>
            <a:r>
              <a:rPr sz="1150">
                <a:solidFill>
                  <a:srgbClr val="3A3F4A"/>
                </a:solidFill>
                <a:latin typeface="Calibri"/>
              </a:rPr>
              <a:t>Verification system (one time build)</a:t>
            </a:r>
          </a:p>
        </p:txBody>
      </p:sp>
      <p:sp>
        <p:nvSpPr>
          <p:cNvPr id="11" name="TextBox 10"/>
          <p:cNvSpPr txBox="1"/>
          <p:nvPr/>
        </p:nvSpPr>
        <p:spPr>
          <a:xfrm>
            <a:off x="4160520" y="1828800"/>
            <a:ext cx="73152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OPEX · monthly  </a:t>
            </a:r>
            <a:r>
              <a:rPr sz="1000" b="0">
                <a:solidFill>
                  <a:srgbClr val="3A3F4A"/>
                </a:solidFill>
                <a:latin typeface="Calibri"/>
              </a:rPr>
              <a:t>(PKR , illustrative 2025 list prices)</a:t>
            </a:r>
          </a:p>
        </p:txBody>
      </p:sp>
      <p:graphicFrame>
        <p:nvGraphicFramePr>
          <p:cNvPr id="12" name="Table 11"/>
          <p:cNvGraphicFramePr>
            <a:graphicFrameLocks noGrp="1"/>
          </p:cNvGraphicFramePr>
          <p:nvPr/>
        </p:nvGraphicFramePr>
        <p:xfrm>
          <a:off x="4160520" y="2240280"/>
          <a:ext cx="7269480" cy="2926080"/>
        </p:xfrm>
        <a:graphic>
          <a:graphicData uri="http://schemas.openxmlformats.org/drawingml/2006/table">
            <a:tbl>
              <a:tblPr firstRow="1" bandRow="1">
                <a:tableStyleId>{5C22544A-7EE6-4342-B048-85BDC9FD1C3A}</a:tableStyleId>
              </a:tblPr>
              <a:tblGrid>
                <a:gridCol w="3246120"/>
                <a:gridCol w="2011680"/>
                <a:gridCol w="2011680"/>
              </a:tblGrid>
              <a:tr h="365760">
                <a:tc>
                  <a:txBody>
                    <a:bodyPr/>
                    <a:lstStyle/>
                    <a:p>
                      <a:pPr algn="l"/>
                      <a:r>
                        <a:rPr sz="1100" b="1">
                          <a:solidFill>
                            <a:srgbClr val="FFFFFF"/>
                          </a:solidFill>
                          <a:latin typeface="Calibri"/>
                        </a:rPr>
                        <a:t>Line item</a:t>
                      </a:r>
                    </a:p>
                  </a:txBody>
                  <a:tcPr>
                    <a:solidFill>
                      <a:srgbClr val="111828"/>
                    </a:solidFill>
                  </a:tcPr>
                </a:tc>
                <a:tc>
                  <a:txBody>
                    <a:bodyPr/>
                    <a:lstStyle/>
                    <a:p>
                      <a:pPr algn="ctr"/>
                      <a:r>
                        <a:rPr sz="1100" b="1">
                          <a:solidFill>
                            <a:srgbClr val="FFFFFF"/>
                          </a:solidFill>
                          <a:latin typeface="Calibri"/>
                        </a:rPr>
                        <a:t>Pre-revenue</a:t>
                      </a:r>
                    </a:p>
                  </a:txBody>
                  <a:tcPr>
                    <a:solidFill>
                      <a:srgbClr val="111828"/>
                    </a:solidFill>
                  </a:tcPr>
                </a:tc>
                <a:tc>
                  <a:txBody>
                    <a:bodyPr/>
                    <a:lstStyle/>
                    <a:p>
                      <a:pPr algn="ctr"/>
                      <a:r>
                        <a:rPr sz="1100" b="1">
                          <a:solidFill>
                            <a:srgbClr val="FFFFFF"/>
                          </a:solidFill>
                          <a:latin typeface="Calibri"/>
                        </a:rPr>
                        <a:t>500 jobs/mo</a:t>
                      </a:r>
                    </a:p>
                  </a:txBody>
                  <a:tcPr>
                    <a:solidFill>
                      <a:srgbClr val="111828"/>
                    </a:solidFill>
                  </a:tcPr>
                </a:tc>
              </a:tr>
              <a:tr h="365760">
                <a:tc>
                  <a:txBody>
                    <a:bodyPr/>
                    <a:lstStyle/>
                    <a:p>
                      <a:pPr algn="l"/>
                      <a:r>
                        <a:rPr sz="1100" b="1">
                          <a:solidFill>
                            <a:srgbClr val="111828"/>
                          </a:solidFill>
                          <a:latin typeface="Calibri"/>
                        </a:rPr>
                        <a:t>Supabase + Vercel</a:t>
                      </a:r>
                    </a:p>
                  </a:txBody>
                  <a:tcPr>
                    <a:solidFill>
                      <a:srgbClr val="FCEEE2"/>
                    </a:solidFill>
                  </a:tcPr>
                </a:tc>
                <a:tc>
                  <a:txBody>
                    <a:bodyPr/>
                    <a:lstStyle/>
                    <a:p>
                      <a:pPr algn="ctr"/>
                      <a:r>
                        <a:rPr sz="1100" b="0">
                          <a:solidFill>
                            <a:srgbClr val="DB4B0D"/>
                          </a:solidFill>
                          <a:latin typeface="Calibri"/>
                        </a:rPr>
                        <a:t>~8K to 12K</a:t>
                      </a:r>
                    </a:p>
                  </a:txBody>
                  <a:tcPr>
                    <a:solidFill>
                      <a:srgbClr val="FCEEE2"/>
                    </a:solidFill>
                  </a:tcPr>
                </a:tc>
                <a:tc>
                  <a:txBody>
                    <a:bodyPr/>
                    <a:lstStyle/>
                    <a:p>
                      <a:pPr algn="ctr"/>
                      <a:r>
                        <a:rPr sz="1100" b="0">
                          <a:solidFill>
                            <a:srgbClr val="DB4B0D"/>
                          </a:solidFill>
                          <a:latin typeface="Calibri"/>
                        </a:rPr>
                        <a:t>~15K to 25K</a:t>
                      </a:r>
                    </a:p>
                  </a:txBody>
                  <a:tcPr>
                    <a:solidFill>
                      <a:srgbClr val="FCEEE2"/>
                    </a:solidFill>
                  </a:tcPr>
                </a:tc>
              </a:tr>
              <a:tr h="365760">
                <a:tc>
                  <a:txBody>
                    <a:bodyPr/>
                    <a:lstStyle/>
                    <a:p>
                      <a:pPr algn="l"/>
                      <a:r>
                        <a:rPr sz="1100" b="1">
                          <a:solidFill>
                            <a:srgbClr val="111828"/>
                          </a:solidFill>
                          <a:latin typeface="Calibri"/>
                        </a:rPr>
                        <a:t>Twilio OTP</a:t>
                      </a:r>
                    </a:p>
                  </a:txBody>
                  <a:tcPr>
                    <a:solidFill>
                      <a:srgbClr val="FFFFFF"/>
                    </a:solidFill>
                  </a:tcPr>
                </a:tc>
                <a:tc>
                  <a:txBody>
                    <a:bodyPr/>
                    <a:lstStyle/>
                    <a:p>
                      <a:pPr algn="ctr"/>
                      <a:r>
                        <a:rPr sz="1100" b="0">
                          <a:solidFill>
                            <a:srgbClr val="DB4B0D"/>
                          </a:solidFill>
                          <a:latin typeface="Calibri"/>
                        </a:rPr>
                        <a:t>~3K</a:t>
                      </a:r>
                    </a:p>
                  </a:txBody>
                  <a:tcPr>
                    <a:solidFill>
                      <a:srgbClr val="FFFFFF"/>
                    </a:solidFill>
                  </a:tcPr>
                </a:tc>
                <a:tc>
                  <a:txBody>
                    <a:bodyPr/>
                    <a:lstStyle/>
                    <a:p>
                      <a:pPr algn="ctr"/>
                      <a:r>
                        <a:rPr sz="1100" b="0">
                          <a:solidFill>
                            <a:srgbClr val="DB4B0D"/>
                          </a:solidFill>
                          <a:latin typeface="Calibri"/>
                        </a:rPr>
                        <a:t>~8K</a:t>
                      </a:r>
                    </a:p>
                  </a:txBody>
                  <a:tcPr>
                    <a:solidFill>
                      <a:srgbClr val="FFFFFF"/>
                    </a:solidFill>
                  </a:tcPr>
                </a:tc>
              </a:tr>
              <a:tr h="365760">
                <a:tc>
                  <a:txBody>
                    <a:bodyPr/>
                    <a:lstStyle/>
                    <a:p>
                      <a:pPr algn="l"/>
                      <a:r>
                        <a:rPr sz="1100" b="1">
                          <a:solidFill>
                            <a:srgbClr val="111828"/>
                          </a:solidFill>
                          <a:latin typeface="Calibri"/>
                        </a:rPr>
                        <a:t>Google Maps API</a:t>
                      </a:r>
                    </a:p>
                  </a:txBody>
                  <a:tcPr>
                    <a:solidFill>
                      <a:srgbClr val="FCEEE2"/>
                    </a:solidFill>
                  </a:tcPr>
                </a:tc>
                <a:tc>
                  <a:txBody>
                    <a:bodyPr/>
                    <a:lstStyle/>
                    <a:p>
                      <a:pPr algn="ctr"/>
                      <a:r>
                        <a:rPr sz="1100" b="0">
                          <a:solidFill>
                            <a:srgbClr val="DB4B0D"/>
                          </a:solidFill>
                          <a:latin typeface="Calibri"/>
                        </a:rPr>
                        <a:t>~2K</a:t>
                      </a:r>
                    </a:p>
                  </a:txBody>
                  <a:tcPr>
                    <a:solidFill>
                      <a:srgbClr val="FCEEE2"/>
                    </a:solidFill>
                  </a:tcPr>
                </a:tc>
                <a:tc>
                  <a:txBody>
                    <a:bodyPr/>
                    <a:lstStyle/>
                    <a:p>
                      <a:pPr algn="ctr"/>
                      <a:r>
                        <a:rPr sz="1100" b="0">
                          <a:solidFill>
                            <a:srgbClr val="DB4B0D"/>
                          </a:solidFill>
                          <a:latin typeface="Calibri"/>
                        </a:rPr>
                        <a:t>~6K</a:t>
                      </a:r>
                    </a:p>
                  </a:txBody>
                  <a:tcPr>
                    <a:solidFill>
                      <a:srgbClr val="FCEEE2"/>
                    </a:solidFill>
                  </a:tcPr>
                </a:tc>
              </a:tr>
              <a:tr h="365760">
                <a:tc>
                  <a:txBody>
                    <a:bodyPr/>
                    <a:lstStyle/>
                    <a:p>
                      <a:pPr algn="l"/>
                      <a:r>
                        <a:rPr sz="1100" b="1">
                          <a:solidFill>
                            <a:srgbClr val="111828"/>
                          </a:solidFill>
                          <a:latin typeface="Calibri"/>
                        </a:rPr>
                        <a:t>FCM / Resend</a:t>
                      </a:r>
                    </a:p>
                  </a:txBody>
                  <a:tcPr>
                    <a:solidFill>
                      <a:srgbClr val="FFFFFF"/>
                    </a:solidFill>
                  </a:tcPr>
                </a:tc>
                <a:tc>
                  <a:txBody>
                    <a:bodyPr/>
                    <a:lstStyle/>
                    <a:p>
                      <a:pPr algn="ctr"/>
                      <a:r>
                        <a:rPr sz="1100" b="0">
                          <a:solidFill>
                            <a:srgbClr val="DB4B0D"/>
                          </a:solidFill>
                          <a:latin typeface="Calibri"/>
                        </a:rPr>
                        <a:t>Free</a:t>
                      </a:r>
                    </a:p>
                  </a:txBody>
                  <a:tcPr>
                    <a:solidFill>
                      <a:srgbClr val="FFFFFF"/>
                    </a:solidFill>
                  </a:tcPr>
                </a:tc>
                <a:tc>
                  <a:txBody>
                    <a:bodyPr/>
                    <a:lstStyle/>
                    <a:p>
                      <a:pPr algn="ctr"/>
                      <a:r>
                        <a:rPr sz="1100" b="0">
                          <a:solidFill>
                            <a:srgbClr val="DB4B0D"/>
                          </a:solidFill>
                          <a:latin typeface="Calibri"/>
                        </a:rPr>
                        <a:t>Free</a:t>
                      </a:r>
                    </a:p>
                  </a:txBody>
                  <a:tcPr>
                    <a:solidFill>
                      <a:srgbClr val="FFFFFF"/>
                    </a:solidFill>
                  </a:tcPr>
                </a:tc>
              </a:tr>
              <a:tr h="365760">
                <a:tc>
                  <a:txBody>
                    <a:bodyPr/>
                    <a:lstStyle/>
                    <a:p>
                      <a:pPr algn="l"/>
                      <a:r>
                        <a:rPr sz="1100" b="1">
                          <a:solidFill>
                            <a:srgbClr val="111828"/>
                          </a:solidFill>
                          <a:latin typeface="Calibri"/>
                        </a:rPr>
                        <a:t>Domain &amp; misc</a:t>
                      </a:r>
                    </a:p>
                  </a:txBody>
                  <a:tcPr>
                    <a:solidFill>
                      <a:srgbClr val="FCEEE2"/>
                    </a:solidFill>
                  </a:tcPr>
                </a:tc>
                <a:tc>
                  <a:txBody>
                    <a:bodyPr/>
                    <a:lstStyle/>
                    <a:p>
                      <a:pPr algn="ctr"/>
                      <a:r>
                        <a:rPr sz="1100" b="0">
                          <a:solidFill>
                            <a:srgbClr val="DB4B0D"/>
                          </a:solidFill>
                          <a:latin typeface="Calibri"/>
                        </a:rPr>
                        <a:t>~3K</a:t>
                      </a:r>
                    </a:p>
                  </a:txBody>
                  <a:tcPr>
                    <a:solidFill>
                      <a:srgbClr val="FCEEE2"/>
                    </a:solidFill>
                  </a:tcPr>
                </a:tc>
                <a:tc>
                  <a:txBody>
                    <a:bodyPr/>
                    <a:lstStyle/>
                    <a:p>
                      <a:pPr algn="ctr"/>
                      <a:r>
                        <a:rPr sz="1100" b="0">
                          <a:solidFill>
                            <a:srgbClr val="DB4B0D"/>
                          </a:solidFill>
                          <a:latin typeface="Calibri"/>
                        </a:rPr>
                        <a:t>~3K</a:t>
                      </a:r>
                    </a:p>
                  </a:txBody>
                  <a:tcPr>
                    <a:solidFill>
                      <a:srgbClr val="FCEEE2"/>
                    </a:solidFill>
                  </a:tcPr>
                </a:tc>
              </a:tr>
              <a:tr h="365760">
                <a:tc>
                  <a:txBody>
                    <a:bodyPr/>
                    <a:lstStyle/>
                    <a:p>
                      <a:pPr algn="l"/>
                      <a:r>
                        <a:rPr sz="1100" b="1">
                          <a:solidFill>
                            <a:srgbClr val="111828"/>
                          </a:solidFill>
                          <a:latin typeface="Calibri"/>
                        </a:rPr>
                        <a:t>Founder salaries</a:t>
                      </a:r>
                    </a:p>
                  </a:txBody>
                  <a:tcPr>
                    <a:solidFill>
                      <a:srgbClr val="FFFFFF"/>
                    </a:solidFill>
                  </a:tcPr>
                </a:tc>
                <a:tc>
                  <a:txBody>
                    <a:bodyPr/>
                    <a:lstStyle/>
                    <a:p>
                      <a:pPr algn="ctr"/>
                      <a:r>
                        <a:rPr sz="1100" b="0">
                          <a:solidFill>
                            <a:srgbClr val="DB4B0D"/>
                          </a:solidFill>
                          <a:latin typeface="Calibri"/>
                        </a:rPr>
                        <a:t>Deferred (equity)</a:t>
                      </a:r>
                    </a:p>
                  </a:txBody>
                  <a:tcPr>
                    <a:solidFill>
                      <a:srgbClr val="FFFFFF"/>
                    </a:solidFill>
                  </a:tcPr>
                </a:tc>
                <a:tc>
                  <a:txBody>
                    <a:bodyPr/>
                    <a:lstStyle/>
                    <a:p>
                      <a:pPr algn="ctr"/>
                      <a:r>
                        <a:rPr sz="1100" b="0">
                          <a:solidFill>
                            <a:srgbClr val="DB4B0D"/>
                          </a:solidFill>
                          <a:latin typeface="Calibri"/>
                        </a:rPr>
                        <a:t>Deferred (equity)</a:t>
                      </a:r>
                    </a:p>
                  </a:txBody>
                  <a:tcPr>
                    <a:solidFill>
                      <a:srgbClr val="FFFFFF"/>
                    </a:solidFill>
                  </a:tcPr>
                </a:tc>
              </a:tr>
              <a:tr h="365760">
                <a:tc>
                  <a:txBody>
                    <a:bodyPr/>
                    <a:lstStyle/>
                    <a:p>
                      <a:pPr algn="l"/>
                      <a:r>
                        <a:rPr sz="1100" b="1">
                          <a:solidFill>
                            <a:srgbClr val="111828"/>
                          </a:solidFill>
                          <a:latin typeface="Calibri"/>
                        </a:rPr>
                        <a:t>Total cloud burn</a:t>
                      </a:r>
                    </a:p>
                  </a:txBody>
                  <a:tcPr>
                    <a:solidFill>
                      <a:srgbClr val="F8C9A8"/>
                    </a:solidFill>
                  </a:tcPr>
                </a:tc>
                <a:tc>
                  <a:txBody>
                    <a:bodyPr/>
                    <a:lstStyle/>
                    <a:p>
                      <a:pPr algn="ctr"/>
                      <a:r>
                        <a:rPr sz="1100" b="1">
                          <a:solidFill>
                            <a:srgbClr val="111828"/>
                          </a:solidFill>
                          <a:latin typeface="Calibri"/>
                        </a:rPr>
                        <a:t>~16K to 20K</a:t>
                      </a:r>
                    </a:p>
                  </a:txBody>
                  <a:tcPr>
                    <a:solidFill>
                      <a:srgbClr val="F8C9A8"/>
                    </a:solidFill>
                  </a:tcPr>
                </a:tc>
                <a:tc>
                  <a:txBody>
                    <a:bodyPr/>
                    <a:lstStyle/>
                    <a:p>
                      <a:pPr algn="ctr"/>
                      <a:r>
                        <a:rPr sz="1100" b="1">
                          <a:solidFill>
                            <a:srgbClr val="111828"/>
                          </a:solidFill>
                          <a:latin typeface="Calibri"/>
                        </a:rPr>
                        <a:t>~32K to 42K</a:t>
                      </a:r>
                    </a:p>
                  </a:txBody>
                  <a:tcPr>
                    <a:solidFill>
                      <a:srgbClr val="F8C9A8"/>
                    </a:solidFill>
                  </a:tcPr>
                </a:tc>
              </a:tr>
            </a:tbl>
          </a:graphicData>
        </a:graphic>
      </p:graphicFrame>
      <p:sp>
        <p:nvSpPr>
          <p:cNvPr id="13" name="Rectangle 12"/>
          <p:cNvSpPr/>
          <p:nvPr/>
        </p:nvSpPr>
        <p:spPr>
          <a:xfrm>
            <a:off x="731520" y="5285232"/>
            <a:ext cx="10698480" cy="9144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358384"/>
            <a:ext cx="10332720" cy="777240"/>
          </a:xfrm>
          <a:prstGeom prst="rect">
            <a:avLst/>
          </a:prstGeom>
          <a:noFill/>
        </p:spPr>
        <p:txBody>
          <a:bodyPr wrap="square" anchor="t">
            <a:spAutoFit/>
          </a:bodyPr>
          <a:lstStyle/>
          <a:p>
            <a:pPr algn="l">
              <a:lnSpc>
                <a:spcPct val="104000"/>
              </a:lnSpc>
              <a:spcAft>
                <a:spcPts val="300"/>
              </a:spcAft>
            </a:pPr>
            <a:r>
              <a:rPr sz="1200" b="1">
                <a:solidFill>
                  <a:srgbClr val="DB4B0D"/>
                </a:solidFill>
                <a:latin typeface="Calibri"/>
              </a:rPr>
              <a:t>With NIC Karachi incubation:  </a:t>
            </a:r>
            <a:r>
              <a:rPr sz="1100" b="0">
                <a:solidFill>
                  <a:srgbClr val="FFFFFF"/>
                </a:solidFill>
                <a:latin typeface="Calibri"/>
              </a:rPr>
              <a:t>free office + zero utilities save ~PKR 80K to 120K/mo , that single saving dwarfs our entire cloud burn, redirected straight into provider acquisition.</a:t>
            </a:r>
          </a:p>
          <a:p>
            <a:pPr algn="l">
              <a:lnSpc>
                <a:spcPct val="104000"/>
              </a:lnSpc>
              <a:spcAft>
                <a:spcPts val="300"/>
              </a:spcAft>
            </a:pPr>
            <a:r>
              <a:rPr sz="1000" b="1">
                <a:solidFill>
                  <a:srgbClr val="CFD3DA"/>
                </a:solidFill>
                <a:latin typeface="Calibri"/>
              </a:rPr>
              <a:t>All 3 co-founders currently work deferred / equity-only. No salaries drawn pre-revenue.</a:t>
            </a:r>
          </a:p>
        </p:txBody>
      </p:sp>
      <p:sp>
        <p:nvSpPr>
          <p:cNvPr id="15" name="TextBox 14"/>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10. FINANCIALS</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Lean burn, scalable margins</a:t>
            </a:r>
          </a:p>
        </p:txBody>
      </p:sp>
      <p:sp>
        <p:nvSpPr>
          <p:cNvPr id="7" name="TextBox 6"/>
          <p:cNvSpPr txBox="1"/>
          <p:nvPr/>
        </p:nvSpPr>
        <p:spPr>
          <a:xfrm>
            <a:off x="731520" y="1783080"/>
            <a:ext cx="10515600" cy="457200"/>
          </a:xfrm>
          <a:prstGeom prst="rect">
            <a:avLst/>
          </a:prstGeom>
          <a:noFill/>
        </p:spPr>
        <p:txBody>
          <a:bodyPr wrap="square" anchor="t">
            <a:spAutoFit/>
          </a:bodyPr>
          <a:lstStyle/>
          <a:p>
            <a:pPr algn="l">
              <a:lnSpc>
                <a:spcPct val="105000"/>
              </a:lnSpc>
              <a:spcAft>
                <a:spcPts val="600"/>
              </a:spcAft>
            </a:pPr>
            <a:r>
              <a:rPr sz="1500" b="1">
                <a:solidFill>
                  <a:srgbClr val="DB4B0D"/>
                </a:solidFill>
                <a:latin typeface="Calibri"/>
              </a:rPr>
              <a:t>Pre-revenue MVP today , high-margin economics as marketplace liquidity builds.</a:t>
            </a:r>
          </a:p>
        </p:txBody>
      </p:sp>
      <p:sp>
        <p:nvSpPr>
          <p:cNvPr id="8" name="Rectangle 7"/>
          <p:cNvSpPr/>
          <p:nvPr/>
        </p:nvSpPr>
        <p:spPr>
          <a:xfrm>
            <a:off x="731520" y="2468880"/>
            <a:ext cx="3474720" cy="14630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46888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697480"/>
            <a:ext cx="3017520" cy="1188720"/>
          </a:xfrm>
          <a:prstGeom prst="rect">
            <a:avLst/>
          </a:prstGeom>
          <a:noFill/>
        </p:spPr>
        <p:txBody>
          <a:bodyPr wrap="square" anchor="t">
            <a:spAutoFit/>
          </a:bodyPr>
          <a:lstStyle/>
          <a:p>
            <a:pPr algn="l">
              <a:lnSpc>
                <a:spcPct val="112000"/>
              </a:lnSpc>
              <a:spcAft>
                <a:spcPts val="600"/>
              </a:spcAft>
            </a:pPr>
            <a:r>
              <a:rPr sz="1450" b="1">
                <a:solidFill>
                  <a:srgbClr val="111828"/>
                </a:solidFill>
                <a:latin typeface="Calibri"/>
              </a:rPr>
              <a:t>Revenue driver</a:t>
            </a:r>
          </a:p>
          <a:p>
            <a:pPr algn="l">
              <a:lnSpc>
                <a:spcPct val="112000"/>
              </a:lnSpc>
              <a:spcAft>
                <a:spcPts val="600"/>
              </a:spcAft>
            </a:pPr>
            <a:r>
              <a:rPr sz="1200" b="0">
                <a:solidFill>
                  <a:srgbClr val="3A3F4A"/>
                </a:solidFill>
                <a:latin typeface="Calibri"/>
              </a:rPr>
              <a:t>Completed jobs x commission per job. Grows with provider liquidity &amp; repeat rate.</a:t>
            </a:r>
          </a:p>
        </p:txBody>
      </p:sp>
      <p:sp>
        <p:nvSpPr>
          <p:cNvPr id="11" name="Rectangle 10"/>
          <p:cNvSpPr/>
          <p:nvPr/>
        </p:nvSpPr>
        <p:spPr>
          <a:xfrm>
            <a:off x="4389120" y="2468880"/>
            <a:ext cx="3474720" cy="14630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46888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697480"/>
            <a:ext cx="3017520" cy="1188720"/>
          </a:xfrm>
          <a:prstGeom prst="rect">
            <a:avLst/>
          </a:prstGeom>
          <a:noFill/>
        </p:spPr>
        <p:txBody>
          <a:bodyPr wrap="square" anchor="t">
            <a:spAutoFit/>
          </a:bodyPr>
          <a:lstStyle/>
          <a:p>
            <a:pPr algn="l">
              <a:lnSpc>
                <a:spcPct val="112000"/>
              </a:lnSpc>
              <a:spcAft>
                <a:spcPts val="600"/>
              </a:spcAft>
            </a:pPr>
            <a:r>
              <a:rPr sz="1450" b="1">
                <a:solidFill>
                  <a:srgbClr val="111828"/>
                </a:solidFill>
                <a:latin typeface="Calibri"/>
              </a:rPr>
              <a:t>Gross margin</a:t>
            </a:r>
          </a:p>
          <a:p>
            <a:pPr algn="l">
              <a:lnSpc>
                <a:spcPct val="112000"/>
              </a:lnSpc>
              <a:spcAft>
                <a:spcPts val="600"/>
              </a:spcAft>
            </a:pPr>
            <a:r>
              <a:rPr sz="1200" b="0">
                <a:solidFill>
                  <a:srgbClr val="3A3F4A"/>
                </a:solidFill>
                <a:latin typeface="Calibri"/>
              </a:rPr>
              <a:t>Software margins , minimal cost per transaction once a city reaches density.</a:t>
            </a:r>
          </a:p>
        </p:txBody>
      </p:sp>
      <p:sp>
        <p:nvSpPr>
          <p:cNvPr id="14" name="Rectangle 13"/>
          <p:cNvSpPr/>
          <p:nvPr/>
        </p:nvSpPr>
        <p:spPr>
          <a:xfrm>
            <a:off x="8046720" y="2468880"/>
            <a:ext cx="3474720" cy="14630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46888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697480"/>
            <a:ext cx="3017520" cy="1188720"/>
          </a:xfrm>
          <a:prstGeom prst="rect">
            <a:avLst/>
          </a:prstGeom>
          <a:noFill/>
        </p:spPr>
        <p:txBody>
          <a:bodyPr wrap="square" anchor="t">
            <a:spAutoFit/>
          </a:bodyPr>
          <a:lstStyle/>
          <a:p>
            <a:pPr algn="l">
              <a:lnSpc>
                <a:spcPct val="112000"/>
              </a:lnSpc>
              <a:spcAft>
                <a:spcPts val="600"/>
              </a:spcAft>
            </a:pPr>
            <a:r>
              <a:rPr sz="1450" b="1">
                <a:solidFill>
                  <a:srgbClr val="111828"/>
                </a:solidFill>
                <a:latin typeface="Calibri"/>
              </a:rPr>
              <a:t>Burn</a:t>
            </a:r>
          </a:p>
          <a:p>
            <a:pPr algn="l">
              <a:lnSpc>
                <a:spcPct val="112000"/>
              </a:lnSpc>
              <a:spcAft>
                <a:spcPts val="600"/>
              </a:spcAft>
            </a:pPr>
            <a:r>
              <a:rPr sz="1200" b="0">
                <a:solidFill>
                  <a:srgbClr val="3A3F4A"/>
                </a:solidFill>
                <a:latin typeface="Calibri"/>
              </a:rPr>
              <a:t>Lean: cloud + APIs + acquisition. No inventory, no fleet, no salaries beyond core team.</a:t>
            </a:r>
          </a:p>
        </p:txBody>
      </p:sp>
      <p:sp>
        <p:nvSpPr>
          <p:cNvPr id="17" name="TextBox 16"/>
          <p:cNvSpPr txBox="1"/>
          <p:nvPr/>
        </p:nvSpPr>
        <p:spPr>
          <a:xfrm>
            <a:off x="731520" y="4069080"/>
            <a:ext cx="10515600" cy="365760"/>
          </a:xfrm>
          <a:prstGeom prst="rect">
            <a:avLst/>
          </a:prstGeom>
          <a:noFill/>
        </p:spPr>
        <p:txBody>
          <a:bodyPr wrap="square" anchor="t">
            <a:spAutoFit/>
          </a:bodyPr>
          <a:lstStyle/>
          <a:p>
            <a:pPr algn="l">
              <a:lnSpc>
                <a:spcPct val="105000"/>
              </a:lnSpc>
              <a:spcAft>
                <a:spcPts val="600"/>
              </a:spcAft>
            </a:pPr>
            <a:r>
              <a:rPr sz="1300" b="1">
                <a:solidFill>
                  <a:srgbClr val="111828"/>
                </a:solidFill>
                <a:latin typeface="Calibri"/>
              </a:rPr>
              <a:t>Illustrative 3-year revenue trajectory:</a:t>
            </a:r>
          </a:p>
        </p:txBody>
      </p:sp>
      <p:graphicFrame>
        <p:nvGraphicFramePr>
          <p:cNvPr id="18" name="Table 17"/>
          <p:cNvGraphicFramePr>
            <a:graphicFrameLocks noGrp="1"/>
          </p:cNvGraphicFramePr>
          <p:nvPr/>
        </p:nvGraphicFramePr>
        <p:xfrm>
          <a:off x="731520" y="4434840"/>
          <a:ext cx="10698476" cy="1463040"/>
        </p:xfrm>
        <a:graphic>
          <a:graphicData uri="http://schemas.openxmlformats.org/drawingml/2006/table">
            <a:tbl>
              <a:tblPr firstRow="1" bandRow="1">
                <a:tableStyleId>{5C22544A-7EE6-4342-B048-85BDC9FD1C3A}</a:tableStyleId>
              </a:tblPr>
              <a:tblGrid>
                <a:gridCol w="2743200"/>
                <a:gridCol w="1988819"/>
                <a:gridCol w="1988819"/>
                <a:gridCol w="1988819"/>
                <a:gridCol w="1988819"/>
              </a:tblGrid>
              <a:tr h="365760">
                <a:tc>
                  <a:txBody>
                    <a:bodyPr/>
                    <a:lstStyle/>
                    <a:p>
                      <a:pPr algn="ctr"/>
                      <a:r>
                        <a:rPr sz="1050" b="1">
                          <a:solidFill>
                            <a:srgbClr val="FFFFFF"/>
                          </a:solidFill>
                          <a:latin typeface="Calibri"/>
                        </a:rPr>
                        <a:t/>
                      </a:r>
                    </a:p>
                  </a:txBody>
                  <a:tcPr>
                    <a:solidFill>
                      <a:srgbClr val="111828"/>
                    </a:solidFill>
                  </a:tcPr>
                </a:tc>
                <a:tc>
                  <a:txBody>
                    <a:bodyPr/>
                    <a:lstStyle/>
                    <a:p>
                      <a:pPr algn="ctr"/>
                      <a:r>
                        <a:rPr sz="1050" b="1">
                          <a:solidFill>
                            <a:srgbClr val="FFFFFF"/>
                          </a:solidFill>
                          <a:latin typeface="Calibri"/>
                        </a:rPr>
                        <a:t>Year 1 (Pilot)</a:t>
                      </a:r>
                    </a:p>
                  </a:txBody>
                  <a:tcPr>
                    <a:solidFill>
                      <a:srgbClr val="111828"/>
                    </a:solidFill>
                  </a:tcPr>
                </a:tc>
                <a:tc>
                  <a:txBody>
                    <a:bodyPr/>
                    <a:lstStyle/>
                    <a:p>
                      <a:pPr algn="ctr"/>
                      <a:r>
                        <a:rPr sz="1050" b="1">
                          <a:solidFill>
                            <a:srgbClr val="FFFFFF"/>
                          </a:solidFill>
                          <a:latin typeface="Calibri"/>
                        </a:rPr>
                        <a:t>Year 2 (Karachi)</a:t>
                      </a:r>
                    </a:p>
                  </a:txBody>
                  <a:tcPr>
                    <a:solidFill>
                      <a:srgbClr val="111828"/>
                    </a:solidFill>
                  </a:tcPr>
                </a:tc>
                <a:tc>
                  <a:txBody>
                    <a:bodyPr/>
                    <a:lstStyle/>
                    <a:p>
                      <a:pPr algn="ctr"/>
                      <a:r>
                        <a:rPr sz="1050" b="1">
                          <a:solidFill>
                            <a:srgbClr val="FFFFFF"/>
                          </a:solidFill>
                          <a:latin typeface="Calibri"/>
                        </a:rPr>
                        <a:t>Year 3 (Multi-city)</a:t>
                      </a:r>
                    </a:p>
                  </a:txBody>
                  <a:tcPr>
                    <a:solidFill>
                      <a:srgbClr val="111828"/>
                    </a:solidFill>
                  </a:tcPr>
                </a:tc>
                <a:tc>
                  <a:txBody>
                    <a:bodyPr/>
                    <a:lstStyle/>
                    <a:p>
                      <a:pPr algn="ctr"/>
                      <a:r>
                        <a:rPr sz="1050" b="1">
                          <a:solidFill>
                            <a:srgbClr val="FFFFFF"/>
                          </a:solidFill>
                          <a:latin typeface="Calibri"/>
                        </a:rPr>
                        <a:t>Notes</a:t>
                      </a:r>
                    </a:p>
                  </a:txBody>
                  <a:tcPr>
                    <a:solidFill>
                      <a:srgbClr val="111828"/>
                    </a:solidFill>
                  </a:tcPr>
                </a:tc>
              </a:tr>
              <a:tr h="365760">
                <a:tc>
                  <a:txBody>
                    <a:bodyPr/>
                    <a:lstStyle/>
                    <a:p>
                      <a:pPr algn="l"/>
                      <a:r>
                        <a:rPr sz="1050" b="1">
                          <a:solidFill>
                            <a:srgbClr val="111828"/>
                          </a:solidFill>
                          <a:latin typeface="Calibri"/>
                        </a:rPr>
                        <a:t>Active providers</a:t>
                      </a:r>
                    </a:p>
                  </a:txBody>
                  <a:tcPr>
                    <a:solidFill>
                      <a:srgbClr val="FCEEE2"/>
                    </a:solidFill>
                  </a:tcPr>
                </a:tc>
                <a:tc>
                  <a:txBody>
                    <a:bodyPr/>
                    <a:lstStyle/>
                    <a:p>
                      <a:pPr algn="ctr"/>
                      <a:r>
                        <a:rPr sz="1050" b="0">
                          <a:solidFill>
                            <a:srgbClr val="DB4B0D"/>
                          </a:solidFill>
                          <a:latin typeface="Calibri"/>
                        </a:rPr>
                        <a:t>40</a:t>
                      </a:r>
                    </a:p>
                  </a:txBody>
                  <a:tcPr>
                    <a:solidFill>
                      <a:srgbClr val="FCEEE2"/>
                    </a:solidFill>
                  </a:tcPr>
                </a:tc>
                <a:tc>
                  <a:txBody>
                    <a:bodyPr/>
                    <a:lstStyle/>
                    <a:p>
                      <a:pPr algn="ctr"/>
                      <a:r>
                        <a:rPr sz="1050" b="0">
                          <a:solidFill>
                            <a:srgbClr val="DB4B0D"/>
                          </a:solidFill>
                          <a:latin typeface="Calibri"/>
                        </a:rPr>
                        <a:t>120</a:t>
                      </a:r>
                    </a:p>
                  </a:txBody>
                  <a:tcPr>
                    <a:solidFill>
                      <a:srgbClr val="FCEEE2"/>
                    </a:solidFill>
                  </a:tcPr>
                </a:tc>
                <a:tc>
                  <a:txBody>
                    <a:bodyPr/>
                    <a:lstStyle/>
                    <a:p>
                      <a:pPr algn="ctr"/>
                      <a:r>
                        <a:rPr sz="1050" b="0">
                          <a:solidFill>
                            <a:srgbClr val="DB4B0D"/>
                          </a:solidFill>
                          <a:latin typeface="Calibri"/>
                        </a:rPr>
                        <a:t>175+</a:t>
                      </a:r>
                    </a:p>
                  </a:txBody>
                  <a:tcPr>
                    <a:solidFill>
                      <a:srgbClr val="FCEEE2"/>
                    </a:solidFill>
                  </a:tcPr>
                </a:tc>
                <a:tc>
                  <a:txBody>
                    <a:bodyPr/>
                    <a:lstStyle/>
                    <a:p>
                      <a:pPr algn="ctr"/>
                      <a:r>
                        <a:rPr sz="1050" b="0">
                          <a:solidFill>
                            <a:srgbClr val="DB4B0D"/>
                          </a:solidFill>
                          <a:latin typeface="Calibri"/>
                        </a:rPr>
                        <a:t>Karachi mature + Lahore entry</a:t>
                      </a:r>
                    </a:p>
                  </a:txBody>
                  <a:tcPr>
                    <a:solidFill>
                      <a:srgbClr val="FCEEE2"/>
                    </a:solidFill>
                  </a:tcPr>
                </a:tc>
              </a:tr>
              <a:tr h="365760">
                <a:tc>
                  <a:txBody>
                    <a:bodyPr/>
                    <a:lstStyle/>
                    <a:p>
                      <a:pPr algn="l"/>
                      <a:r>
                        <a:rPr sz="1050" b="1">
                          <a:solidFill>
                            <a:srgbClr val="111828"/>
                          </a:solidFill>
                          <a:latin typeface="Calibri"/>
                        </a:rPr>
                        <a:t>Monthly jobs</a:t>
                      </a:r>
                    </a:p>
                  </a:txBody>
                  <a:tcPr>
                    <a:solidFill>
                      <a:srgbClr val="FFFFFF"/>
                    </a:solidFill>
                  </a:tcPr>
                </a:tc>
                <a:tc>
                  <a:txBody>
                    <a:bodyPr/>
                    <a:lstStyle/>
                    <a:p>
                      <a:pPr algn="ctr"/>
                      <a:r>
                        <a:rPr sz="1050" b="0">
                          <a:solidFill>
                            <a:srgbClr val="DB4B0D"/>
                          </a:solidFill>
                          <a:latin typeface="Calibri"/>
                        </a:rPr>
                        <a:t>480</a:t>
                      </a:r>
                    </a:p>
                  </a:txBody>
                  <a:tcPr>
                    <a:solidFill>
                      <a:srgbClr val="FFFFFF"/>
                    </a:solidFill>
                  </a:tcPr>
                </a:tc>
                <a:tc>
                  <a:txBody>
                    <a:bodyPr/>
                    <a:lstStyle/>
                    <a:p>
                      <a:pPr algn="ctr"/>
                      <a:r>
                        <a:rPr sz="1050" b="0">
                          <a:solidFill>
                            <a:srgbClr val="DB4B0D"/>
                          </a:solidFill>
                          <a:latin typeface="Calibri"/>
                        </a:rPr>
                        <a:t>1,920</a:t>
                      </a:r>
                    </a:p>
                  </a:txBody>
                  <a:tcPr>
                    <a:solidFill>
                      <a:srgbClr val="FFFFFF"/>
                    </a:solidFill>
                  </a:tcPr>
                </a:tc>
                <a:tc>
                  <a:txBody>
                    <a:bodyPr/>
                    <a:lstStyle/>
                    <a:p>
                      <a:pPr algn="ctr"/>
                      <a:r>
                        <a:rPr sz="1050" b="0">
                          <a:solidFill>
                            <a:srgbClr val="DB4B0D"/>
                          </a:solidFill>
                          <a:latin typeface="Calibri"/>
                        </a:rPr>
                        <a:t>4,375</a:t>
                      </a:r>
                    </a:p>
                  </a:txBody>
                  <a:tcPr>
                    <a:solidFill>
                      <a:srgbClr val="FFFFFF"/>
                    </a:solidFill>
                  </a:tcPr>
                </a:tc>
                <a:tc>
                  <a:txBody>
                    <a:bodyPr/>
                    <a:lstStyle/>
                    <a:p>
                      <a:pPr algn="ctr"/>
                      <a:r>
                        <a:rPr sz="1050" b="0">
                          <a:solidFill>
                            <a:srgbClr val="DB4B0D"/>
                          </a:solidFill>
                          <a:latin typeface="Calibri"/>
                        </a:rPr>
                        <a:t>Providers x jobs/mo</a:t>
                      </a:r>
                    </a:p>
                  </a:txBody>
                  <a:tcPr>
                    <a:solidFill>
                      <a:srgbClr val="FFFFFF"/>
                    </a:solidFill>
                  </a:tcPr>
                </a:tc>
              </a:tr>
              <a:tr h="365760">
                <a:tc>
                  <a:txBody>
                    <a:bodyPr/>
                    <a:lstStyle/>
                    <a:p>
                      <a:pPr algn="l"/>
                      <a:r>
                        <a:rPr sz="1050" b="1">
                          <a:solidFill>
                            <a:srgbClr val="111828"/>
                          </a:solidFill>
                          <a:latin typeface="Calibri"/>
                        </a:rPr>
                        <a:t>Annual revenue (PKR)</a:t>
                      </a:r>
                    </a:p>
                  </a:txBody>
                  <a:tcPr>
                    <a:solidFill>
                      <a:srgbClr val="FCEEE2"/>
                    </a:solidFill>
                  </a:tcPr>
                </a:tc>
                <a:tc>
                  <a:txBody>
                    <a:bodyPr/>
                    <a:lstStyle/>
                    <a:p>
                      <a:pPr algn="ctr"/>
                      <a:r>
                        <a:rPr sz="1050" b="0">
                          <a:solidFill>
                            <a:srgbClr val="DB4B0D"/>
                          </a:solidFill>
                          <a:latin typeface="Calibri"/>
                        </a:rPr>
                        <a:t>~1.4M</a:t>
                      </a:r>
                    </a:p>
                  </a:txBody>
                  <a:tcPr>
                    <a:solidFill>
                      <a:srgbClr val="FCEEE2"/>
                    </a:solidFill>
                  </a:tcPr>
                </a:tc>
                <a:tc>
                  <a:txBody>
                    <a:bodyPr/>
                    <a:lstStyle/>
                    <a:p>
                      <a:pPr algn="ctr"/>
                      <a:r>
                        <a:rPr sz="1050" b="0">
                          <a:solidFill>
                            <a:srgbClr val="DB4B0D"/>
                          </a:solidFill>
                          <a:latin typeface="Calibri"/>
                        </a:rPr>
                        <a:t>~8M</a:t>
                      </a:r>
                    </a:p>
                  </a:txBody>
                  <a:tcPr>
                    <a:solidFill>
                      <a:srgbClr val="FCEEE2"/>
                    </a:solidFill>
                  </a:tcPr>
                </a:tc>
                <a:tc>
                  <a:txBody>
                    <a:bodyPr/>
                    <a:lstStyle/>
                    <a:p>
                      <a:pPr algn="ctr"/>
                      <a:r>
                        <a:rPr sz="1050" b="0">
                          <a:solidFill>
                            <a:srgbClr val="DB4B0D"/>
                          </a:solidFill>
                          <a:latin typeface="Calibri"/>
                        </a:rPr>
                        <a:t>~25M</a:t>
                      </a:r>
                    </a:p>
                  </a:txBody>
                  <a:tcPr>
                    <a:solidFill>
                      <a:srgbClr val="FCEEE2"/>
                    </a:solidFill>
                  </a:tcPr>
                </a:tc>
                <a:tc>
                  <a:txBody>
                    <a:bodyPr/>
                    <a:lstStyle/>
                    <a:p>
                      <a:pPr algn="ctr"/>
                      <a:r>
                        <a:rPr sz="1050" b="0">
                          <a:solidFill>
                            <a:srgbClr val="DB4B0D"/>
                          </a:solidFill>
                          <a:latin typeface="Calibri"/>
                        </a:rPr>
                        <a:t>Commission-based, bottom-up</a:t>
                      </a:r>
                    </a:p>
                  </a:txBody>
                  <a:tcPr>
                    <a:solidFill>
                      <a:srgbClr val="FCEEE2"/>
                    </a:solidFill>
                  </a:tcPr>
                </a:tc>
              </a:tr>
            </a:tbl>
          </a:graphicData>
        </a:graphic>
      </p:graphicFrame>
      <p:sp>
        <p:nvSpPr>
          <p:cNvPr id="19" name="TextBox 18"/>
          <p:cNvSpPr txBox="1"/>
          <p:nvPr/>
        </p:nvSpPr>
        <p:spPr>
          <a:xfrm>
            <a:off x="731520" y="5989320"/>
            <a:ext cx="10698480" cy="365760"/>
          </a:xfrm>
          <a:prstGeom prst="rect">
            <a:avLst/>
          </a:prstGeom>
          <a:noFill/>
        </p:spPr>
        <p:txBody>
          <a:bodyPr wrap="square" anchor="t">
            <a:spAutoFit/>
          </a:bodyPr>
          <a:lstStyle/>
          <a:p>
            <a:pPr algn="l">
              <a:lnSpc>
                <a:spcPct val="105000"/>
              </a:lnSpc>
              <a:spcAft>
                <a:spcPts val="600"/>
              </a:spcAft>
            </a:pPr>
            <a:r>
              <a:rPr sz="1000" b="1">
                <a:solidFill>
                  <a:srgbClr val="6B707A"/>
                </a:solidFill>
                <a:latin typeface="Calibri"/>
              </a:rPr>
              <a:t>Unit economics: avg job ~PKR 600 → revenue/job = PKR 72 → break-even ~280 jobs/mo.  Pre-revenue , joining NIC to build professional financial models.</a:t>
            </a:r>
          </a:p>
        </p:txBody>
      </p:sp>
      <p:sp>
        <p:nvSpPr>
          <p:cNvPr id="20" name="TextBox 19"/>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11. KEY METRICS &amp; PROJECTIONS</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Bottom-up economics (from pilot launch)</a:t>
            </a:r>
          </a:p>
        </p:txBody>
      </p:sp>
      <p:sp>
        <p:nvSpPr>
          <p:cNvPr id="7" name="TextBox 6"/>
          <p:cNvSpPr txBox="1"/>
          <p:nvPr/>
        </p:nvSpPr>
        <p:spPr>
          <a:xfrm>
            <a:off x="731520" y="1737360"/>
            <a:ext cx="10607040" cy="548640"/>
          </a:xfrm>
          <a:prstGeom prst="rect">
            <a:avLst/>
          </a:prstGeom>
          <a:noFill/>
        </p:spPr>
        <p:txBody>
          <a:bodyPr wrap="square" anchor="t">
            <a:spAutoFit/>
          </a:bodyPr>
          <a:lstStyle/>
          <a:p>
            <a:pPr algn="l">
              <a:lnSpc>
                <a:spcPct val="105000"/>
              </a:lnSpc>
              <a:spcAft>
                <a:spcPts val="600"/>
              </a:spcAft>
            </a:pPr>
            <a:r>
              <a:rPr sz="1350" b="1">
                <a:solidFill>
                  <a:srgbClr val="DB4B0D"/>
                </a:solidFill>
                <a:latin typeface="Calibri"/>
              </a:rPr>
              <a:t>Bottom-up plan (illustrative, from pilot launch) , built from active providers x jobs x Rs. 72 commission/job.</a:t>
            </a:r>
          </a:p>
        </p:txBody>
      </p:sp>
      <p:graphicFrame>
        <p:nvGraphicFramePr>
          <p:cNvPr id="8" name="Table 7"/>
          <p:cNvGraphicFramePr>
            <a:graphicFrameLocks noGrp="1"/>
          </p:cNvGraphicFramePr>
          <p:nvPr/>
        </p:nvGraphicFramePr>
        <p:xfrm>
          <a:off x="731520" y="2331720"/>
          <a:ext cx="10698480" cy="2743200"/>
        </p:xfrm>
        <a:graphic>
          <a:graphicData uri="http://schemas.openxmlformats.org/drawingml/2006/table">
            <a:tbl>
              <a:tblPr firstRow="1" bandRow="1">
                <a:tableStyleId>{5C22544A-7EE6-4342-B048-85BDC9FD1C3A}</a:tableStyleId>
              </a:tblPr>
              <a:tblGrid>
                <a:gridCol w="2834640"/>
                <a:gridCol w="1965960"/>
                <a:gridCol w="1965960"/>
                <a:gridCol w="1965960"/>
                <a:gridCol w="1965960"/>
              </a:tblGrid>
              <a:tr h="457200">
                <a:tc>
                  <a:txBody>
                    <a:bodyPr/>
                    <a:lstStyle/>
                    <a:p>
                      <a:pPr algn="ctr"/>
                      <a:r>
                        <a:rPr sz="1200" b="1">
                          <a:solidFill>
                            <a:srgbClr val="FFFFFF"/>
                          </a:solidFill>
                          <a:latin typeface="Calibri"/>
                        </a:rPr>
                        <a:t>Metric</a:t>
                      </a:r>
                    </a:p>
                  </a:txBody>
                  <a:tcPr>
                    <a:solidFill>
                      <a:srgbClr val="111828"/>
                    </a:solidFill>
                  </a:tcPr>
                </a:tc>
                <a:tc>
                  <a:txBody>
                    <a:bodyPr/>
                    <a:lstStyle/>
                    <a:p>
                      <a:pPr algn="ctr"/>
                      <a:r>
                        <a:rPr sz="1200" b="1">
                          <a:solidFill>
                            <a:srgbClr val="FFFFFF"/>
                          </a:solidFill>
                          <a:latin typeface="Calibri"/>
                        </a:rPr>
                        <a:t>Month 3</a:t>
                      </a:r>
                    </a:p>
                  </a:txBody>
                  <a:tcPr>
                    <a:solidFill>
                      <a:srgbClr val="111828"/>
                    </a:solidFill>
                  </a:tcPr>
                </a:tc>
                <a:tc>
                  <a:txBody>
                    <a:bodyPr/>
                    <a:lstStyle/>
                    <a:p>
                      <a:pPr algn="ctr"/>
                      <a:r>
                        <a:rPr sz="1200" b="1">
                          <a:solidFill>
                            <a:srgbClr val="FFFFFF"/>
                          </a:solidFill>
                          <a:latin typeface="Calibri"/>
                        </a:rPr>
                        <a:t>Month 6</a:t>
                      </a:r>
                    </a:p>
                  </a:txBody>
                  <a:tcPr>
                    <a:solidFill>
                      <a:srgbClr val="111828"/>
                    </a:solidFill>
                  </a:tcPr>
                </a:tc>
                <a:tc>
                  <a:txBody>
                    <a:bodyPr/>
                    <a:lstStyle/>
                    <a:p>
                      <a:pPr algn="ctr"/>
                      <a:r>
                        <a:rPr sz="1200" b="1">
                          <a:solidFill>
                            <a:srgbClr val="FFFFFF"/>
                          </a:solidFill>
                          <a:latin typeface="Calibri"/>
                        </a:rPr>
                        <a:t>Month 9</a:t>
                      </a:r>
                    </a:p>
                  </a:txBody>
                  <a:tcPr>
                    <a:solidFill>
                      <a:srgbClr val="111828"/>
                    </a:solidFill>
                  </a:tcPr>
                </a:tc>
                <a:tc>
                  <a:txBody>
                    <a:bodyPr/>
                    <a:lstStyle/>
                    <a:p>
                      <a:pPr algn="ctr"/>
                      <a:r>
                        <a:rPr sz="1200" b="1">
                          <a:solidFill>
                            <a:srgbClr val="FFFFFF"/>
                          </a:solidFill>
                          <a:latin typeface="Calibri"/>
                        </a:rPr>
                        <a:t>Month 12</a:t>
                      </a:r>
                    </a:p>
                  </a:txBody>
                  <a:tcPr>
                    <a:solidFill>
                      <a:srgbClr val="111828"/>
                    </a:solidFill>
                  </a:tcPr>
                </a:tc>
              </a:tr>
              <a:tr h="457200">
                <a:tc>
                  <a:txBody>
                    <a:bodyPr/>
                    <a:lstStyle/>
                    <a:p>
                      <a:pPr algn="l"/>
                      <a:r>
                        <a:rPr sz="1200" b="1">
                          <a:solidFill>
                            <a:srgbClr val="111828"/>
                          </a:solidFill>
                          <a:latin typeface="Calibri"/>
                        </a:rPr>
                        <a:t>Active providers</a:t>
                      </a:r>
                    </a:p>
                  </a:txBody>
                  <a:tcPr>
                    <a:solidFill>
                      <a:srgbClr val="FFFFFF"/>
                    </a:solidFill>
                  </a:tcPr>
                </a:tc>
                <a:tc>
                  <a:txBody>
                    <a:bodyPr/>
                    <a:lstStyle/>
                    <a:p>
                      <a:pPr algn="ctr"/>
                      <a:r>
                        <a:rPr sz="1200" b="0">
                          <a:solidFill>
                            <a:srgbClr val="DB4B0D"/>
                          </a:solidFill>
                          <a:latin typeface="Calibri"/>
                        </a:rPr>
                        <a:t>40</a:t>
                      </a:r>
                    </a:p>
                  </a:txBody>
                  <a:tcPr>
                    <a:solidFill>
                      <a:srgbClr val="FCEEE2"/>
                    </a:solidFill>
                  </a:tcPr>
                </a:tc>
                <a:tc>
                  <a:txBody>
                    <a:bodyPr/>
                    <a:lstStyle/>
                    <a:p>
                      <a:pPr algn="ctr"/>
                      <a:r>
                        <a:rPr sz="1200" b="0">
                          <a:solidFill>
                            <a:srgbClr val="DB4B0D"/>
                          </a:solidFill>
                          <a:latin typeface="Calibri"/>
                        </a:rPr>
                        <a:t>75</a:t>
                      </a:r>
                    </a:p>
                  </a:txBody>
                  <a:tcPr>
                    <a:solidFill>
                      <a:srgbClr val="FCEEE2"/>
                    </a:solidFill>
                  </a:tcPr>
                </a:tc>
                <a:tc>
                  <a:txBody>
                    <a:bodyPr/>
                    <a:lstStyle/>
                    <a:p>
                      <a:pPr algn="ctr"/>
                      <a:r>
                        <a:rPr sz="1200" b="0">
                          <a:solidFill>
                            <a:srgbClr val="DB4B0D"/>
                          </a:solidFill>
                          <a:latin typeface="Calibri"/>
                        </a:rPr>
                        <a:t>120</a:t>
                      </a:r>
                    </a:p>
                  </a:txBody>
                  <a:tcPr>
                    <a:solidFill>
                      <a:srgbClr val="FCEEE2"/>
                    </a:solidFill>
                  </a:tcPr>
                </a:tc>
                <a:tc>
                  <a:txBody>
                    <a:bodyPr/>
                    <a:lstStyle/>
                    <a:p>
                      <a:pPr algn="ctr"/>
                      <a:r>
                        <a:rPr sz="1200" b="0">
                          <a:solidFill>
                            <a:srgbClr val="DB4B0D"/>
                          </a:solidFill>
                          <a:latin typeface="Calibri"/>
                        </a:rPr>
                        <a:t>175</a:t>
                      </a:r>
                    </a:p>
                  </a:txBody>
                  <a:tcPr>
                    <a:solidFill>
                      <a:srgbClr val="FCEEE2"/>
                    </a:solidFill>
                  </a:tcPr>
                </a:tc>
              </a:tr>
              <a:tr h="457200">
                <a:tc>
                  <a:txBody>
                    <a:bodyPr/>
                    <a:lstStyle/>
                    <a:p>
                      <a:pPr algn="l"/>
                      <a:r>
                        <a:rPr sz="1200" b="1">
                          <a:solidFill>
                            <a:srgbClr val="111828"/>
                          </a:solidFill>
                          <a:latin typeface="Calibri"/>
                        </a:rPr>
                        <a:t>Jobs / month</a:t>
                      </a:r>
                    </a:p>
                  </a:txBody>
                  <a:tcPr>
                    <a:solidFill>
                      <a:srgbClr val="FFFFFF"/>
                    </a:solidFill>
                  </a:tcPr>
                </a:tc>
                <a:tc>
                  <a:txBody>
                    <a:bodyPr/>
                    <a:lstStyle/>
                    <a:p>
                      <a:pPr algn="ctr"/>
                      <a:r>
                        <a:rPr sz="1200" b="0">
                          <a:solidFill>
                            <a:srgbClr val="DB4B0D"/>
                          </a:solidFill>
                          <a:latin typeface="Calibri"/>
                        </a:rPr>
                        <a:t>480</a:t>
                      </a:r>
                    </a:p>
                  </a:txBody>
                  <a:tcPr>
                    <a:solidFill>
                      <a:srgbClr val="FFFFFF"/>
                    </a:solidFill>
                  </a:tcPr>
                </a:tc>
                <a:tc>
                  <a:txBody>
                    <a:bodyPr/>
                    <a:lstStyle/>
                    <a:p>
                      <a:pPr algn="ctr"/>
                      <a:r>
                        <a:rPr sz="1200" b="0">
                          <a:solidFill>
                            <a:srgbClr val="DB4B0D"/>
                          </a:solidFill>
                          <a:latin typeface="Calibri"/>
                        </a:rPr>
                        <a:t>1,050</a:t>
                      </a:r>
                    </a:p>
                  </a:txBody>
                  <a:tcPr>
                    <a:solidFill>
                      <a:srgbClr val="FFFFFF"/>
                    </a:solidFill>
                  </a:tcPr>
                </a:tc>
                <a:tc>
                  <a:txBody>
                    <a:bodyPr/>
                    <a:lstStyle/>
                    <a:p>
                      <a:pPr algn="ctr"/>
                      <a:r>
                        <a:rPr sz="1200" b="0">
                          <a:solidFill>
                            <a:srgbClr val="DB4B0D"/>
                          </a:solidFill>
                          <a:latin typeface="Calibri"/>
                        </a:rPr>
                        <a:t>1,920</a:t>
                      </a:r>
                    </a:p>
                  </a:txBody>
                  <a:tcPr>
                    <a:solidFill>
                      <a:srgbClr val="FFFFFF"/>
                    </a:solidFill>
                  </a:tcPr>
                </a:tc>
                <a:tc>
                  <a:txBody>
                    <a:bodyPr/>
                    <a:lstStyle/>
                    <a:p>
                      <a:pPr algn="ctr"/>
                      <a:r>
                        <a:rPr sz="1200" b="0">
                          <a:solidFill>
                            <a:srgbClr val="DB4B0D"/>
                          </a:solidFill>
                          <a:latin typeface="Calibri"/>
                        </a:rPr>
                        <a:t>3,150</a:t>
                      </a:r>
                    </a:p>
                  </a:txBody>
                  <a:tcPr>
                    <a:solidFill>
                      <a:srgbClr val="FFFFFF"/>
                    </a:solidFill>
                  </a:tcPr>
                </a:tc>
              </a:tr>
              <a:tr h="457200">
                <a:tc>
                  <a:txBody>
                    <a:bodyPr/>
                    <a:lstStyle/>
                    <a:p>
                      <a:pPr algn="l"/>
                      <a:r>
                        <a:rPr sz="1200" b="1">
                          <a:solidFill>
                            <a:srgbClr val="111828"/>
                          </a:solidFill>
                          <a:latin typeface="Calibri"/>
                        </a:rPr>
                        <a:t>Commission / job</a:t>
                      </a:r>
                    </a:p>
                  </a:txBody>
                  <a:tcPr>
                    <a:solidFill>
                      <a:srgbClr val="FFFFFF"/>
                    </a:solidFill>
                  </a:tcPr>
                </a:tc>
                <a:tc>
                  <a:txBody>
                    <a:bodyPr/>
                    <a:lstStyle/>
                    <a:p>
                      <a:pPr algn="ctr"/>
                      <a:r>
                        <a:rPr sz="1200" b="0">
                          <a:solidFill>
                            <a:srgbClr val="DB4B0D"/>
                          </a:solidFill>
                          <a:latin typeface="Calibri"/>
                        </a:rPr>
                        <a:t>Rs. 72</a:t>
                      </a:r>
                    </a:p>
                  </a:txBody>
                  <a:tcPr>
                    <a:solidFill>
                      <a:srgbClr val="FCEEE2"/>
                    </a:solidFill>
                  </a:tcPr>
                </a:tc>
                <a:tc>
                  <a:txBody>
                    <a:bodyPr/>
                    <a:lstStyle/>
                    <a:p>
                      <a:pPr algn="ctr"/>
                      <a:r>
                        <a:rPr sz="1200" b="0">
                          <a:solidFill>
                            <a:srgbClr val="DB4B0D"/>
                          </a:solidFill>
                          <a:latin typeface="Calibri"/>
                        </a:rPr>
                        <a:t>Rs. 72</a:t>
                      </a:r>
                    </a:p>
                  </a:txBody>
                  <a:tcPr>
                    <a:solidFill>
                      <a:srgbClr val="FCEEE2"/>
                    </a:solidFill>
                  </a:tcPr>
                </a:tc>
                <a:tc>
                  <a:txBody>
                    <a:bodyPr/>
                    <a:lstStyle/>
                    <a:p>
                      <a:pPr algn="ctr"/>
                      <a:r>
                        <a:rPr sz="1200" b="0">
                          <a:solidFill>
                            <a:srgbClr val="DB4B0D"/>
                          </a:solidFill>
                          <a:latin typeface="Calibri"/>
                        </a:rPr>
                        <a:t>Rs. 72</a:t>
                      </a:r>
                    </a:p>
                  </a:txBody>
                  <a:tcPr>
                    <a:solidFill>
                      <a:srgbClr val="FCEEE2"/>
                    </a:solidFill>
                  </a:tcPr>
                </a:tc>
                <a:tc>
                  <a:txBody>
                    <a:bodyPr/>
                    <a:lstStyle/>
                    <a:p>
                      <a:pPr algn="ctr"/>
                      <a:r>
                        <a:rPr sz="1200" b="0">
                          <a:solidFill>
                            <a:srgbClr val="DB4B0D"/>
                          </a:solidFill>
                          <a:latin typeface="Calibri"/>
                        </a:rPr>
                        <a:t>Rs. 72</a:t>
                      </a:r>
                    </a:p>
                  </a:txBody>
                  <a:tcPr>
                    <a:solidFill>
                      <a:srgbClr val="FCEEE2"/>
                    </a:solidFill>
                  </a:tcPr>
                </a:tc>
              </a:tr>
              <a:tr h="457200">
                <a:tc>
                  <a:txBody>
                    <a:bodyPr/>
                    <a:lstStyle/>
                    <a:p>
                      <a:pPr algn="l"/>
                      <a:r>
                        <a:rPr sz="1200" b="1">
                          <a:solidFill>
                            <a:srgbClr val="111828"/>
                          </a:solidFill>
                          <a:latin typeface="Calibri"/>
                        </a:rPr>
                        <a:t>Monthly revenue (PKR)</a:t>
                      </a:r>
                    </a:p>
                  </a:txBody>
                  <a:tcPr>
                    <a:solidFill>
                      <a:srgbClr val="FFFFFF"/>
                    </a:solidFill>
                  </a:tcPr>
                </a:tc>
                <a:tc>
                  <a:txBody>
                    <a:bodyPr/>
                    <a:lstStyle/>
                    <a:p>
                      <a:pPr algn="ctr"/>
                      <a:r>
                        <a:rPr sz="1200" b="0">
                          <a:solidFill>
                            <a:srgbClr val="DB4B0D"/>
                          </a:solidFill>
                          <a:latin typeface="Calibri"/>
                        </a:rPr>
                        <a:t>~35K</a:t>
                      </a:r>
                    </a:p>
                  </a:txBody>
                  <a:tcPr>
                    <a:solidFill>
                      <a:srgbClr val="FFFFFF"/>
                    </a:solidFill>
                  </a:tcPr>
                </a:tc>
                <a:tc>
                  <a:txBody>
                    <a:bodyPr/>
                    <a:lstStyle/>
                    <a:p>
                      <a:pPr algn="ctr"/>
                      <a:r>
                        <a:rPr sz="1200" b="0">
                          <a:solidFill>
                            <a:srgbClr val="DB4B0D"/>
                          </a:solidFill>
                          <a:latin typeface="Calibri"/>
                        </a:rPr>
                        <a:t>~76K</a:t>
                      </a:r>
                    </a:p>
                  </a:txBody>
                  <a:tcPr>
                    <a:solidFill>
                      <a:srgbClr val="FFFFFF"/>
                    </a:solidFill>
                  </a:tcPr>
                </a:tc>
                <a:tc>
                  <a:txBody>
                    <a:bodyPr/>
                    <a:lstStyle/>
                    <a:p>
                      <a:pPr algn="ctr"/>
                      <a:r>
                        <a:rPr sz="1200" b="0">
                          <a:solidFill>
                            <a:srgbClr val="DB4B0D"/>
                          </a:solidFill>
                          <a:latin typeface="Calibri"/>
                        </a:rPr>
                        <a:t>~138K</a:t>
                      </a:r>
                    </a:p>
                  </a:txBody>
                  <a:tcPr>
                    <a:solidFill>
                      <a:srgbClr val="FFFFFF"/>
                    </a:solidFill>
                  </a:tcPr>
                </a:tc>
                <a:tc>
                  <a:txBody>
                    <a:bodyPr/>
                    <a:lstStyle/>
                    <a:p>
                      <a:pPr algn="ctr"/>
                      <a:r>
                        <a:rPr sz="1200" b="0">
                          <a:solidFill>
                            <a:srgbClr val="DB4B0D"/>
                          </a:solidFill>
                          <a:latin typeface="Calibri"/>
                        </a:rPr>
                        <a:t>~227K</a:t>
                      </a:r>
                    </a:p>
                  </a:txBody>
                  <a:tcPr>
                    <a:solidFill>
                      <a:srgbClr val="FFFFFF"/>
                    </a:solidFill>
                  </a:tcPr>
                </a:tc>
              </a:tr>
              <a:tr h="457200">
                <a:tc>
                  <a:txBody>
                    <a:bodyPr/>
                    <a:lstStyle/>
                    <a:p>
                      <a:pPr algn="l"/>
                      <a:r>
                        <a:rPr sz="1200" b="1">
                          <a:solidFill>
                            <a:srgbClr val="111828"/>
                          </a:solidFill>
                          <a:latin typeface="Calibri"/>
                        </a:rPr>
                        <a:t>Customer CAC (PKR)</a:t>
                      </a:r>
                    </a:p>
                  </a:txBody>
                  <a:tcPr>
                    <a:solidFill>
                      <a:srgbClr val="FFFFFF"/>
                    </a:solidFill>
                  </a:tcPr>
                </a:tc>
                <a:tc>
                  <a:txBody>
                    <a:bodyPr/>
                    <a:lstStyle/>
                    <a:p>
                      <a:pPr algn="ctr"/>
                      <a:r>
                        <a:rPr sz="1200" b="0">
                          <a:solidFill>
                            <a:srgbClr val="DB4B0D"/>
                          </a:solidFill>
                          <a:latin typeface="Calibri"/>
                        </a:rPr>
                        <a:t>500</a:t>
                      </a:r>
                    </a:p>
                  </a:txBody>
                  <a:tcPr>
                    <a:solidFill>
                      <a:srgbClr val="FCEEE2"/>
                    </a:solidFill>
                  </a:tcPr>
                </a:tc>
                <a:tc>
                  <a:txBody>
                    <a:bodyPr/>
                    <a:lstStyle/>
                    <a:p>
                      <a:pPr algn="ctr"/>
                      <a:r>
                        <a:rPr sz="1200" b="0">
                          <a:solidFill>
                            <a:srgbClr val="DB4B0D"/>
                          </a:solidFill>
                          <a:latin typeface="Calibri"/>
                        </a:rPr>
                        <a:t>350</a:t>
                      </a:r>
                    </a:p>
                  </a:txBody>
                  <a:tcPr>
                    <a:solidFill>
                      <a:srgbClr val="FCEEE2"/>
                    </a:solidFill>
                  </a:tcPr>
                </a:tc>
                <a:tc>
                  <a:txBody>
                    <a:bodyPr/>
                    <a:lstStyle/>
                    <a:p>
                      <a:pPr algn="ctr"/>
                      <a:r>
                        <a:rPr sz="1200" b="0">
                          <a:solidFill>
                            <a:srgbClr val="DB4B0D"/>
                          </a:solidFill>
                          <a:latin typeface="Calibri"/>
                        </a:rPr>
                        <a:t>230</a:t>
                      </a:r>
                    </a:p>
                  </a:txBody>
                  <a:tcPr>
                    <a:solidFill>
                      <a:srgbClr val="FCEEE2"/>
                    </a:solidFill>
                  </a:tcPr>
                </a:tc>
                <a:tc>
                  <a:txBody>
                    <a:bodyPr/>
                    <a:lstStyle/>
                    <a:p>
                      <a:pPr algn="ctr"/>
                      <a:r>
                        <a:rPr sz="1200" b="0">
                          <a:solidFill>
                            <a:srgbClr val="DB4B0D"/>
                          </a:solidFill>
                          <a:latin typeface="Calibri"/>
                        </a:rPr>
                        <a:t>150</a:t>
                      </a:r>
                    </a:p>
                  </a:txBody>
                  <a:tcPr>
                    <a:solidFill>
                      <a:srgbClr val="FCEEE2"/>
                    </a:solidFill>
                  </a:tcPr>
                </a:tc>
              </a:tr>
            </a:tbl>
          </a:graphicData>
        </a:graphic>
      </p:graphicFrame>
      <p:sp>
        <p:nvSpPr>
          <p:cNvPr id="9" name="TextBox 8"/>
          <p:cNvSpPr txBox="1"/>
          <p:nvPr/>
        </p:nvSpPr>
        <p:spPr>
          <a:xfrm>
            <a:off x="731520" y="5212080"/>
            <a:ext cx="10698480" cy="1005840"/>
          </a:xfrm>
          <a:prstGeom prst="rect">
            <a:avLst/>
          </a:prstGeom>
          <a:noFill/>
        </p:spPr>
        <p:txBody>
          <a:bodyPr wrap="square" anchor="t">
            <a:spAutoFit/>
          </a:bodyPr>
          <a:lstStyle/>
          <a:p>
            <a:pPr algn="l">
              <a:lnSpc>
                <a:spcPct val="110000"/>
              </a:lnSpc>
              <a:spcAft>
                <a:spcPts val="400"/>
              </a:spcAft>
            </a:pPr>
            <a:r>
              <a:rPr sz="1150" b="1">
                <a:solidFill>
                  <a:srgbClr val="DB4B0D"/>
                </a:solidFill>
                <a:latin typeface="Calibri"/>
              </a:rPr>
              <a:t>LTV ~Rs. 1,300 </a:t>
            </a:r>
            <a:r>
              <a:rPr sz="1150" b="0">
                <a:solidFill>
                  <a:srgbClr val="3A3F4A"/>
                </a:solidFill>
                <a:latin typeface="Calibri"/>
              </a:rPr>
              <a:t>(est. 6 jobs/yr x Rs. 72 x ~3-yr retention, based on Urban Company disclosed repeat rates).    </a:t>
            </a:r>
            <a:r>
              <a:rPr sz="1150" b="1">
                <a:solidFill>
                  <a:srgbClr val="111828"/>
                </a:solidFill>
                <a:latin typeface="Calibri"/>
              </a:rPr>
              <a:t>Customer CAC: Rs. 500 → Rs. 150 </a:t>
            </a:r>
            <a:r>
              <a:rPr sz="1150" b="0">
                <a:solidFill>
                  <a:srgbClr val="3A3F4A"/>
                </a:solidFill>
                <a:latin typeface="Calibri"/>
              </a:rPr>
              <a:t>as referral loops compound.</a:t>
            </a:r>
          </a:p>
          <a:p>
            <a:pPr algn="l">
              <a:lnSpc>
                <a:spcPct val="110000"/>
              </a:lnSpc>
              <a:spcAft>
                <a:spcPts val="400"/>
              </a:spcAft>
            </a:pPr>
            <a:r>
              <a:rPr sz="1050" b="1">
                <a:solidFill>
                  <a:srgbClr val="6B707A"/>
                </a:solidFill>
                <a:latin typeface="Calibri"/>
              </a:rPr>
              <a:t>Provider acquisition (field agent + signups) budgeted separately. Y1 revenue ~Rs. 1.4M (illustrative bottom-up) , validated in pilot, refined with NIC.</a:t>
            </a:r>
          </a:p>
        </p:txBody>
      </p:sp>
      <p:sp>
        <p:nvSpPr>
          <p:cNvPr id="10" name="TextBox 9"/>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12. TECH STACK &amp; ROADMAP</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Engineered to scale</a:t>
            </a:r>
          </a:p>
        </p:txBody>
      </p:sp>
      <p:sp>
        <p:nvSpPr>
          <p:cNvPr id="7" name="Rectangle 6"/>
          <p:cNvSpPr/>
          <p:nvPr/>
        </p:nvSpPr>
        <p:spPr>
          <a:xfrm>
            <a:off x="731520" y="1828800"/>
            <a:ext cx="3474720" cy="23774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28800"/>
            <a:ext cx="3474720" cy="4572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47472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FRONTEND</a:t>
            </a:r>
          </a:p>
        </p:txBody>
      </p:sp>
      <p:sp>
        <p:nvSpPr>
          <p:cNvPr id="10" name="TextBox 9"/>
          <p:cNvSpPr txBox="1"/>
          <p:nvPr/>
        </p:nvSpPr>
        <p:spPr>
          <a:xfrm>
            <a:off x="914400" y="2423160"/>
            <a:ext cx="3200400" cy="1737360"/>
          </a:xfrm>
          <a:prstGeom prst="rect">
            <a:avLst/>
          </a:prstGeom>
          <a:noFill/>
        </p:spPr>
        <p:txBody>
          <a:bodyPr wrap="square">
            <a:spAutoFit/>
          </a:bodyPr>
          <a:lstStyle/>
          <a:p>
            <a:pPr>
              <a:lnSpc>
                <a:spcPct val="105000"/>
              </a:lnSpc>
              <a:spcAft>
                <a:spcPts val="1000"/>
              </a:spcAft>
            </a:pPr>
            <a:r>
              <a:rPr sz="1150" b="1">
                <a:solidFill>
                  <a:srgbClr val="DB4B0D"/>
                </a:solidFill>
                <a:latin typeface="Calibri"/>
              </a:rPr>
              <a:t>▸  </a:t>
            </a:r>
            <a:r>
              <a:rPr sz="1150">
                <a:solidFill>
                  <a:srgbClr val="3A3F4A"/>
                </a:solidFill>
                <a:latin typeface="Calibri"/>
              </a:rPr>
              <a:t>Next.js 15 + React + Tailwind</a:t>
            </a:r>
          </a:p>
          <a:p>
            <a:pPr>
              <a:lnSpc>
                <a:spcPct val="105000"/>
              </a:lnSpc>
              <a:spcAft>
                <a:spcPts val="1000"/>
              </a:spcAft>
            </a:pPr>
            <a:r>
              <a:rPr sz="1150" b="1">
                <a:solidFill>
                  <a:srgbClr val="DB4B0D"/>
                </a:solidFill>
                <a:latin typeface="Calibri"/>
              </a:rPr>
              <a:t>▸  </a:t>
            </a:r>
            <a:r>
              <a:rPr sz="1150">
                <a:solidFill>
                  <a:srgbClr val="3A3F4A"/>
                </a:solidFill>
                <a:latin typeface="Calibri"/>
              </a:rPr>
              <a:t>PWA (offline ready), Capacitor (Android)</a:t>
            </a:r>
          </a:p>
          <a:p>
            <a:pPr>
              <a:lnSpc>
                <a:spcPct val="105000"/>
              </a:lnSpc>
              <a:spcAft>
                <a:spcPts val="1000"/>
              </a:spcAft>
            </a:pPr>
            <a:r>
              <a:rPr sz="1150" b="1">
                <a:solidFill>
                  <a:srgbClr val="DB4B0D"/>
                </a:solidFill>
                <a:latin typeface="Calibri"/>
              </a:rPr>
              <a:t>▸  </a:t>
            </a:r>
            <a:r>
              <a:rPr sz="1150">
                <a:solidFill>
                  <a:srgbClr val="3A3F4A"/>
                </a:solidFill>
                <a:latin typeface="Calibri"/>
              </a:rPr>
              <a:t>Google Maps live tracking UI</a:t>
            </a:r>
          </a:p>
        </p:txBody>
      </p:sp>
      <p:sp>
        <p:nvSpPr>
          <p:cNvPr id="11" name="Rectangle 10"/>
          <p:cNvSpPr/>
          <p:nvPr/>
        </p:nvSpPr>
        <p:spPr>
          <a:xfrm>
            <a:off x="4389120" y="1828800"/>
            <a:ext cx="3474720" cy="23774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828800"/>
            <a:ext cx="3474720" cy="4572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874519"/>
            <a:ext cx="347472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BACKEND</a:t>
            </a:r>
          </a:p>
        </p:txBody>
      </p:sp>
      <p:sp>
        <p:nvSpPr>
          <p:cNvPr id="14" name="TextBox 13"/>
          <p:cNvSpPr txBox="1"/>
          <p:nvPr/>
        </p:nvSpPr>
        <p:spPr>
          <a:xfrm>
            <a:off x="4572000" y="2423160"/>
            <a:ext cx="3200400" cy="1737360"/>
          </a:xfrm>
          <a:prstGeom prst="rect">
            <a:avLst/>
          </a:prstGeom>
          <a:noFill/>
        </p:spPr>
        <p:txBody>
          <a:bodyPr wrap="square">
            <a:spAutoFit/>
          </a:bodyPr>
          <a:lstStyle/>
          <a:p>
            <a:pPr>
              <a:lnSpc>
                <a:spcPct val="105000"/>
              </a:lnSpc>
              <a:spcAft>
                <a:spcPts val="1000"/>
              </a:spcAft>
            </a:pPr>
            <a:r>
              <a:rPr sz="1150" b="1">
                <a:solidFill>
                  <a:srgbClr val="DB4B0D"/>
                </a:solidFill>
                <a:latin typeface="Calibri"/>
              </a:rPr>
              <a:t>▸  </a:t>
            </a:r>
            <a:r>
              <a:rPr sz="1150">
                <a:solidFill>
                  <a:srgbClr val="3A3F4A"/>
                </a:solidFill>
                <a:latin typeface="Calibri"/>
              </a:rPr>
              <a:t>Supabase Postgres + PostGIS</a:t>
            </a:r>
          </a:p>
          <a:p>
            <a:pPr>
              <a:lnSpc>
                <a:spcPct val="105000"/>
              </a:lnSpc>
              <a:spcAft>
                <a:spcPts val="1000"/>
              </a:spcAft>
            </a:pPr>
            <a:r>
              <a:rPr sz="1150" b="1">
                <a:solidFill>
                  <a:srgbClr val="DB4B0D"/>
                </a:solidFill>
                <a:latin typeface="Calibri"/>
              </a:rPr>
              <a:t>▸  </a:t>
            </a:r>
            <a:r>
              <a:rPr sz="1150">
                <a:solidFill>
                  <a:srgbClr val="3A3F4A"/>
                </a:solidFill>
                <a:latin typeface="Calibri"/>
              </a:rPr>
              <a:t>RLS + SECURITY DEFINER RPCs</a:t>
            </a:r>
          </a:p>
          <a:p>
            <a:pPr>
              <a:lnSpc>
                <a:spcPct val="105000"/>
              </a:lnSpc>
              <a:spcAft>
                <a:spcPts val="1000"/>
              </a:spcAft>
            </a:pPr>
            <a:r>
              <a:rPr sz="1150" b="1">
                <a:solidFill>
                  <a:srgbClr val="DB4B0D"/>
                </a:solidFill>
                <a:latin typeface="Calibri"/>
              </a:rPr>
              <a:t>▸  </a:t>
            </a:r>
            <a:r>
              <a:rPr sz="1150">
                <a:solidFill>
                  <a:srgbClr val="3A3F4A"/>
                </a:solidFill>
                <a:latin typeface="Calibri"/>
              </a:rPr>
              <a:t>Realtime (broadcast + postgres_changes)</a:t>
            </a:r>
          </a:p>
        </p:txBody>
      </p:sp>
      <p:sp>
        <p:nvSpPr>
          <p:cNvPr id="15" name="Rectangle 14"/>
          <p:cNvSpPr/>
          <p:nvPr/>
        </p:nvSpPr>
        <p:spPr>
          <a:xfrm>
            <a:off x="8046720" y="1828800"/>
            <a:ext cx="3474720" cy="2377440"/>
          </a:xfrm>
          <a:prstGeom prst="rect">
            <a:avLst/>
          </a:prstGeom>
          <a:solidFill>
            <a:srgbClr val="FFFFFF"/>
          </a:solidFill>
          <a:ln w="12700">
            <a:solidFill>
              <a:srgbClr val="F8C9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1828800"/>
            <a:ext cx="3474720" cy="4572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874519"/>
            <a:ext cx="3474720" cy="411480"/>
          </a:xfrm>
          <a:prstGeom prst="rect">
            <a:avLst/>
          </a:prstGeom>
          <a:noFill/>
        </p:spPr>
        <p:txBody>
          <a:bodyPr wrap="square" anchor="ctr">
            <a:spAutoFit/>
          </a:bodyPr>
          <a:lstStyle/>
          <a:p>
            <a:pPr algn="ctr">
              <a:lnSpc>
                <a:spcPct val="105000"/>
              </a:lnSpc>
              <a:spcAft>
                <a:spcPts val="600"/>
              </a:spcAft>
            </a:pPr>
            <a:r>
              <a:rPr sz="1300" b="1">
                <a:solidFill>
                  <a:srgbClr val="FFFFFF"/>
                </a:solidFill>
                <a:latin typeface="Calibri"/>
              </a:rPr>
              <a:t>SERVICES</a:t>
            </a:r>
          </a:p>
        </p:txBody>
      </p:sp>
      <p:sp>
        <p:nvSpPr>
          <p:cNvPr id="18" name="TextBox 17"/>
          <p:cNvSpPr txBox="1"/>
          <p:nvPr/>
        </p:nvSpPr>
        <p:spPr>
          <a:xfrm>
            <a:off x="8229600" y="2423160"/>
            <a:ext cx="3200400" cy="1737360"/>
          </a:xfrm>
          <a:prstGeom prst="rect">
            <a:avLst/>
          </a:prstGeom>
          <a:noFill/>
        </p:spPr>
        <p:txBody>
          <a:bodyPr wrap="square">
            <a:spAutoFit/>
          </a:bodyPr>
          <a:lstStyle/>
          <a:p>
            <a:pPr>
              <a:lnSpc>
                <a:spcPct val="105000"/>
              </a:lnSpc>
              <a:spcAft>
                <a:spcPts val="1000"/>
              </a:spcAft>
            </a:pPr>
            <a:r>
              <a:rPr sz="1150" b="1">
                <a:solidFill>
                  <a:srgbClr val="DB4B0D"/>
                </a:solidFill>
                <a:latin typeface="Calibri"/>
              </a:rPr>
              <a:t>▸  </a:t>
            </a:r>
            <a:r>
              <a:rPr sz="1150">
                <a:solidFill>
                  <a:srgbClr val="3A3F4A"/>
                </a:solidFill>
                <a:latin typeface="Calibri"/>
              </a:rPr>
              <a:t>Twilio Verify , phone OTP</a:t>
            </a:r>
          </a:p>
          <a:p>
            <a:pPr>
              <a:lnSpc>
                <a:spcPct val="105000"/>
              </a:lnSpc>
              <a:spcAft>
                <a:spcPts val="1000"/>
              </a:spcAft>
            </a:pPr>
            <a:r>
              <a:rPr sz="1150" b="1">
                <a:solidFill>
                  <a:srgbClr val="DB4B0D"/>
                </a:solidFill>
                <a:latin typeface="Calibri"/>
              </a:rPr>
              <a:t>▸  </a:t>
            </a:r>
            <a:r>
              <a:rPr sz="1150">
                <a:solidFill>
                  <a:srgbClr val="3A3F4A"/>
                </a:solidFill>
                <a:latin typeface="Calibri"/>
              </a:rPr>
              <a:t>Firebase Cloud Messaging , push</a:t>
            </a:r>
          </a:p>
          <a:p>
            <a:pPr>
              <a:lnSpc>
                <a:spcPct val="105000"/>
              </a:lnSpc>
              <a:spcAft>
                <a:spcPts val="1000"/>
              </a:spcAft>
            </a:pPr>
            <a:r>
              <a:rPr sz="1150" b="1">
                <a:solidFill>
                  <a:srgbClr val="DB4B0D"/>
                </a:solidFill>
                <a:latin typeface="Calibri"/>
              </a:rPr>
              <a:t>▸  </a:t>
            </a:r>
            <a:r>
              <a:rPr sz="1150">
                <a:solidFill>
                  <a:srgbClr val="3A3F4A"/>
                </a:solidFill>
                <a:latin typeface="Calibri"/>
              </a:rPr>
              <a:t>Google Maps , geocoding &amp; maps</a:t>
            </a:r>
          </a:p>
        </p:txBody>
      </p:sp>
      <p:sp>
        <p:nvSpPr>
          <p:cNvPr id="19" name="TextBox 18"/>
          <p:cNvSpPr txBox="1"/>
          <p:nvPr/>
        </p:nvSpPr>
        <p:spPr>
          <a:xfrm>
            <a:off x="731520" y="4434840"/>
            <a:ext cx="10607040" cy="365760"/>
          </a:xfrm>
          <a:prstGeom prst="rect">
            <a:avLst/>
          </a:prstGeom>
          <a:noFill/>
        </p:spPr>
        <p:txBody>
          <a:bodyPr wrap="square" anchor="t">
            <a:spAutoFit/>
          </a:bodyPr>
          <a:lstStyle/>
          <a:p>
            <a:pPr algn="l">
              <a:lnSpc>
                <a:spcPct val="105000"/>
              </a:lnSpc>
              <a:spcAft>
                <a:spcPts val="600"/>
              </a:spcAft>
            </a:pPr>
            <a:r>
              <a:rPr sz="1400" b="1">
                <a:solidFill>
                  <a:srgbClr val="111828"/>
                </a:solidFill>
                <a:latin typeface="Calibri"/>
              </a:rPr>
              <a:t>Roadmap</a:t>
            </a:r>
          </a:p>
        </p:txBody>
      </p:sp>
      <p:sp>
        <p:nvSpPr>
          <p:cNvPr id="20" name="Rectangle 19"/>
          <p:cNvSpPr/>
          <p:nvPr/>
        </p:nvSpPr>
        <p:spPr>
          <a:xfrm>
            <a:off x="731520" y="4846320"/>
            <a:ext cx="10698480" cy="73152"/>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37360" y="4709160"/>
            <a:ext cx="320040" cy="32004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074920"/>
            <a:ext cx="2560320" cy="1188720"/>
          </a:xfrm>
          <a:prstGeom prst="rect">
            <a:avLst/>
          </a:prstGeom>
          <a:noFill/>
        </p:spPr>
        <p:txBody>
          <a:bodyPr wrap="square" anchor="t">
            <a:spAutoFit/>
          </a:bodyPr>
          <a:lstStyle/>
          <a:p>
            <a:pPr algn="l">
              <a:lnSpc>
                <a:spcPct val="105000"/>
              </a:lnSpc>
              <a:spcAft>
                <a:spcPts val="200"/>
              </a:spcAft>
            </a:pPr>
            <a:r>
              <a:rPr sz="1000" b="1">
                <a:solidFill>
                  <a:srgbClr val="DB4B0D"/>
                </a:solidFill>
                <a:latin typeface="Calibri"/>
              </a:rPr>
              <a:t>NOW</a:t>
            </a:r>
          </a:p>
          <a:p>
            <a:pPr algn="l">
              <a:lnSpc>
                <a:spcPct val="105000"/>
              </a:lnSpc>
              <a:spcAft>
                <a:spcPts val="200"/>
              </a:spcAft>
            </a:pPr>
            <a:r>
              <a:rPr sz="1300" b="1">
                <a:solidFill>
                  <a:srgbClr val="111828"/>
                </a:solidFill>
                <a:latin typeface="Calibri"/>
              </a:rPr>
              <a:t>Pilot</a:t>
            </a:r>
          </a:p>
          <a:p>
            <a:pPr algn="l">
              <a:lnSpc>
                <a:spcPct val="105000"/>
              </a:lnSpc>
              <a:spcAft>
                <a:spcPts val="200"/>
              </a:spcAft>
            </a:pPr>
            <a:r>
              <a:rPr sz="1000" b="0">
                <a:solidFill>
                  <a:srgbClr val="3A3F4A"/>
                </a:solidFill>
                <a:latin typeface="Calibri"/>
              </a:rPr>
              <a:t>Karachi beta
40 providers
Payment webhooks</a:t>
            </a:r>
          </a:p>
        </p:txBody>
      </p:sp>
      <p:sp>
        <p:nvSpPr>
          <p:cNvPr id="23" name="Oval 22"/>
          <p:cNvSpPr/>
          <p:nvPr/>
        </p:nvSpPr>
        <p:spPr>
          <a:xfrm>
            <a:off x="5212080" y="4709160"/>
            <a:ext cx="320040" cy="32004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5074920"/>
            <a:ext cx="2560320" cy="1188720"/>
          </a:xfrm>
          <a:prstGeom prst="rect">
            <a:avLst/>
          </a:prstGeom>
          <a:noFill/>
        </p:spPr>
        <p:txBody>
          <a:bodyPr wrap="square" anchor="t">
            <a:spAutoFit/>
          </a:bodyPr>
          <a:lstStyle/>
          <a:p>
            <a:pPr algn="l">
              <a:lnSpc>
                <a:spcPct val="105000"/>
              </a:lnSpc>
              <a:spcAft>
                <a:spcPts val="200"/>
              </a:spcAft>
            </a:pPr>
            <a:r>
              <a:rPr sz="1000" b="1">
                <a:solidFill>
                  <a:srgbClr val="DB4B0D"/>
                </a:solidFill>
                <a:latin typeface="Calibri"/>
              </a:rPr>
              <a:t>Q2 to Q3</a:t>
            </a:r>
          </a:p>
          <a:p>
            <a:pPr algn="l">
              <a:lnSpc>
                <a:spcPct val="105000"/>
              </a:lnSpc>
              <a:spcAft>
                <a:spcPts val="200"/>
              </a:spcAft>
            </a:pPr>
            <a:r>
              <a:rPr sz="1300" b="1">
                <a:solidFill>
                  <a:srgbClr val="111828"/>
                </a:solidFill>
                <a:latin typeface="Calibri"/>
              </a:rPr>
              <a:t>City Scale</a:t>
            </a:r>
          </a:p>
          <a:p>
            <a:pPr algn="l">
              <a:lnSpc>
                <a:spcPct val="105000"/>
              </a:lnSpc>
              <a:spcAft>
                <a:spcPts val="200"/>
              </a:spcAft>
            </a:pPr>
            <a:r>
              <a:rPr sz="1000" b="0">
                <a:solidFill>
                  <a:srgbClr val="3A3F4A"/>
                </a:solidFill>
                <a:latin typeface="Calibri"/>
              </a:rPr>
              <a:t>175+ providers
Mobile apps
KYC &amp; CNIC checks</a:t>
            </a:r>
          </a:p>
        </p:txBody>
      </p:sp>
      <p:sp>
        <p:nvSpPr>
          <p:cNvPr id="25" name="Oval 24"/>
          <p:cNvSpPr/>
          <p:nvPr/>
        </p:nvSpPr>
        <p:spPr>
          <a:xfrm>
            <a:off x="8686800" y="4709160"/>
            <a:ext cx="320040" cy="32004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5074920"/>
            <a:ext cx="2560320" cy="1188720"/>
          </a:xfrm>
          <a:prstGeom prst="rect">
            <a:avLst/>
          </a:prstGeom>
          <a:noFill/>
        </p:spPr>
        <p:txBody>
          <a:bodyPr wrap="square" anchor="t">
            <a:spAutoFit/>
          </a:bodyPr>
          <a:lstStyle/>
          <a:p>
            <a:pPr algn="l">
              <a:lnSpc>
                <a:spcPct val="105000"/>
              </a:lnSpc>
              <a:spcAft>
                <a:spcPts val="200"/>
              </a:spcAft>
            </a:pPr>
            <a:r>
              <a:rPr sz="1000" b="1">
                <a:solidFill>
                  <a:srgbClr val="DB4B0D"/>
                </a:solidFill>
                <a:latin typeface="Calibri"/>
              </a:rPr>
              <a:t>Q4+</a:t>
            </a:r>
          </a:p>
          <a:p>
            <a:pPr algn="l">
              <a:lnSpc>
                <a:spcPct val="105000"/>
              </a:lnSpc>
              <a:spcAft>
                <a:spcPts val="200"/>
              </a:spcAft>
            </a:pPr>
            <a:r>
              <a:rPr sz="1300" b="1">
                <a:solidFill>
                  <a:srgbClr val="111828"/>
                </a:solidFill>
                <a:latin typeface="Calibri"/>
              </a:rPr>
              <a:t>Multi-City</a:t>
            </a:r>
          </a:p>
          <a:p>
            <a:pPr algn="l">
              <a:lnSpc>
                <a:spcPct val="105000"/>
              </a:lnSpc>
              <a:spcAft>
                <a:spcPts val="200"/>
              </a:spcAft>
            </a:pPr>
            <a:r>
              <a:rPr sz="1000" b="0">
                <a:solidFill>
                  <a:srgbClr val="3A3F4A"/>
                </a:solidFill>
                <a:latin typeface="Calibri"/>
              </a:rPr>
              <a:t>Lahore entry
B2B2C enterprise
Provider financing</a:t>
            </a:r>
          </a:p>
        </p:txBody>
      </p:sp>
      <p:sp>
        <p:nvSpPr>
          <p:cNvPr id="27" name="TextBox 26"/>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13. FOUNDERS &amp; CORE TEAM</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Already built. Ready to scale.</a:t>
            </a:r>
          </a:p>
        </p:txBody>
      </p:sp>
      <p:sp>
        <p:nvSpPr>
          <p:cNvPr id="7" name="TextBox 6"/>
          <p:cNvSpPr txBox="1"/>
          <p:nvPr/>
        </p:nvSpPr>
        <p:spPr>
          <a:xfrm>
            <a:off x="731520" y="1737360"/>
            <a:ext cx="10515600" cy="457200"/>
          </a:xfrm>
          <a:prstGeom prst="rect">
            <a:avLst/>
          </a:prstGeom>
          <a:noFill/>
        </p:spPr>
        <p:txBody>
          <a:bodyPr wrap="square" anchor="t">
            <a:spAutoFit/>
          </a:bodyPr>
          <a:lstStyle/>
          <a:p>
            <a:pPr algn="l">
              <a:lnSpc>
                <a:spcPct val="105000"/>
              </a:lnSpc>
              <a:spcAft>
                <a:spcPts val="600"/>
              </a:spcAft>
            </a:pPr>
            <a:r>
              <a:rPr sz="1500" b="1">
                <a:solidFill>
                  <a:srgbClr val="DB4B0D"/>
                </a:solidFill>
                <a:latin typeface="Calibri"/>
              </a:rPr>
              <a:t>A technical founder, backed by product, finance, growth &amp; design.</a:t>
            </a:r>
          </a:p>
        </p:txBody>
      </p:sp>
      <p:sp>
        <p:nvSpPr>
          <p:cNvPr id="8" name="Rectangle 7"/>
          <p:cNvSpPr/>
          <p:nvPr/>
        </p:nvSpPr>
        <p:spPr>
          <a:xfrm>
            <a:off x="731520" y="2148840"/>
            <a:ext cx="3474720" cy="338328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14884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103120" y="2423160"/>
            <a:ext cx="731520" cy="73152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2450592"/>
            <a:ext cx="731520" cy="658368"/>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MAR</a:t>
            </a:r>
          </a:p>
        </p:txBody>
      </p:sp>
      <p:sp>
        <p:nvSpPr>
          <p:cNvPr id="12" name="TextBox 11"/>
          <p:cNvSpPr txBox="1"/>
          <p:nvPr/>
        </p:nvSpPr>
        <p:spPr>
          <a:xfrm>
            <a:off x="960120" y="3291840"/>
            <a:ext cx="3063240" cy="2194560"/>
          </a:xfrm>
          <a:prstGeom prst="rect">
            <a:avLst/>
          </a:prstGeom>
          <a:noFill/>
        </p:spPr>
        <p:txBody>
          <a:bodyPr wrap="square" anchor="t">
            <a:spAutoFit/>
          </a:bodyPr>
          <a:lstStyle/>
          <a:p>
            <a:pPr algn="l">
              <a:lnSpc>
                <a:spcPct val="106000"/>
              </a:lnSpc>
              <a:spcAft>
                <a:spcPts val="400"/>
              </a:spcAft>
            </a:pPr>
            <a:r>
              <a:rPr sz="1450" b="1">
                <a:solidFill>
                  <a:srgbClr val="FFFFFF"/>
                </a:solidFill>
                <a:latin typeface="Calibri"/>
              </a:rPr>
              <a:t>Marjan Ahmed</a:t>
            </a:r>
          </a:p>
          <a:p>
            <a:pPr algn="l">
              <a:lnSpc>
                <a:spcPct val="106000"/>
              </a:lnSpc>
              <a:spcAft>
                <a:spcPts val="400"/>
              </a:spcAft>
            </a:pPr>
            <a:r>
              <a:rPr sz="1100" b="1">
                <a:solidFill>
                  <a:srgbClr val="DB4B0D"/>
                </a:solidFill>
                <a:latin typeface="Calibri"/>
              </a:rPr>
              <a:t>Founder &amp; CEO</a:t>
            </a:r>
          </a:p>
          <a:p>
            <a:pPr algn="l">
              <a:lnSpc>
                <a:spcPct val="106000"/>
              </a:lnSpc>
              <a:spcAft>
                <a:spcPts val="400"/>
              </a:spcAft>
            </a:pPr>
            <a:r>
              <a:rPr sz="950" b="1">
                <a:solidFill>
                  <a:srgbClr val="CFD3DA"/>
                </a:solidFill>
                <a:latin typeface="Calibri"/>
              </a:rPr>
              <a:t>The Hacker / CTO , NIC archetype</a:t>
            </a:r>
          </a:p>
          <a:p>
            <a:pPr algn="l">
              <a:lnSpc>
                <a:spcPct val="106000"/>
              </a:lnSpc>
              <a:spcAft>
                <a:spcPts val="400"/>
              </a:spcAft>
            </a:pPr>
            <a:r>
              <a:rPr sz="1050" b="0">
                <a:solidFill>
                  <a:srgbClr val="CFD3DA"/>
                </a:solidFill>
                <a:latin typeface="Calibri"/>
              </a:rPr>
              <a:t>Full-stack engineer , built all of USTAZ solo at 17. GIAIC Senior · Agentic-AI engineer at Filion Capital · AI-finance hackathon winner. 17-year-old who shipped a production-grade platform with 8+ core systems.</a:t>
            </a:r>
          </a:p>
        </p:txBody>
      </p:sp>
      <p:sp>
        <p:nvSpPr>
          <p:cNvPr id="13" name="Rectangle 12"/>
          <p:cNvSpPr/>
          <p:nvPr/>
        </p:nvSpPr>
        <p:spPr>
          <a:xfrm>
            <a:off x="4389120" y="2148840"/>
            <a:ext cx="3474720" cy="338328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214884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60720" y="2423160"/>
            <a:ext cx="731520" cy="73152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0" y="2450592"/>
            <a:ext cx="731520" cy="658368"/>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MAS</a:t>
            </a:r>
          </a:p>
        </p:txBody>
      </p:sp>
      <p:sp>
        <p:nvSpPr>
          <p:cNvPr id="17" name="TextBox 16"/>
          <p:cNvSpPr txBox="1"/>
          <p:nvPr/>
        </p:nvSpPr>
        <p:spPr>
          <a:xfrm>
            <a:off x="4617720" y="3291840"/>
            <a:ext cx="3063240" cy="2194560"/>
          </a:xfrm>
          <a:prstGeom prst="rect">
            <a:avLst/>
          </a:prstGeom>
          <a:noFill/>
        </p:spPr>
        <p:txBody>
          <a:bodyPr wrap="square" anchor="t">
            <a:spAutoFit/>
          </a:bodyPr>
          <a:lstStyle/>
          <a:p>
            <a:pPr algn="l">
              <a:lnSpc>
                <a:spcPct val="106000"/>
              </a:lnSpc>
              <a:spcAft>
                <a:spcPts val="400"/>
              </a:spcAft>
            </a:pPr>
            <a:r>
              <a:rPr sz="1450" b="1">
                <a:solidFill>
                  <a:srgbClr val="FFFFFF"/>
                </a:solidFill>
                <a:latin typeface="Calibri"/>
              </a:rPr>
              <a:t>Masood Alam</a:t>
            </a:r>
          </a:p>
          <a:p>
            <a:pPr algn="l">
              <a:lnSpc>
                <a:spcPct val="106000"/>
              </a:lnSpc>
              <a:spcAft>
                <a:spcPts val="400"/>
              </a:spcAft>
            </a:pPr>
            <a:r>
              <a:rPr sz="1100" b="1">
                <a:solidFill>
                  <a:srgbClr val="DB4B0D"/>
                </a:solidFill>
                <a:latin typeface="Calibri"/>
              </a:rPr>
              <a:t>Product Director &amp; Financial Consultant</a:t>
            </a:r>
          </a:p>
          <a:p>
            <a:pPr algn="l">
              <a:lnSpc>
                <a:spcPct val="106000"/>
              </a:lnSpc>
              <a:spcAft>
                <a:spcPts val="400"/>
              </a:spcAft>
            </a:pPr>
            <a:r>
              <a:rPr sz="950" b="1">
                <a:solidFill>
                  <a:srgbClr val="CFD3DA"/>
                </a:solidFill>
                <a:latin typeface="Calibri"/>
              </a:rPr>
              <a:t>The Hustler , NIC archetype</a:t>
            </a:r>
          </a:p>
          <a:p>
            <a:pPr algn="l">
              <a:lnSpc>
                <a:spcPct val="106000"/>
              </a:lnSpc>
              <a:spcAft>
                <a:spcPts val="400"/>
              </a:spcAft>
            </a:pPr>
            <a:r>
              <a:rPr sz="1050" b="0">
                <a:solidFill>
                  <a:srgbClr val="CFD3DA"/>
                </a:solidFill>
                <a:latin typeface="Calibri"/>
              </a:rPr>
              <a:t>Leads product direction and the commission / wallet financial model. Background in operations and financial analysis. Owns unit economics, pricing strategy, and the prepaid wallet system design.</a:t>
            </a:r>
          </a:p>
        </p:txBody>
      </p:sp>
      <p:sp>
        <p:nvSpPr>
          <p:cNvPr id="18" name="Rectangle 17"/>
          <p:cNvSpPr/>
          <p:nvPr/>
        </p:nvSpPr>
        <p:spPr>
          <a:xfrm>
            <a:off x="8046720" y="2148840"/>
            <a:ext cx="3474720" cy="338328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2148840"/>
            <a:ext cx="3474720" cy="109728"/>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418320" y="2423160"/>
            <a:ext cx="731520" cy="73152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0" y="2450592"/>
            <a:ext cx="731520" cy="658368"/>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MSA</a:t>
            </a:r>
          </a:p>
        </p:txBody>
      </p:sp>
      <p:sp>
        <p:nvSpPr>
          <p:cNvPr id="22" name="TextBox 21"/>
          <p:cNvSpPr txBox="1"/>
          <p:nvPr/>
        </p:nvSpPr>
        <p:spPr>
          <a:xfrm>
            <a:off x="8275320" y="3291840"/>
            <a:ext cx="3063240" cy="2194560"/>
          </a:xfrm>
          <a:prstGeom prst="rect">
            <a:avLst/>
          </a:prstGeom>
          <a:noFill/>
        </p:spPr>
        <p:txBody>
          <a:bodyPr wrap="square" anchor="t">
            <a:spAutoFit/>
          </a:bodyPr>
          <a:lstStyle/>
          <a:p>
            <a:pPr algn="l">
              <a:lnSpc>
                <a:spcPct val="106000"/>
              </a:lnSpc>
              <a:spcAft>
                <a:spcPts val="400"/>
              </a:spcAft>
            </a:pPr>
            <a:r>
              <a:rPr sz="1450" b="1">
                <a:solidFill>
                  <a:srgbClr val="FFFFFF"/>
                </a:solidFill>
                <a:latin typeface="Calibri"/>
              </a:rPr>
              <a:t>Muhammad Sufyan Ahmed</a:t>
            </a:r>
          </a:p>
          <a:p>
            <a:pPr algn="l">
              <a:lnSpc>
                <a:spcPct val="106000"/>
              </a:lnSpc>
              <a:spcAft>
                <a:spcPts val="400"/>
              </a:spcAft>
            </a:pPr>
            <a:r>
              <a:rPr sz="1100" b="1">
                <a:solidFill>
                  <a:srgbClr val="DB4B0D"/>
                </a:solidFill>
                <a:latin typeface="Calibri"/>
              </a:rPr>
              <a:t>CMO &amp; Designer</a:t>
            </a:r>
          </a:p>
          <a:p>
            <a:pPr algn="l">
              <a:lnSpc>
                <a:spcPct val="106000"/>
              </a:lnSpc>
              <a:spcAft>
                <a:spcPts val="400"/>
              </a:spcAft>
            </a:pPr>
            <a:r>
              <a:rPr sz="950" b="1">
                <a:solidFill>
                  <a:srgbClr val="CFD3DA"/>
                </a:solidFill>
                <a:latin typeface="Calibri"/>
              </a:rPr>
              <a:t>Growth &amp; Brand , NIC archetype</a:t>
            </a:r>
          </a:p>
          <a:p>
            <a:pPr algn="l">
              <a:lnSpc>
                <a:spcPct val="106000"/>
              </a:lnSpc>
              <a:spcAft>
                <a:spcPts val="400"/>
              </a:spcAft>
            </a:pPr>
            <a:r>
              <a:rPr sz="1050" b="0">
                <a:solidFill>
                  <a:srgbClr val="CFD3DA"/>
                </a:solidFill>
                <a:latin typeface="Calibri"/>
              </a:rPr>
              <a:t>Owns brand identity, growth marketing strategy, and the product design system &amp; UX. Drives customer acquisition channels and the referral loop architecture.</a:t>
            </a:r>
          </a:p>
        </p:txBody>
      </p:sp>
      <p:sp>
        <p:nvSpPr>
          <p:cNvPr id="23" name="TextBox 22"/>
          <p:cNvSpPr txBox="1"/>
          <p:nvPr/>
        </p:nvSpPr>
        <p:spPr>
          <a:xfrm>
            <a:off x="731520" y="5669280"/>
            <a:ext cx="10698480" cy="566928"/>
          </a:xfrm>
          <a:prstGeom prst="rect">
            <a:avLst/>
          </a:prstGeom>
          <a:noFill/>
        </p:spPr>
        <p:txBody>
          <a:bodyPr wrap="square" anchor="t">
            <a:spAutoFit/>
          </a:bodyPr>
          <a:lstStyle/>
          <a:p>
            <a:pPr algn="l">
              <a:lnSpc>
                <a:spcPct val="104000"/>
              </a:lnSpc>
              <a:spcAft>
                <a:spcPts val="600"/>
              </a:spcAft>
            </a:pPr>
            <a:r>
              <a:rPr sz="1200" b="1">
                <a:solidFill>
                  <a:srgbClr val="DB4B0D"/>
                </a:solidFill>
                <a:latin typeface="Calibri"/>
              </a:rPr>
              <a:t>Commitment:  </a:t>
            </a:r>
            <a:r>
              <a:rPr sz="1050" b="0">
                <a:solidFill>
                  <a:srgbClr val="3A3F4A"/>
                </a:solidFill>
                <a:latin typeface="Calibri"/>
              </a:rPr>
              <a:t>all 3 co-founders work full-time, equity-vested (4 year cliff). No salaries drawn pre-revenue. Staying lean: batch-verify through trade guilds (20 to 30 tradesmen at a time) to scale supply without drowning in manual checks.</a:t>
            </a:r>
          </a:p>
        </p:txBody>
      </p:sp>
      <p:sp>
        <p:nvSpPr>
          <p:cNvPr id="24" name="TextBox 23"/>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14. THE ASK</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What we need from NIC Karachi</a:t>
            </a:r>
          </a:p>
        </p:txBody>
      </p:sp>
      <p:sp>
        <p:nvSpPr>
          <p:cNvPr id="7" name="TextBox 6"/>
          <p:cNvSpPr txBox="1"/>
          <p:nvPr/>
        </p:nvSpPr>
        <p:spPr>
          <a:xfrm>
            <a:off x="731520" y="1737360"/>
            <a:ext cx="10515600" cy="548640"/>
          </a:xfrm>
          <a:prstGeom prst="rect">
            <a:avLst/>
          </a:prstGeom>
          <a:noFill/>
        </p:spPr>
        <p:txBody>
          <a:bodyPr wrap="square" anchor="t">
            <a:spAutoFit/>
          </a:bodyPr>
          <a:lstStyle/>
          <a:p>
            <a:pPr algn="l">
              <a:lnSpc>
                <a:spcPct val="105000"/>
              </a:lnSpc>
              <a:spcAft>
                <a:spcPts val="600"/>
              </a:spcAft>
            </a:pPr>
            <a:r>
              <a:rPr sz="1800" b="1">
                <a:solidFill>
                  <a:srgbClr val="111828"/>
                </a:solidFill>
                <a:latin typeface="Calibri"/>
              </a:rPr>
              <a:t>What we need from NIC Karachi incubation:</a:t>
            </a:r>
          </a:p>
        </p:txBody>
      </p:sp>
      <p:sp>
        <p:nvSpPr>
          <p:cNvPr id="8" name="Rectangle 7"/>
          <p:cNvSpPr/>
          <p:nvPr/>
        </p:nvSpPr>
        <p:spPr>
          <a:xfrm>
            <a:off x="731520" y="2377440"/>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377440"/>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Legal &amp; SECP</a:t>
            </a:r>
          </a:p>
        </p:txBody>
      </p:sp>
      <p:sp>
        <p:nvSpPr>
          <p:cNvPr id="10" name="TextBox 9"/>
          <p:cNvSpPr txBox="1"/>
          <p:nvPr/>
        </p:nvSpPr>
        <p:spPr>
          <a:xfrm>
            <a:off x="3291840" y="2377440"/>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Registration support to formalize as a Pvt Ltd , required before any investment or enterprise partnerships can proceed.</a:t>
            </a:r>
          </a:p>
        </p:txBody>
      </p:sp>
      <p:sp>
        <p:nvSpPr>
          <p:cNvPr id="11" name="Rectangle 10"/>
          <p:cNvSpPr/>
          <p:nvPr/>
        </p:nvSpPr>
        <p:spPr>
          <a:xfrm>
            <a:off x="731520" y="3090672"/>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090672"/>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Financial Modeling</a:t>
            </a:r>
          </a:p>
        </p:txBody>
      </p:sp>
      <p:sp>
        <p:nvSpPr>
          <p:cNvPr id="13" name="TextBox 12"/>
          <p:cNvSpPr txBox="1"/>
          <p:nvPr/>
        </p:nvSpPr>
        <p:spPr>
          <a:xfrm>
            <a:off x="3291840" y="3090672"/>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Mentorship to build professional P&amp;L models, validate unit economics with real pilot data, and prepare for seed stage fundraising.</a:t>
            </a:r>
          </a:p>
        </p:txBody>
      </p:sp>
      <p:sp>
        <p:nvSpPr>
          <p:cNvPr id="14" name="Rectangle 13"/>
          <p:cNvSpPr/>
          <p:nvPr/>
        </p:nvSpPr>
        <p:spPr>
          <a:xfrm>
            <a:off x="731520" y="3803904"/>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803904"/>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Karachi Enterprise Network</a:t>
            </a:r>
          </a:p>
        </p:txBody>
      </p:sp>
      <p:sp>
        <p:nvSpPr>
          <p:cNvPr id="16" name="TextBox 15"/>
          <p:cNvSpPr txBox="1"/>
          <p:nvPr/>
        </p:nvSpPr>
        <p:spPr>
          <a:xfrm>
            <a:off x="3291840" y="3803904"/>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Introductions to residential society management companies and B2B2C channels that unlock 200+ households per partnership.</a:t>
            </a:r>
          </a:p>
        </p:txBody>
      </p:sp>
      <p:sp>
        <p:nvSpPr>
          <p:cNvPr id="17" name="Rectangle 16"/>
          <p:cNvSpPr/>
          <p:nvPr/>
        </p:nvSpPr>
        <p:spPr>
          <a:xfrm>
            <a:off x="731520" y="4517136"/>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517136"/>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Sharia Advisory</a:t>
            </a:r>
          </a:p>
        </p:txBody>
      </p:sp>
      <p:sp>
        <p:nvSpPr>
          <p:cNvPr id="19" name="TextBox 18"/>
          <p:cNvSpPr txBox="1"/>
          <p:nvPr/>
        </p:nvSpPr>
        <p:spPr>
          <a:xfrm>
            <a:off x="3291840" y="4517136"/>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Formal ujrah sign-off for the commission model , critical for trust in the Pakistani market and provider buy-in.</a:t>
            </a:r>
          </a:p>
        </p:txBody>
      </p:sp>
      <p:sp>
        <p:nvSpPr>
          <p:cNvPr id="20" name="Rectangle 19"/>
          <p:cNvSpPr/>
          <p:nvPr/>
        </p:nvSpPr>
        <p:spPr>
          <a:xfrm>
            <a:off x="731520" y="5230368"/>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230368"/>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Provider Acquisition</a:t>
            </a:r>
          </a:p>
        </p:txBody>
      </p:sp>
      <p:sp>
        <p:nvSpPr>
          <p:cNvPr id="22" name="TextBox 21"/>
          <p:cNvSpPr txBox="1"/>
          <p:nvPr/>
        </p:nvSpPr>
        <p:spPr>
          <a:xfrm>
            <a:off x="3291840" y="5230368"/>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Access to NIC's network for trade guild partnerships and batch-onboarding channels across Karachi.</a:t>
            </a:r>
          </a:p>
        </p:txBody>
      </p:sp>
      <p:sp>
        <p:nvSpPr>
          <p:cNvPr id="23" name="Rectangle 22"/>
          <p:cNvSpPr/>
          <p:nvPr/>
        </p:nvSpPr>
        <p:spPr>
          <a:xfrm>
            <a:off x="731520" y="5943600"/>
            <a:ext cx="109728" cy="64008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943600"/>
            <a:ext cx="2286000" cy="64008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Market Validation</a:t>
            </a:r>
          </a:p>
        </p:txBody>
      </p:sp>
      <p:sp>
        <p:nvSpPr>
          <p:cNvPr id="25" name="TextBox 24"/>
          <p:cNvSpPr txBox="1"/>
          <p:nvPr/>
        </p:nvSpPr>
        <p:spPr>
          <a:xfrm>
            <a:off x="3291840" y="5943600"/>
            <a:ext cx="8229600" cy="640080"/>
          </a:xfrm>
          <a:prstGeom prst="rect">
            <a:avLst/>
          </a:prstGeom>
          <a:noFill/>
        </p:spPr>
        <p:txBody>
          <a:bodyPr wrap="square" anchor="ctr">
            <a:spAutoFit/>
          </a:bodyPr>
          <a:lstStyle/>
          <a:p>
            <a:pPr algn="l">
              <a:lnSpc>
                <a:spcPct val="100000"/>
              </a:lnSpc>
              <a:spcAft>
                <a:spcPts val="600"/>
              </a:spcAft>
            </a:pPr>
            <a:r>
              <a:rPr sz="1200" b="0">
                <a:solidFill>
                  <a:srgbClr val="3A3F4A"/>
                </a:solidFill>
                <a:latin typeface="Calibri"/>
              </a:rPr>
              <a:t>Structured pilot framework to run 50+ real jobs, measure retention, and refine CAC before scaling.</a:t>
            </a:r>
          </a:p>
        </p:txBody>
      </p:sp>
      <p:sp>
        <p:nvSpPr>
          <p:cNvPr id="26" name="TextBox 25"/>
          <p:cNvSpPr txBox="1"/>
          <p:nvPr/>
        </p:nvSpPr>
        <p:spPr>
          <a:xfrm>
            <a:off x="731520" y="5760720"/>
            <a:ext cx="10607040" cy="45720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We are not just building an app , we are building Pakistan's trusted home-services infrastructure. NIC's ecosystem is the catalyst to get from MVP to market.</a:t>
            </a:r>
          </a:p>
        </p:txBody>
      </p:sp>
      <p:sp>
        <p:nvSpPr>
          <p:cNvPr id="27" name="TextBox 26"/>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10515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548640"/>
            <a:ext cx="1645920" cy="1645920"/>
          </a:xfrm>
          <a:prstGeom prst="ellipse">
            <a:avLst/>
          </a:prstGeom>
          <a:solidFill>
            <a:srgbClr val="FC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66928"/>
            <a:ext cx="9144000" cy="365760"/>
          </a:xfrm>
          <a:prstGeom prst="rect">
            <a:avLst/>
          </a:prstGeom>
          <a:noFill/>
        </p:spPr>
        <p:txBody>
          <a:bodyPr wrap="square" anchor="t">
            <a:spAutoFit/>
          </a:bodyPr>
          <a:lstStyle/>
          <a:p>
            <a:pPr algn="l">
              <a:lnSpc>
                <a:spcPct val="105000"/>
              </a:lnSpc>
              <a:spcAft>
                <a:spcPts val="600"/>
              </a:spcAft>
            </a:pPr>
            <a:r>
              <a:rPr sz="1200" b="1">
                <a:solidFill>
                  <a:srgbClr val="DB4B0D"/>
                </a:solidFill>
                <a:latin typeface="Calibri"/>
              </a:rPr>
              <a:t>15. LONG-TERM VISION &amp; EXIT STRATEGY</a:t>
            </a:r>
          </a:p>
        </p:txBody>
      </p:sp>
      <p:sp>
        <p:nvSpPr>
          <p:cNvPr id="6" name="TextBox 5"/>
          <p:cNvSpPr txBox="1"/>
          <p:nvPr/>
        </p:nvSpPr>
        <p:spPr>
          <a:xfrm>
            <a:off x="713232" y="914400"/>
            <a:ext cx="10515600" cy="822960"/>
          </a:xfrm>
          <a:prstGeom prst="rect">
            <a:avLst/>
          </a:prstGeom>
          <a:noFill/>
        </p:spPr>
        <p:txBody>
          <a:bodyPr wrap="square" anchor="t">
            <a:spAutoFit/>
          </a:bodyPr>
          <a:lstStyle/>
          <a:p>
            <a:pPr algn="l">
              <a:lnSpc>
                <a:spcPct val="105000"/>
              </a:lnSpc>
              <a:spcAft>
                <a:spcPts val="600"/>
              </a:spcAft>
            </a:pPr>
            <a:r>
              <a:rPr sz="3000" b="1">
                <a:solidFill>
                  <a:srgbClr val="111828"/>
                </a:solidFill>
                <a:latin typeface="Calibri"/>
              </a:rPr>
              <a:t>Building Pakistan's default home-services brand</a:t>
            </a:r>
          </a:p>
        </p:txBody>
      </p:sp>
      <p:sp>
        <p:nvSpPr>
          <p:cNvPr id="7" name="TextBox 6"/>
          <p:cNvSpPr txBox="1"/>
          <p:nvPr/>
        </p:nvSpPr>
        <p:spPr>
          <a:xfrm>
            <a:off x="731520" y="1783080"/>
            <a:ext cx="10515600" cy="457200"/>
          </a:xfrm>
          <a:prstGeom prst="rect">
            <a:avLst/>
          </a:prstGeom>
          <a:noFill/>
        </p:spPr>
        <p:txBody>
          <a:bodyPr wrap="square" anchor="t">
            <a:spAutoFit/>
          </a:bodyPr>
          <a:lstStyle/>
          <a:p>
            <a:pPr algn="l">
              <a:lnSpc>
                <a:spcPct val="105000"/>
              </a:lnSpc>
              <a:spcAft>
                <a:spcPts val="600"/>
              </a:spcAft>
            </a:pPr>
            <a:r>
              <a:rPr sz="1600" b="1">
                <a:solidFill>
                  <a:srgbClr val="DB4B0D"/>
                </a:solidFill>
                <a:latin typeface="Calibri"/>
              </a:rPr>
              <a:t>Exit path</a:t>
            </a:r>
          </a:p>
        </p:txBody>
      </p:sp>
      <p:sp>
        <p:nvSpPr>
          <p:cNvPr id="8" name="TextBox 7"/>
          <p:cNvSpPr txBox="1"/>
          <p:nvPr/>
        </p:nvSpPr>
        <p:spPr>
          <a:xfrm>
            <a:off x="731520" y="2286000"/>
            <a:ext cx="10607040" cy="1828800"/>
          </a:xfrm>
          <a:prstGeom prst="rect">
            <a:avLst/>
          </a:prstGeom>
          <a:noFill/>
        </p:spPr>
        <p:txBody>
          <a:bodyPr wrap="square">
            <a:spAutoFit/>
          </a:bodyPr>
          <a:lstStyle/>
          <a:p>
            <a:pPr>
              <a:lnSpc>
                <a:spcPct val="105000"/>
              </a:lnSpc>
              <a:spcAft>
                <a:spcPts val="1000"/>
              </a:spcAft>
            </a:pPr>
            <a:r>
              <a:rPr sz="1350" b="1">
                <a:solidFill>
                  <a:srgbClr val="DB4B0D"/>
                </a:solidFill>
                <a:latin typeface="Calibri"/>
              </a:rPr>
              <a:t>▸  </a:t>
            </a:r>
            <a:r>
              <a:rPr sz="1350" b="1">
                <a:solidFill>
                  <a:srgbClr val="111828"/>
                </a:solidFill>
                <a:latin typeface="Calibri"/>
              </a:rPr>
              <a:t>Primary , strategic acquisition: </a:t>
            </a:r>
            <a:r>
              <a:rPr sz="1350" b="0">
                <a:solidFill>
                  <a:srgbClr val="3A3F4A"/>
                </a:solidFill>
                <a:latin typeface="Calibri"/>
              </a:rPr>
              <a:t>by a super-app, classifieds leader, telco, or bank scaling into home services.</a:t>
            </a:r>
          </a:p>
          <a:p>
            <a:pPr>
              <a:lnSpc>
                <a:spcPct val="105000"/>
              </a:lnSpc>
              <a:spcAft>
                <a:spcPts val="1000"/>
              </a:spcAft>
            </a:pPr>
            <a:r>
              <a:rPr sz="1350" b="1">
                <a:solidFill>
                  <a:srgbClr val="DB4B0D"/>
                </a:solidFill>
                <a:latin typeface="Calibri"/>
              </a:rPr>
              <a:t>▸  </a:t>
            </a:r>
            <a:r>
              <a:rPr sz="1350" b="1">
                <a:solidFill>
                  <a:srgbClr val="111828"/>
                </a:solidFill>
                <a:latin typeface="Calibri"/>
              </a:rPr>
              <a:t>Likely acquirers: </a:t>
            </a:r>
            <a:r>
              <a:rPr sz="1350" b="0">
                <a:solidFill>
                  <a:srgbClr val="3A3F4A"/>
                </a:solidFill>
                <a:latin typeface="Calibri"/>
              </a:rPr>
              <a:t>Jazz / PTCL (telco super-app), OLX Pakistan (classifieds to services), Careem Pakistan, HBL / Meezan (bank-led services).</a:t>
            </a:r>
          </a:p>
          <a:p>
            <a:pPr>
              <a:lnSpc>
                <a:spcPct val="105000"/>
              </a:lnSpc>
              <a:spcAft>
                <a:spcPts val="1000"/>
              </a:spcAft>
            </a:pPr>
            <a:r>
              <a:rPr sz="1350" b="1">
                <a:solidFill>
                  <a:srgbClr val="DB4B0D"/>
                </a:solidFill>
                <a:latin typeface="Calibri"/>
              </a:rPr>
              <a:t>▸  </a:t>
            </a:r>
            <a:r>
              <a:rPr sz="1350" b="1">
                <a:solidFill>
                  <a:srgbClr val="111828"/>
                </a:solidFill>
                <a:latin typeface="Calibri"/>
              </a:rPr>
              <a:t>Secondary , regional roll-up: </a:t>
            </a:r>
            <a:r>
              <a:rPr sz="1350" b="0">
                <a:solidFill>
                  <a:srgbClr val="3A3F4A"/>
                </a:solidFill>
                <a:latin typeface="Calibri"/>
              </a:rPr>
              <a:t>dominate Pakistan, then expand to comparable South Asian markets.</a:t>
            </a:r>
          </a:p>
        </p:txBody>
      </p:sp>
      <p:sp>
        <p:nvSpPr>
          <p:cNvPr id="9" name="TextBox 8"/>
          <p:cNvSpPr txBox="1"/>
          <p:nvPr/>
        </p:nvSpPr>
        <p:spPr>
          <a:xfrm>
            <a:off x="731520" y="3977639"/>
            <a:ext cx="10515600" cy="457200"/>
          </a:xfrm>
          <a:prstGeom prst="rect">
            <a:avLst/>
          </a:prstGeom>
          <a:noFill/>
        </p:spPr>
        <p:txBody>
          <a:bodyPr wrap="square" anchor="t">
            <a:spAutoFit/>
          </a:bodyPr>
          <a:lstStyle/>
          <a:p>
            <a:pPr algn="l">
              <a:lnSpc>
                <a:spcPct val="105000"/>
              </a:lnSpc>
              <a:spcAft>
                <a:spcPts val="600"/>
              </a:spcAft>
            </a:pPr>
            <a:r>
              <a:rPr sz="1600" b="1">
                <a:solidFill>
                  <a:srgbClr val="DB4B0D"/>
                </a:solidFill>
                <a:latin typeface="Calibri"/>
              </a:rPr>
              <a:t>Corporate structure &amp; governance</a:t>
            </a:r>
          </a:p>
        </p:txBody>
      </p:sp>
      <p:sp>
        <p:nvSpPr>
          <p:cNvPr id="10" name="TextBox 9"/>
          <p:cNvSpPr txBox="1"/>
          <p:nvPr/>
        </p:nvSpPr>
        <p:spPr>
          <a:xfrm>
            <a:off x="731520" y="4480560"/>
            <a:ext cx="10607040" cy="1828800"/>
          </a:xfrm>
          <a:prstGeom prst="rect">
            <a:avLst/>
          </a:prstGeom>
          <a:noFill/>
        </p:spPr>
        <p:txBody>
          <a:bodyPr wrap="square">
            <a:spAutoFit/>
          </a:bodyPr>
          <a:lstStyle/>
          <a:p>
            <a:pPr>
              <a:lnSpc>
                <a:spcPct val="105000"/>
              </a:lnSpc>
              <a:spcAft>
                <a:spcPts val="1000"/>
              </a:spcAft>
            </a:pPr>
            <a:r>
              <a:rPr sz="1350" b="1">
                <a:solidFill>
                  <a:srgbClr val="DB4B0D"/>
                </a:solidFill>
                <a:latin typeface="Calibri"/>
              </a:rPr>
              <a:t>▸  </a:t>
            </a:r>
            <a:r>
              <a:rPr sz="1350" b="1">
                <a:solidFill>
                  <a:srgbClr val="111828"/>
                </a:solidFill>
                <a:latin typeface="Calibri"/>
              </a:rPr>
              <a:t>SECP registration: </a:t>
            </a:r>
            <a:r>
              <a:rPr sz="1350" b="0">
                <a:solidFill>
                  <a:srgbClr val="3A3F4A"/>
                </a:solidFill>
                <a:latin typeface="Calibri"/>
              </a:rPr>
              <a:t>filing as Pvt Ltd within 3 to 6 months of incubation, with NIC legal mentorship. May register as sole-proprietorship immediately to show intent.</a:t>
            </a:r>
          </a:p>
          <a:p>
            <a:pPr>
              <a:lnSpc>
                <a:spcPct val="105000"/>
              </a:lnSpc>
              <a:spcAft>
                <a:spcPts val="1000"/>
              </a:spcAft>
            </a:pPr>
            <a:r>
              <a:rPr sz="1350" b="1">
                <a:solidFill>
                  <a:srgbClr val="DB4B0D"/>
                </a:solidFill>
                <a:latin typeface="Calibri"/>
              </a:rPr>
              <a:t>▸  </a:t>
            </a:r>
            <a:r>
              <a:rPr sz="1350" b="1">
                <a:solidFill>
                  <a:srgbClr val="111828"/>
                </a:solidFill>
                <a:latin typeface="Calibri"/>
              </a:rPr>
              <a:t>Equity: </a:t>
            </a:r>
            <a:r>
              <a:rPr sz="1350" b="0">
                <a:solidFill>
                  <a:srgbClr val="3A3F4A"/>
                </a:solidFill>
                <a:latin typeface="Calibri"/>
              </a:rPr>
              <a:t>3 co-founders on an agreed split (~60/20/20); 4 year vesting + anti dilution &amp; exit clauses formalized with NIC legal support pre-investment.</a:t>
            </a:r>
          </a:p>
        </p:txBody>
      </p:sp>
      <p:sp>
        <p:nvSpPr>
          <p:cNvPr id="11" name="TextBox 10"/>
          <p:cNvSpPr txBox="1"/>
          <p:nvPr/>
        </p:nvSpPr>
        <p:spPr>
          <a:xfrm>
            <a:off x="457200" y="6446520"/>
            <a:ext cx="7315200" cy="320040"/>
          </a:xfrm>
          <a:prstGeom prst="rect">
            <a:avLst/>
          </a:prstGeom>
          <a:noFill/>
        </p:spPr>
        <p:txBody>
          <a:bodyPr wrap="square" anchor="t">
            <a:spAutoFit/>
          </a:bodyPr>
          <a:lstStyle/>
          <a:p>
            <a:pPr algn="l">
              <a:lnSpc>
                <a:spcPct val="105000"/>
              </a:lnSpc>
              <a:spcAft>
                <a:spcPts val="600"/>
              </a:spcAft>
            </a:pPr>
            <a:r>
              <a:rPr sz="900" b="1">
                <a:solidFill>
                  <a:srgbClr val="DB4B0D"/>
                </a:solidFill>
                <a:latin typeface="Calibri"/>
              </a:rPr>
              <a:t>USTAZ</a:t>
            </a:r>
            <a:r>
              <a:rPr sz="900" b="0">
                <a:solidFill>
                  <a:srgbClr val="6B707A"/>
                </a:solidFill>
                <a:latin typeface="Calibri"/>
              </a:rPr>
              <a:t>   ustaz-bice.vercel.app</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lnSpc>
                <a:spcPct val="105000"/>
              </a:lnSpc>
              <a:spcAft>
                <a:spcPts val="600"/>
              </a:spcAft>
            </a:pPr>
            <a:r>
              <a:rPr sz="900" b="1">
                <a:solidFill>
                  <a:srgbClr val="6B707A"/>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206240" cy="6858000"/>
          </a:xfrm>
          <a:prstGeom prst="rect">
            <a:avLst/>
          </a:prstGeom>
          <a:solidFill>
            <a:srgbClr val="11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4937760"/>
            <a:ext cx="2377440" cy="2377440"/>
          </a:xfrm>
          <a:prstGeom prst="ellipse">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468880"/>
            <a:ext cx="3291840" cy="1280160"/>
          </a:xfrm>
          <a:prstGeom prst="rect">
            <a:avLst/>
          </a:prstGeom>
          <a:noFill/>
        </p:spPr>
        <p:txBody>
          <a:bodyPr wrap="square" anchor="t">
            <a:spAutoFit/>
          </a:bodyPr>
          <a:lstStyle/>
          <a:p>
            <a:pPr algn="l">
              <a:lnSpc>
                <a:spcPct val="105000"/>
              </a:lnSpc>
              <a:spcAft>
                <a:spcPts val="800"/>
              </a:spcAft>
            </a:pPr>
            <a:r>
              <a:rPr sz="4400" b="1">
                <a:solidFill>
                  <a:srgbClr val="FFFFFF"/>
                </a:solidFill>
                <a:latin typeface="Calibri"/>
              </a:rPr>
              <a:t>USTAZ</a:t>
            </a:r>
          </a:p>
          <a:p>
            <a:pPr algn="l">
              <a:lnSpc>
                <a:spcPct val="105000"/>
              </a:lnSpc>
              <a:spcAft>
                <a:spcPts val="800"/>
              </a:spcAft>
            </a:pPr>
            <a:r>
              <a:rPr sz="1400" b="1">
                <a:solidFill>
                  <a:srgbClr val="DB4B0D"/>
                </a:solidFill>
                <a:latin typeface="Calibri"/>
              </a:rPr>
              <a:t>Trusted pros, on demand.</a:t>
            </a:r>
          </a:p>
        </p:txBody>
      </p:sp>
      <p:sp>
        <p:nvSpPr>
          <p:cNvPr id="6" name="TextBox 5"/>
          <p:cNvSpPr txBox="1"/>
          <p:nvPr/>
        </p:nvSpPr>
        <p:spPr>
          <a:xfrm>
            <a:off x="4754880" y="1280160"/>
            <a:ext cx="6858000" cy="731520"/>
          </a:xfrm>
          <a:prstGeom prst="rect">
            <a:avLst/>
          </a:prstGeom>
          <a:noFill/>
        </p:spPr>
        <p:txBody>
          <a:bodyPr wrap="square" anchor="t">
            <a:spAutoFit/>
          </a:bodyPr>
          <a:lstStyle/>
          <a:p>
            <a:pPr algn="l">
              <a:lnSpc>
                <a:spcPct val="105000"/>
              </a:lnSpc>
              <a:spcAft>
                <a:spcPts val="600"/>
              </a:spcAft>
            </a:pPr>
            <a:r>
              <a:rPr sz="4000" b="1">
                <a:solidFill>
                  <a:srgbClr val="111828"/>
                </a:solidFill>
                <a:latin typeface="Calibri"/>
              </a:rPr>
              <a:t>Thank you</a:t>
            </a:r>
          </a:p>
        </p:txBody>
      </p:sp>
      <p:sp>
        <p:nvSpPr>
          <p:cNvPr id="7" name="TextBox 6"/>
          <p:cNvSpPr txBox="1"/>
          <p:nvPr/>
        </p:nvSpPr>
        <p:spPr>
          <a:xfrm>
            <a:off x="4754880" y="2286000"/>
            <a:ext cx="6858000" cy="457200"/>
          </a:xfrm>
          <a:prstGeom prst="rect">
            <a:avLst/>
          </a:prstGeom>
          <a:noFill/>
        </p:spPr>
        <p:txBody>
          <a:bodyPr wrap="square" anchor="t">
            <a:spAutoFit/>
          </a:bodyPr>
          <a:lstStyle/>
          <a:p>
            <a:pPr algn="l">
              <a:lnSpc>
                <a:spcPct val="105000"/>
              </a:lnSpc>
              <a:spcAft>
                <a:spcPts val="600"/>
              </a:spcAft>
            </a:pPr>
            <a:r>
              <a:rPr sz="1300" b="1">
                <a:solidFill>
                  <a:srgbClr val="DB4B0D"/>
                </a:solidFill>
                <a:latin typeface="Calibri"/>
              </a:rPr>
              <a:t>CONTACT</a:t>
            </a:r>
          </a:p>
        </p:txBody>
      </p:sp>
      <p:sp>
        <p:nvSpPr>
          <p:cNvPr id="8" name="Rectangle 7"/>
          <p:cNvSpPr/>
          <p:nvPr/>
        </p:nvSpPr>
        <p:spPr>
          <a:xfrm>
            <a:off x="4754880" y="2944368"/>
            <a:ext cx="109728" cy="3657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83480" y="2880360"/>
            <a:ext cx="1828800" cy="45720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Website</a:t>
            </a:r>
          </a:p>
        </p:txBody>
      </p:sp>
      <p:sp>
        <p:nvSpPr>
          <p:cNvPr id="10" name="TextBox 9"/>
          <p:cNvSpPr txBox="1"/>
          <p:nvPr/>
        </p:nvSpPr>
        <p:spPr>
          <a:xfrm>
            <a:off x="6766560" y="2880360"/>
            <a:ext cx="4754880" cy="457200"/>
          </a:xfrm>
          <a:prstGeom prst="rect">
            <a:avLst/>
          </a:prstGeom>
          <a:noFill/>
        </p:spPr>
        <p:txBody>
          <a:bodyPr wrap="square" anchor="ctr">
            <a:spAutoFit/>
          </a:bodyPr>
          <a:lstStyle/>
          <a:p>
            <a:pPr algn="l">
              <a:lnSpc>
                <a:spcPct val="105000"/>
              </a:lnSpc>
              <a:spcAft>
                <a:spcPts val="600"/>
              </a:spcAft>
            </a:pPr>
            <a:r>
              <a:rPr sz="1300" b="0">
                <a:solidFill>
                  <a:srgbClr val="3A3F4A"/>
                </a:solidFill>
                <a:latin typeface="Calibri"/>
              </a:rPr>
              <a:t>ustaz-bice.vercel.app</a:t>
            </a:r>
          </a:p>
        </p:txBody>
      </p:sp>
      <p:sp>
        <p:nvSpPr>
          <p:cNvPr id="11" name="Rectangle 10"/>
          <p:cNvSpPr/>
          <p:nvPr/>
        </p:nvSpPr>
        <p:spPr>
          <a:xfrm>
            <a:off x="4754880" y="3511296"/>
            <a:ext cx="109728" cy="3657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80" y="3447288"/>
            <a:ext cx="1828800" cy="45720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Email</a:t>
            </a:r>
          </a:p>
        </p:txBody>
      </p:sp>
      <p:sp>
        <p:nvSpPr>
          <p:cNvPr id="13" name="TextBox 12"/>
          <p:cNvSpPr txBox="1"/>
          <p:nvPr/>
        </p:nvSpPr>
        <p:spPr>
          <a:xfrm>
            <a:off x="6766560" y="3447288"/>
            <a:ext cx="4754880" cy="457200"/>
          </a:xfrm>
          <a:prstGeom prst="rect">
            <a:avLst/>
          </a:prstGeom>
          <a:noFill/>
        </p:spPr>
        <p:txBody>
          <a:bodyPr wrap="square" anchor="ctr">
            <a:spAutoFit/>
          </a:bodyPr>
          <a:lstStyle/>
          <a:p>
            <a:pPr algn="l">
              <a:lnSpc>
                <a:spcPct val="105000"/>
              </a:lnSpc>
              <a:spcAft>
                <a:spcPts val="600"/>
              </a:spcAft>
            </a:pPr>
            <a:r>
              <a:rPr sz="1300" b="0">
                <a:solidFill>
                  <a:srgbClr val="3A3F4A"/>
                </a:solidFill>
                <a:latin typeface="Calibri"/>
              </a:rPr>
              <a:t>marjanahmed.dev@gmail.com</a:t>
            </a:r>
          </a:p>
        </p:txBody>
      </p:sp>
      <p:sp>
        <p:nvSpPr>
          <p:cNvPr id="14" name="Rectangle 13"/>
          <p:cNvSpPr/>
          <p:nvPr/>
        </p:nvSpPr>
        <p:spPr>
          <a:xfrm>
            <a:off x="4754880" y="4078224"/>
            <a:ext cx="109728" cy="3657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83480" y="4014216"/>
            <a:ext cx="1828800" cy="45720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Founder</a:t>
            </a:r>
          </a:p>
        </p:txBody>
      </p:sp>
      <p:sp>
        <p:nvSpPr>
          <p:cNvPr id="16" name="TextBox 15"/>
          <p:cNvSpPr txBox="1"/>
          <p:nvPr/>
        </p:nvSpPr>
        <p:spPr>
          <a:xfrm>
            <a:off x="6766560" y="4014216"/>
            <a:ext cx="4754880" cy="457200"/>
          </a:xfrm>
          <a:prstGeom prst="rect">
            <a:avLst/>
          </a:prstGeom>
          <a:noFill/>
        </p:spPr>
        <p:txBody>
          <a:bodyPr wrap="square" anchor="ctr">
            <a:spAutoFit/>
          </a:bodyPr>
          <a:lstStyle/>
          <a:p>
            <a:pPr algn="l">
              <a:lnSpc>
                <a:spcPct val="105000"/>
              </a:lnSpc>
              <a:spcAft>
                <a:spcPts val="600"/>
              </a:spcAft>
            </a:pPr>
            <a:r>
              <a:rPr sz="1300" b="0">
                <a:solidFill>
                  <a:srgbClr val="3A3F4A"/>
                </a:solidFill>
                <a:latin typeface="Calibri"/>
              </a:rPr>
              <a:t>Marjan Ahmed , Founder &amp; CEO</a:t>
            </a:r>
          </a:p>
        </p:txBody>
      </p:sp>
      <p:sp>
        <p:nvSpPr>
          <p:cNvPr id="17" name="Rectangle 16"/>
          <p:cNvSpPr/>
          <p:nvPr/>
        </p:nvSpPr>
        <p:spPr>
          <a:xfrm>
            <a:off x="4754880" y="4645152"/>
            <a:ext cx="109728" cy="365760"/>
          </a:xfrm>
          <a:prstGeom prst="rect">
            <a:avLst/>
          </a:prstGeom>
          <a:solidFill>
            <a:srgbClr val="DB4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4581144"/>
            <a:ext cx="1828800" cy="457200"/>
          </a:xfrm>
          <a:prstGeom prst="rect">
            <a:avLst/>
          </a:prstGeom>
          <a:noFill/>
        </p:spPr>
        <p:txBody>
          <a:bodyPr wrap="square" anchor="ctr">
            <a:spAutoFit/>
          </a:bodyPr>
          <a:lstStyle/>
          <a:p>
            <a:pPr algn="l">
              <a:lnSpc>
                <a:spcPct val="105000"/>
              </a:lnSpc>
              <a:spcAft>
                <a:spcPts val="600"/>
              </a:spcAft>
            </a:pPr>
            <a:r>
              <a:rPr sz="1300" b="1">
                <a:solidFill>
                  <a:srgbClr val="111828"/>
                </a:solidFill>
                <a:latin typeface="Calibri"/>
              </a:rPr>
              <a:t>Location</a:t>
            </a:r>
          </a:p>
        </p:txBody>
      </p:sp>
      <p:sp>
        <p:nvSpPr>
          <p:cNvPr id="19" name="TextBox 18"/>
          <p:cNvSpPr txBox="1"/>
          <p:nvPr/>
        </p:nvSpPr>
        <p:spPr>
          <a:xfrm>
            <a:off x="6766560" y="4581144"/>
            <a:ext cx="4754880" cy="457200"/>
          </a:xfrm>
          <a:prstGeom prst="rect">
            <a:avLst/>
          </a:prstGeom>
          <a:noFill/>
        </p:spPr>
        <p:txBody>
          <a:bodyPr wrap="square" anchor="ctr">
            <a:spAutoFit/>
          </a:bodyPr>
          <a:lstStyle/>
          <a:p>
            <a:pPr algn="l">
              <a:lnSpc>
                <a:spcPct val="105000"/>
              </a:lnSpc>
              <a:spcAft>
                <a:spcPts val="600"/>
              </a:spcAft>
            </a:pPr>
            <a:r>
              <a:rPr sz="1300" b="0">
                <a:solidFill>
                  <a:srgbClr val="3A3F4A"/>
                </a:solidFill>
                <a:latin typeface="Calibri"/>
              </a:rPr>
              <a:t>Karachi, Pakistan</a:t>
            </a:r>
          </a:p>
        </p:txBody>
      </p:sp>
      <p:sp>
        <p:nvSpPr>
          <p:cNvPr id="20" name="TextBox 19"/>
          <p:cNvSpPr txBox="1"/>
          <p:nvPr/>
        </p:nvSpPr>
        <p:spPr>
          <a:xfrm>
            <a:off x="4754880" y="5669280"/>
            <a:ext cx="6858000" cy="457200"/>
          </a:xfrm>
          <a:prstGeom prst="rect">
            <a:avLst/>
          </a:prstGeom>
          <a:noFill/>
        </p:spPr>
        <p:txBody>
          <a:bodyPr wrap="square" anchor="t">
            <a:spAutoFit/>
          </a:bodyPr>
          <a:lstStyle/>
          <a:p>
            <a:pPr algn="l">
              <a:lnSpc>
                <a:spcPct val="105000"/>
              </a:lnSpc>
              <a:spcAft>
                <a:spcPts val="600"/>
              </a:spcAft>
            </a:pPr>
            <a:r>
              <a:rPr sz="1100" b="0">
                <a:solidFill>
                  <a:srgbClr val="6B707A"/>
                </a:solidFill>
                <a:latin typeface="Calibri"/>
              </a:rPr>
              <a:t>Applying for NIC Karachi incubation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