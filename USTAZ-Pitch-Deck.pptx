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8138160" y="0"/>
            <a:ext cx="4050791" cy="6858000"/>
          </a:xfrm>
          <a:prstGeom prst="rect">
            <a:avLst/>
          </a:prstGeom>
          <a:solidFill>
            <a:srgbClr val="1118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10058400" y="2194560"/>
            <a:ext cx="2468880" cy="2468880"/>
          </a:xfrm>
          <a:prstGeom prst="ellipse">
            <a:avLst/>
          </a:prstGeom>
          <a:solidFill>
            <a:srgbClr val="DB4B0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9326880" y="4206240"/>
            <a:ext cx="1097280" cy="1097280"/>
          </a:xfrm>
          <a:prstGeom prst="ellipse">
            <a:avLst/>
          </a:prstGeom>
          <a:solidFill>
            <a:srgbClr val="1D26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22960" y="2286000"/>
            <a:ext cx="128016" cy="1828800"/>
          </a:xfrm>
          <a:prstGeom prst="rect">
            <a:avLst/>
          </a:prstGeom>
          <a:solidFill>
            <a:srgbClr val="DB4B0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143000" y="2240280"/>
            <a:ext cx="6400800" cy="2011680"/>
          </a:xfrm>
          <a:prstGeom prst="rect">
            <a:avLst/>
          </a:prstGeom>
          <a:noFill/>
        </p:spPr>
        <p:txBody>
          <a:bodyPr wrap="square" anchor="t">
            <a:spAutoFit/>
          </a:bodyPr>
          <a:lstStyle/>
          <a:p>
            <a:pPr algn="l">
              <a:lnSpc>
                <a:spcPct val="105000"/>
              </a:lnSpc>
              <a:spcAft>
                <a:spcPts val="1000"/>
              </a:spcAft>
            </a:pPr>
            <a:r>
              <a:rPr sz="6600" b="1">
                <a:solidFill>
                  <a:srgbClr val="111828"/>
                </a:solidFill>
                <a:latin typeface="Calibri"/>
              </a:rPr>
              <a:t>USTAZ</a:t>
            </a:r>
          </a:p>
          <a:p>
            <a:pPr algn="l">
              <a:lnSpc>
                <a:spcPct val="105000"/>
              </a:lnSpc>
              <a:spcAft>
                <a:spcPts val="1000"/>
              </a:spcAft>
            </a:pPr>
            <a:r>
              <a:rPr sz="2000" b="1">
                <a:solidFill>
                  <a:srgbClr val="DB4B0D"/>
                </a:solidFill>
                <a:latin typeface="Calibri"/>
              </a:rPr>
              <a:t>Trusted home-service professionals, on demand.</a:t>
            </a:r>
          </a:p>
        </p:txBody>
      </p:sp>
      <p:sp>
        <p:nvSpPr>
          <p:cNvPr id="8" name="TextBox 7"/>
          <p:cNvSpPr txBox="1"/>
          <p:nvPr/>
        </p:nvSpPr>
        <p:spPr>
          <a:xfrm>
            <a:off x="1170432" y="4160520"/>
            <a:ext cx="6400800" cy="1463040"/>
          </a:xfrm>
          <a:prstGeom prst="rect">
            <a:avLst/>
          </a:prstGeom>
          <a:noFill/>
        </p:spPr>
        <p:txBody>
          <a:bodyPr wrap="square" anchor="t">
            <a:spAutoFit/>
          </a:bodyPr>
          <a:lstStyle/>
          <a:p>
            <a:pPr algn="l">
              <a:lnSpc>
                <a:spcPct val="105000"/>
              </a:lnSpc>
              <a:spcAft>
                <a:spcPts val="400"/>
              </a:spcAft>
            </a:pPr>
            <a:r>
              <a:rPr sz="1400" b="0">
                <a:solidFill>
                  <a:srgbClr val="3A3F4A"/>
                </a:solidFill>
                <a:latin typeface="Calibri"/>
              </a:rPr>
              <a:t>Pakistan's verified marketplace for electricians, plumbers, carpenters,</a:t>
            </a:r>
          </a:p>
          <a:p>
            <a:pPr algn="l">
              <a:lnSpc>
                <a:spcPct val="105000"/>
              </a:lnSpc>
              <a:spcAft>
                <a:spcPts val="400"/>
              </a:spcAft>
            </a:pPr>
            <a:r>
              <a:rPr sz="1400" b="0">
                <a:solidFill>
                  <a:srgbClr val="3A3F4A"/>
                </a:solidFill>
                <a:latin typeface="Calibri"/>
              </a:rPr>
              <a:t>AC, solar &amp; cleaning — with live tracking and a 3-day work guarantee.</a:t>
            </a:r>
          </a:p>
        </p:txBody>
      </p:sp>
      <p:sp>
        <p:nvSpPr>
          <p:cNvPr id="9" name="TextBox 8"/>
          <p:cNvSpPr txBox="1"/>
          <p:nvPr/>
        </p:nvSpPr>
        <p:spPr>
          <a:xfrm>
            <a:off x="1170432" y="5486400"/>
            <a:ext cx="6400800" cy="457200"/>
          </a:xfrm>
          <a:prstGeom prst="rect">
            <a:avLst/>
          </a:prstGeom>
          <a:noFill/>
        </p:spPr>
        <p:txBody>
          <a:bodyPr wrap="square" anchor="t">
            <a:spAutoFit/>
          </a:bodyPr>
          <a:lstStyle/>
          <a:p>
            <a:pPr algn="l">
              <a:lnSpc>
                <a:spcPct val="105000"/>
              </a:lnSpc>
              <a:spcAft>
                <a:spcPts val="600"/>
              </a:spcAft>
            </a:pPr>
            <a:r>
              <a:rPr sz="1300" b="1">
                <a:solidFill>
                  <a:srgbClr val="DB4B0D"/>
                </a:solidFill>
                <a:latin typeface="Calibri"/>
              </a:rPr>
              <a:t>● Live MVP:  </a:t>
            </a:r>
            <a:r>
              <a:rPr sz="1300" b="1">
                <a:solidFill>
                  <a:srgbClr val="111828"/>
                </a:solidFill>
                <a:latin typeface="Calibri"/>
              </a:rPr>
              <a:t>ustaz-bice.vercel.app</a:t>
            </a:r>
          </a:p>
        </p:txBody>
      </p:sp>
      <p:sp>
        <p:nvSpPr>
          <p:cNvPr id="10" name="TextBox 9"/>
          <p:cNvSpPr txBox="1"/>
          <p:nvPr/>
        </p:nvSpPr>
        <p:spPr>
          <a:xfrm>
            <a:off x="8138160" y="5120640"/>
            <a:ext cx="4050791" cy="457200"/>
          </a:xfrm>
          <a:prstGeom prst="rect">
            <a:avLst/>
          </a:prstGeom>
          <a:noFill/>
        </p:spPr>
        <p:txBody>
          <a:bodyPr wrap="square" anchor="t">
            <a:spAutoFit/>
          </a:bodyPr>
          <a:lstStyle/>
          <a:p>
            <a:pPr algn="ctr">
              <a:lnSpc>
                <a:spcPct val="105000"/>
              </a:lnSpc>
              <a:spcAft>
                <a:spcPts val="600"/>
              </a:spcAft>
            </a:pPr>
            <a:r>
              <a:rPr sz="1100" b="0">
                <a:solidFill>
                  <a:srgbClr val="CFD3DA"/>
                </a:solidFill>
                <a:latin typeface="Calibri"/>
              </a:rPr>
              <a:t>Applying for NIC Karachi incubation</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118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1097280" y="4846320"/>
            <a:ext cx="2926080" cy="2926080"/>
          </a:xfrm>
          <a:prstGeom prst="ellipse">
            <a:avLst/>
          </a:prstGeom>
          <a:solidFill>
            <a:srgbClr val="DB4B0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10607040" y="-1280160"/>
            <a:ext cx="3108960" cy="3108960"/>
          </a:xfrm>
          <a:prstGeom prst="ellipse">
            <a:avLst/>
          </a:prstGeom>
          <a:solidFill>
            <a:srgbClr val="1D26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97280" y="2286000"/>
            <a:ext cx="10058400" cy="1097280"/>
          </a:xfrm>
          <a:prstGeom prst="rect">
            <a:avLst/>
          </a:prstGeom>
          <a:noFill/>
        </p:spPr>
        <p:txBody>
          <a:bodyPr wrap="square" anchor="t">
            <a:spAutoFit/>
          </a:bodyPr>
          <a:lstStyle/>
          <a:p>
            <a:pPr algn="l">
              <a:lnSpc>
                <a:spcPct val="105000"/>
              </a:lnSpc>
              <a:spcAft>
                <a:spcPts val="400"/>
              </a:spcAft>
            </a:pPr>
            <a:r>
              <a:rPr sz="1400" b="1">
                <a:solidFill>
                  <a:srgbClr val="DB4B0D"/>
                </a:solidFill>
                <a:latin typeface="Calibri"/>
              </a:rPr>
              <a:t>OUR VISION</a:t>
            </a:r>
          </a:p>
          <a:p>
            <a:pPr algn="l">
              <a:lnSpc>
                <a:spcPct val="105000"/>
              </a:lnSpc>
              <a:spcAft>
                <a:spcPts val="400"/>
              </a:spcAft>
            </a:pPr>
            <a:r>
              <a:rPr sz="4800" b="1">
                <a:solidFill>
                  <a:srgbClr val="FFFFFF"/>
                </a:solidFill>
                <a:latin typeface="Calibri"/>
              </a:rPr>
              <a:t>Vision</a:t>
            </a:r>
          </a:p>
        </p:txBody>
      </p:sp>
      <p:sp>
        <p:nvSpPr>
          <p:cNvPr id="6" name="TextBox 5"/>
          <p:cNvSpPr txBox="1"/>
          <p:nvPr/>
        </p:nvSpPr>
        <p:spPr>
          <a:xfrm>
            <a:off x="1143000" y="3840480"/>
            <a:ext cx="9601200" cy="1828800"/>
          </a:xfrm>
          <a:prstGeom prst="rect">
            <a:avLst/>
          </a:prstGeom>
          <a:noFill/>
        </p:spPr>
        <p:txBody>
          <a:bodyPr wrap="square" anchor="t">
            <a:spAutoFit/>
          </a:bodyPr>
          <a:lstStyle/>
          <a:p>
            <a:pPr algn="l">
              <a:lnSpc>
                <a:spcPct val="115000"/>
              </a:lnSpc>
              <a:spcAft>
                <a:spcPts val="800"/>
              </a:spcAft>
            </a:pPr>
            <a:r>
              <a:rPr sz="1700" b="0">
                <a:solidFill>
                  <a:srgbClr val="CFD3DA"/>
                </a:solidFill>
                <a:latin typeface="Calibri"/>
              </a:rPr>
              <a:t>Making trusted home services as easy to book as a ride — across Pakistan.</a:t>
            </a:r>
          </a:p>
          <a:p>
            <a:pPr algn="l">
              <a:lnSpc>
                <a:spcPct val="115000"/>
              </a:lnSpc>
              <a:spcAft>
                <a:spcPts val="800"/>
              </a:spcAft>
            </a:pPr>
            <a:r>
              <a:rPr sz="1700" b="0">
                <a:solidFill>
                  <a:srgbClr val="CFD3DA"/>
                </a:solidFill>
                <a:latin typeface="Calibri"/>
              </a:rPr>
              <a:t>Because today, a family lets an unknown stranger into their home and hopes for the best.</a:t>
            </a:r>
          </a:p>
          <a:p>
            <a:pPr algn="l">
              <a:lnSpc>
                <a:spcPct val="115000"/>
              </a:lnSpc>
              <a:spcAft>
                <a:spcPts val="800"/>
              </a:spcAft>
            </a:pPr>
            <a:r>
              <a:rPr sz="1700" b="0">
                <a:solidFill>
                  <a:srgbClr val="CFD3DA"/>
                </a:solidFill>
                <a:latin typeface="Calibri"/>
              </a:rPr>
              <a:t>We are transforming an informal, trust-deficient market into a verified, real-time, accountable platform —</a:t>
            </a:r>
          </a:p>
          <a:p>
            <a:pPr algn="l">
              <a:lnSpc>
                <a:spcPct val="115000"/>
              </a:lnSpc>
              <a:spcAft>
                <a:spcPts val="800"/>
              </a:spcAft>
            </a:pPr>
            <a:r>
              <a:rPr sz="1700" b="0">
                <a:solidFill>
                  <a:srgbClr val="CFD3DA"/>
                </a:solidFill>
                <a:latin typeface="Calibri"/>
              </a:rPr>
              <a:t>and bringing dignity, steady digital income, and a portable reputation to Pakistan's millions of unrecognized tradesmen.</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57200" y="640080"/>
            <a:ext cx="109728" cy="1051560"/>
          </a:xfrm>
          <a:prstGeom prst="rect">
            <a:avLst/>
          </a:prstGeom>
          <a:solidFill>
            <a:srgbClr val="DB4B0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11155680" y="-548640"/>
            <a:ext cx="1645920" cy="1645920"/>
          </a:xfrm>
          <a:prstGeom prst="ellipse">
            <a:avLst/>
          </a:prstGeom>
          <a:solidFill>
            <a:srgbClr val="FCEE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566928"/>
            <a:ext cx="9144000" cy="365760"/>
          </a:xfrm>
          <a:prstGeom prst="rect">
            <a:avLst/>
          </a:prstGeom>
          <a:noFill/>
        </p:spPr>
        <p:txBody>
          <a:bodyPr wrap="square" anchor="t">
            <a:spAutoFit/>
          </a:bodyPr>
          <a:lstStyle/>
          <a:p>
            <a:pPr algn="l">
              <a:lnSpc>
                <a:spcPct val="105000"/>
              </a:lnSpc>
              <a:spcAft>
                <a:spcPts val="600"/>
              </a:spcAft>
            </a:pPr>
            <a:r>
              <a:rPr sz="1200" b="1">
                <a:solidFill>
                  <a:srgbClr val="DB4B0D"/>
                </a:solidFill>
                <a:latin typeface="Calibri"/>
              </a:rPr>
              <a:t>3. TEAM &amp; CURRENT TRACTION</a:t>
            </a:r>
          </a:p>
        </p:txBody>
      </p:sp>
      <p:sp>
        <p:nvSpPr>
          <p:cNvPr id="6" name="TextBox 5"/>
          <p:cNvSpPr txBox="1"/>
          <p:nvPr/>
        </p:nvSpPr>
        <p:spPr>
          <a:xfrm>
            <a:off x="713232" y="914400"/>
            <a:ext cx="10515600" cy="822960"/>
          </a:xfrm>
          <a:prstGeom prst="rect">
            <a:avLst/>
          </a:prstGeom>
          <a:noFill/>
        </p:spPr>
        <p:txBody>
          <a:bodyPr wrap="square" anchor="t">
            <a:spAutoFit/>
          </a:bodyPr>
          <a:lstStyle/>
          <a:p>
            <a:pPr algn="l">
              <a:lnSpc>
                <a:spcPct val="105000"/>
              </a:lnSpc>
              <a:spcAft>
                <a:spcPts val="600"/>
              </a:spcAft>
            </a:pPr>
            <a:r>
              <a:rPr sz="3000" b="1">
                <a:solidFill>
                  <a:srgbClr val="111828"/>
                </a:solidFill>
                <a:latin typeface="Calibri"/>
              </a:rPr>
              <a:t>Who's building it — and what's already shipped</a:t>
            </a:r>
          </a:p>
        </p:txBody>
      </p:sp>
      <p:sp>
        <p:nvSpPr>
          <p:cNvPr id="7" name="TextBox 6"/>
          <p:cNvSpPr txBox="1"/>
          <p:nvPr/>
        </p:nvSpPr>
        <p:spPr>
          <a:xfrm>
            <a:off x="731520" y="1664208"/>
            <a:ext cx="10698480" cy="914400"/>
          </a:xfrm>
          <a:prstGeom prst="rect">
            <a:avLst/>
          </a:prstGeom>
          <a:noFill/>
        </p:spPr>
        <p:txBody>
          <a:bodyPr wrap="square" anchor="t">
            <a:spAutoFit/>
          </a:bodyPr>
          <a:lstStyle/>
          <a:p>
            <a:pPr algn="l">
              <a:lnSpc>
                <a:spcPct val="108000"/>
              </a:lnSpc>
              <a:spcAft>
                <a:spcPts val="300"/>
              </a:spcAft>
            </a:pPr>
            <a:r>
              <a:rPr sz="1400" b="1">
                <a:solidFill>
                  <a:srgbClr val="DB4B0D"/>
                </a:solidFill>
                <a:latin typeface="Calibri"/>
              </a:rPr>
              <a:t>Team — </a:t>
            </a:r>
            <a:r>
              <a:rPr sz="1400" b="1">
                <a:solidFill>
                  <a:srgbClr val="111828"/>
                </a:solidFill>
                <a:latin typeface="Calibri"/>
              </a:rPr>
              <a:t>3 co-founders: CEO/Tech · Product &amp; Finance · CMO/Design.</a:t>
            </a:r>
          </a:p>
          <a:p>
            <a:pPr algn="l">
              <a:lnSpc>
                <a:spcPct val="108000"/>
              </a:lnSpc>
              <a:spcAft>
                <a:spcPts val="300"/>
              </a:spcAft>
            </a:pPr>
            <a:r>
              <a:rPr sz="1200" b="0">
                <a:solidFill>
                  <a:srgbClr val="3A3F4A"/>
                </a:solidFill>
                <a:latin typeface="Calibri"/>
              </a:rPr>
              <a:t>Marjan Ahmed — full-stack engineer, built the entire platform solo at 17 (GIAIC Senior · Agentic-AI engineer, Filion Capital · AI-finance hackathon winner).</a:t>
            </a:r>
          </a:p>
        </p:txBody>
      </p:sp>
      <p:sp>
        <p:nvSpPr>
          <p:cNvPr id="8" name="TextBox 7"/>
          <p:cNvSpPr txBox="1"/>
          <p:nvPr/>
        </p:nvSpPr>
        <p:spPr>
          <a:xfrm>
            <a:off x="731520" y="2743200"/>
            <a:ext cx="6675120" cy="3657600"/>
          </a:xfrm>
          <a:prstGeom prst="rect">
            <a:avLst/>
          </a:prstGeom>
          <a:noFill/>
        </p:spPr>
        <p:txBody>
          <a:bodyPr wrap="square">
            <a:spAutoFit/>
          </a:bodyPr>
          <a:lstStyle/>
          <a:p>
            <a:pPr>
              <a:lnSpc>
                <a:spcPct val="105000"/>
              </a:lnSpc>
              <a:spcAft>
                <a:spcPts val="900"/>
              </a:spcAft>
            </a:pPr>
            <a:r>
              <a:rPr sz="1300" b="1">
                <a:solidFill>
                  <a:srgbClr val="DB4B0D"/>
                </a:solidFill>
                <a:latin typeface="Calibri"/>
              </a:rPr>
              <a:t>▸  </a:t>
            </a:r>
            <a:r>
              <a:rPr sz="1300" b="1">
                <a:solidFill>
                  <a:srgbClr val="111828"/>
                </a:solidFill>
                <a:latin typeface="Calibri"/>
              </a:rPr>
              <a:t>Built product — </a:t>
            </a:r>
            <a:r>
              <a:rPr sz="1300" b="0">
                <a:solidFill>
                  <a:srgbClr val="3A3F4A"/>
                </a:solidFill>
                <a:latin typeface="Calibri"/>
              </a:rPr>
              <a:t>live MVP + installable PWA at ustaz-bice.vercel.app (not a prototype or mockup).</a:t>
            </a:r>
          </a:p>
          <a:p>
            <a:pPr>
              <a:lnSpc>
                <a:spcPct val="105000"/>
              </a:lnSpc>
              <a:spcAft>
                <a:spcPts val="900"/>
              </a:spcAft>
            </a:pPr>
            <a:r>
              <a:rPr sz="1300" b="1">
                <a:solidFill>
                  <a:srgbClr val="DB4B0D"/>
                </a:solidFill>
                <a:latin typeface="Calibri"/>
              </a:rPr>
              <a:t>▸  </a:t>
            </a:r>
            <a:r>
              <a:rPr sz="1300" b="1">
                <a:solidFill>
                  <a:srgbClr val="111828"/>
                </a:solidFill>
                <a:latin typeface="Calibri"/>
              </a:rPr>
              <a:t>8+ core systems live — </a:t>
            </a:r>
            <a:r>
              <a:rPr sz="1300" b="0">
                <a:solidFill>
                  <a:srgbClr val="3A3F4A"/>
                </a:solidFill>
                <a:latin typeface="Calibri"/>
              </a:rPr>
              <a:t>phone-OTP auth, PostGIS matching, live GPS tracking, chat + push, prepaid wallet &amp; commission, 3-day warranty, ratings, admin portal.</a:t>
            </a:r>
          </a:p>
          <a:p>
            <a:pPr>
              <a:lnSpc>
                <a:spcPct val="105000"/>
              </a:lnSpc>
              <a:spcAft>
                <a:spcPts val="900"/>
              </a:spcAft>
            </a:pPr>
            <a:r>
              <a:rPr sz="1300" b="1">
                <a:solidFill>
                  <a:srgbClr val="DB4B0D"/>
                </a:solidFill>
                <a:latin typeface="Calibri"/>
              </a:rPr>
              <a:t>▸  </a:t>
            </a:r>
            <a:r>
              <a:rPr sz="1300" b="1">
                <a:solidFill>
                  <a:srgbClr val="111828"/>
                </a:solidFill>
                <a:latin typeface="Calibri"/>
              </a:rPr>
              <a:t>Security-hardened — </a:t>
            </a:r>
            <a:r>
              <a:rPr sz="1300" b="0">
                <a:solidFill>
                  <a:srgbClr val="3A3F4A"/>
                </a:solidFill>
                <a:latin typeface="Calibri"/>
              </a:rPr>
              <a:t>RLS on every table + SECURITY DEFINER RPCs, senior-reviewed auth.</a:t>
            </a:r>
          </a:p>
          <a:p>
            <a:pPr>
              <a:lnSpc>
                <a:spcPct val="105000"/>
              </a:lnSpc>
              <a:spcAft>
                <a:spcPts val="900"/>
              </a:spcAft>
            </a:pPr>
            <a:r>
              <a:rPr sz="1300" b="1">
                <a:solidFill>
                  <a:srgbClr val="DB4B0D"/>
                </a:solidFill>
                <a:latin typeface="Calibri"/>
              </a:rPr>
              <a:t>▸  </a:t>
            </a:r>
            <a:r>
              <a:rPr sz="1300" b="1">
                <a:solidFill>
                  <a:srgbClr val="111828"/>
                </a:solidFill>
                <a:latin typeface="Calibri"/>
              </a:rPr>
              <a:t>Self-funded, built solo — </a:t>
            </a:r>
            <a:r>
              <a:rPr sz="1300" b="0">
                <a:solidFill>
                  <a:srgbClr val="3A3F4A"/>
                </a:solidFill>
                <a:latin typeface="Calibri"/>
              </a:rPr>
              <a:t>zero external capital spent to reach a production-grade platform.</a:t>
            </a:r>
          </a:p>
          <a:p>
            <a:pPr>
              <a:lnSpc>
                <a:spcPct val="105000"/>
              </a:lnSpc>
              <a:spcAft>
                <a:spcPts val="900"/>
              </a:spcAft>
            </a:pPr>
            <a:r>
              <a:rPr sz="1300" b="1">
                <a:solidFill>
                  <a:srgbClr val="DB4B0D"/>
                </a:solidFill>
                <a:latin typeface="Calibri"/>
              </a:rPr>
              <a:t>▸  </a:t>
            </a:r>
            <a:r>
              <a:rPr sz="1300" b="1">
                <a:solidFill>
                  <a:srgbClr val="111828"/>
                </a:solidFill>
                <a:latin typeface="Calibri"/>
              </a:rPr>
              <a:t>Pilot — </a:t>
            </a:r>
            <a:r>
              <a:rPr sz="1300" b="0">
                <a:solidFill>
                  <a:srgbClr val="3A3F4A"/>
                </a:solidFill>
                <a:latin typeface="Calibri"/>
              </a:rPr>
              <a:t>live in Karachi, onboarding the first providers now (applying to NIC Karachi).</a:t>
            </a:r>
          </a:p>
        </p:txBody>
      </p:sp>
      <p:sp>
        <p:nvSpPr>
          <p:cNvPr id="9" name="Rectangle 8"/>
          <p:cNvSpPr/>
          <p:nvPr/>
        </p:nvSpPr>
        <p:spPr>
          <a:xfrm>
            <a:off x="7818120" y="2743200"/>
            <a:ext cx="3611880" cy="2788920"/>
          </a:xfrm>
          <a:prstGeom prst="rect">
            <a:avLst/>
          </a:prstGeom>
          <a:solidFill>
            <a:srgbClr val="1118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818120" y="2743200"/>
            <a:ext cx="3611880" cy="109728"/>
          </a:xfrm>
          <a:prstGeom prst="rect">
            <a:avLst/>
          </a:prstGeom>
          <a:solidFill>
            <a:srgbClr val="DB4B0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092440" y="2999232"/>
            <a:ext cx="3108960" cy="2468880"/>
          </a:xfrm>
          <a:prstGeom prst="rect">
            <a:avLst/>
          </a:prstGeom>
          <a:noFill/>
        </p:spPr>
        <p:txBody>
          <a:bodyPr wrap="square" anchor="t">
            <a:spAutoFit/>
          </a:bodyPr>
          <a:lstStyle/>
          <a:p>
            <a:pPr algn="l">
              <a:lnSpc>
                <a:spcPct val="105000"/>
              </a:lnSpc>
              <a:spcAft>
                <a:spcPts val="600"/>
              </a:spcAft>
            </a:pPr>
            <a:r>
              <a:rPr sz="1200" b="1">
                <a:solidFill>
                  <a:srgbClr val="DB4B0D"/>
                </a:solidFill>
                <a:latin typeface="Calibri"/>
              </a:rPr>
              <a:t>Built &amp; shipped — solo</a:t>
            </a:r>
          </a:p>
          <a:p>
            <a:pPr algn="l">
              <a:lnSpc>
                <a:spcPct val="105000"/>
              </a:lnSpc>
              <a:spcAft>
                <a:spcPts val="600"/>
              </a:spcAft>
            </a:pPr>
            <a:r>
              <a:rPr sz="2800" b="1">
                <a:solidFill>
                  <a:srgbClr val="FFFFFF"/>
                </a:solidFill>
                <a:latin typeface="Calibri"/>
              </a:rPr>
              <a:t>6</a:t>
            </a:r>
            <a:r>
              <a:rPr sz="1150" b="0">
                <a:solidFill>
                  <a:srgbClr val="CFD3DA"/>
                </a:solidFill>
                <a:latin typeface="Calibri"/>
              </a:rPr>
              <a:t>  service categories</a:t>
            </a:r>
          </a:p>
          <a:p>
            <a:pPr algn="l">
              <a:lnSpc>
                <a:spcPct val="105000"/>
              </a:lnSpc>
              <a:spcAft>
                <a:spcPts val="600"/>
              </a:spcAft>
            </a:pPr>
            <a:r>
              <a:rPr sz="2600" b="1">
                <a:solidFill>
                  <a:srgbClr val="FFFFFF"/>
                </a:solidFill>
                <a:latin typeface="Calibri"/>
              </a:rPr>
              <a:t>8+</a:t>
            </a:r>
            <a:r>
              <a:rPr sz="1150" b="0">
                <a:solidFill>
                  <a:srgbClr val="CFD3DA"/>
                </a:solidFill>
                <a:latin typeface="Calibri"/>
              </a:rPr>
              <a:t>  core systems live</a:t>
            </a:r>
          </a:p>
          <a:p>
            <a:pPr algn="l">
              <a:lnSpc>
                <a:spcPct val="105000"/>
              </a:lnSpc>
              <a:spcAft>
                <a:spcPts val="600"/>
              </a:spcAft>
            </a:pPr>
            <a:r>
              <a:rPr sz="2300" b="1">
                <a:solidFill>
                  <a:srgbClr val="FFFFFF"/>
                </a:solidFill>
                <a:latin typeface="Calibri"/>
              </a:rPr>
              <a:t>100%</a:t>
            </a:r>
            <a:r>
              <a:rPr sz="1150" b="0">
                <a:solidFill>
                  <a:srgbClr val="CFD3DA"/>
                </a:solidFill>
                <a:latin typeface="Calibri"/>
              </a:rPr>
              <a:t>  RLS-secured tables</a:t>
            </a:r>
          </a:p>
          <a:p>
            <a:pPr algn="l">
              <a:lnSpc>
                <a:spcPct val="105000"/>
              </a:lnSpc>
              <a:spcAft>
                <a:spcPts val="600"/>
              </a:spcAft>
            </a:pPr>
            <a:r>
              <a:rPr sz="2300" b="1">
                <a:solidFill>
                  <a:srgbClr val="FFFFFF"/>
                </a:solidFill>
                <a:latin typeface="Calibri"/>
              </a:rPr>
              <a:t>Rs. 0</a:t>
            </a:r>
            <a:r>
              <a:rPr sz="1150" b="0">
                <a:solidFill>
                  <a:srgbClr val="CFD3DA"/>
                </a:solidFill>
                <a:latin typeface="Calibri"/>
              </a:rPr>
              <a:t>  external capital raised</a:t>
            </a:r>
          </a:p>
        </p:txBody>
      </p:sp>
      <p:sp>
        <p:nvSpPr>
          <p:cNvPr id="12" name="TextBox 11"/>
          <p:cNvSpPr txBox="1"/>
          <p:nvPr/>
        </p:nvSpPr>
        <p:spPr>
          <a:xfrm>
            <a:off x="457200" y="6446520"/>
            <a:ext cx="7315200" cy="320040"/>
          </a:xfrm>
          <a:prstGeom prst="rect">
            <a:avLst/>
          </a:prstGeom>
          <a:noFill/>
        </p:spPr>
        <p:txBody>
          <a:bodyPr wrap="square" anchor="t">
            <a:spAutoFit/>
          </a:bodyPr>
          <a:lstStyle/>
          <a:p>
            <a:pPr algn="l">
              <a:lnSpc>
                <a:spcPct val="105000"/>
              </a:lnSpc>
              <a:spcAft>
                <a:spcPts val="600"/>
              </a:spcAft>
            </a:pPr>
            <a:r>
              <a:rPr sz="900" b="1">
                <a:solidFill>
                  <a:srgbClr val="DB4B0D"/>
                </a:solidFill>
                <a:latin typeface="Calibri"/>
              </a:rPr>
              <a:t>USTAZ</a:t>
            </a:r>
            <a:r>
              <a:rPr sz="900" b="0">
                <a:solidFill>
                  <a:srgbClr val="6B707A"/>
                </a:solidFill>
                <a:latin typeface="Calibri"/>
              </a:rPr>
              <a:t>   ustaz-bice.vercel.app</a:t>
            </a:r>
          </a:p>
        </p:txBody>
      </p:sp>
      <p:sp>
        <p:nvSpPr>
          <p:cNvPr id="13" name="TextBox 12"/>
          <p:cNvSpPr txBox="1"/>
          <p:nvPr/>
        </p:nvSpPr>
        <p:spPr>
          <a:xfrm>
            <a:off x="11338560" y="6446520"/>
            <a:ext cx="548640" cy="320040"/>
          </a:xfrm>
          <a:prstGeom prst="rect">
            <a:avLst/>
          </a:prstGeom>
          <a:noFill/>
        </p:spPr>
        <p:txBody>
          <a:bodyPr wrap="square" anchor="t">
            <a:spAutoFit/>
          </a:bodyPr>
          <a:lstStyle/>
          <a:p>
            <a:pPr algn="r">
              <a:lnSpc>
                <a:spcPct val="105000"/>
              </a:lnSpc>
              <a:spcAft>
                <a:spcPts val="600"/>
              </a:spcAft>
            </a:pPr>
            <a:r>
              <a:rPr sz="900" b="1">
                <a:solidFill>
                  <a:srgbClr val="6B707A"/>
                </a:solidFill>
                <a:latin typeface="Calibri"/>
              </a:rPr>
              <a:t>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57200" y="640080"/>
            <a:ext cx="109728" cy="1051560"/>
          </a:xfrm>
          <a:prstGeom prst="rect">
            <a:avLst/>
          </a:prstGeom>
          <a:solidFill>
            <a:srgbClr val="DB4B0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11155680" y="-548640"/>
            <a:ext cx="1645920" cy="1645920"/>
          </a:xfrm>
          <a:prstGeom prst="ellipse">
            <a:avLst/>
          </a:prstGeom>
          <a:solidFill>
            <a:srgbClr val="FCEE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566928"/>
            <a:ext cx="9144000" cy="365760"/>
          </a:xfrm>
          <a:prstGeom prst="rect">
            <a:avLst/>
          </a:prstGeom>
          <a:noFill/>
        </p:spPr>
        <p:txBody>
          <a:bodyPr wrap="square" anchor="t">
            <a:spAutoFit/>
          </a:bodyPr>
          <a:lstStyle/>
          <a:p>
            <a:pPr algn="l">
              <a:lnSpc>
                <a:spcPct val="105000"/>
              </a:lnSpc>
              <a:spcAft>
                <a:spcPts val="600"/>
              </a:spcAft>
            </a:pPr>
            <a:r>
              <a:rPr sz="1200" b="1">
                <a:solidFill>
                  <a:srgbClr val="DB4B0D"/>
                </a:solidFill>
                <a:latin typeface="Calibri"/>
              </a:rPr>
              <a:t>4. PROBLEM &amp; CUSTOMER PAIN POINTS</a:t>
            </a:r>
          </a:p>
        </p:txBody>
      </p:sp>
      <p:sp>
        <p:nvSpPr>
          <p:cNvPr id="6" name="TextBox 5"/>
          <p:cNvSpPr txBox="1"/>
          <p:nvPr/>
        </p:nvSpPr>
        <p:spPr>
          <a:xfrm>
            <a:off x="713232" y="914400"/>
            <a:ext cx="10515600" cy="822960"/>
          </a:xfrm>
          <a:prstGeom prst="rect">
            <a:avLst/>
          </a:prstGeom>
          <a:noFill/>
        </p:spPr>
        <p:txBody>
          <a:bodyPr wrap="square" anchor="t">
            <a:spAutoFit/>
          </a:bodyPr>
          <a:lstStyle/>
          <a:p>
            <a:pPr algn="l">
              <a:lnSpc>
                <a:spcPct val="105000"/>
              </a:lnSpc>
              <a:spcAft>
                <a:spcPts val="600"/>
              </a:spcAft>
            </a:pPr>
            <a:r>
              <a:rPr sz="3000" b="1">
                <a:solidFill>
                  <a:srgbClr val="111828"/>
                </a:solidFill>
                <a:latin typeface="Calibri"/>
              </a:rPr>
              <a:t>Home services in Pakistan are broken on trust</a:t>
            </a:r>
          </a:p>
        </p:txBody>
      </p:sp>
      <p:sp>
        <p:nvSpPr>
          <p:cNvPr id="7" name="TextBox 6"/>
          <p:cNvSpPr txBox="1"/>
          <p:nvPr/>
        </p:nvSpPr>
        <p:spPr>
          <a:xfrm>
            <a:off x="731520" y="1737360"/>
            <a:ext cx="10607040" cy="731520"/>
          </a:xfrm>
          <a:prstGeom prst="rect">
            <a:avLst/>
          </a:prstGeom>
          <a:noFill/>
        </p:spPr>
        <p:txBody>
          <a:bodyPr wrap="square" anchor="t">
            <a:spAutoFit/>
          </a:bodyPr>
          <a:lstStyle/>
          <a:p>
            <a:pPr algn="l">
              <a:lnSpc>
                <a:spcPct val="112000"/>
              </a:lnSpc>
              <a:spcAft>
                <a:spcPts val="600"/>
              </a:spcAft>
            </a:pPr>
            <a:r>
              <a:rPr sz="1400" b="1">
                <a:solidFill>
                  <a:srgbClr val="DB4B0D"/>
                </a:solidFill>
                <a:latin typeface="Calibri"/>
              </a:rPr>
              <a:t>The anxiety: </a:t>
            </a:r>
            <a:r>
              <a:rPr sz="1300" b="0">
                <a:solidFill>
                  <a:srgbClr val="3A3F4A"/>
                </a:solidFill>
                <a:latin typeface="Calibri"/>
              </a:rPr>
              <a:t>a Karachi mother's AC dies in the June heat. She must let an unknown man into her home, with no idea who he is, what he'll charge, when he'll arrive, or whether it'll break again tomorrow.</a:t>
            </a:r>
          </a:p>
        </p:txBody>
      </p:sp>
      <p:sp>
        <p:nvSpPr>
          <p:cNvPr id="8" name="Rectangle 7"/>
          <p:cNvSpPr/>
          <p:nvPr/>
        </p:nvSpPr>
        <p:spPr>
          <a:xfrm>
            <a:off x="731520" y="2606040"/>
            <a:ext cx="109728" cy="548640"/>
          </a:xfrm>
          <a:prstGeom prst="rect">
            <a:avLst/>
          </a:prstGeom>
          <a:solidFill>
            <a:srgbClr val="DB4B0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60120" y="2606040"/>
            <a:ext cx="2926080" cy="548640"/>
          </a:xfrm>
          <a:prstGeom prst="rect">
            <a:avLst/>
          </a:prstGeom>
          <a:noFill/>
        </p:spPr>
        <p:txBody>
          <a:bodyPr wrap="square" anchor="ctr">
            <a:spAutoFit/>
          </a:bodyPr>
          <a:lstStyle/>
          <a:p>
            <a:pPr algn="l">
              <a:lnSpc>
                <a:spcPct val="105000"/>
              </a:lnSpc>
              <a:spcAft>
                <a:spcPts val="600"/>
              </a:spcAft>
            </a:pPr>
            <a:r>
              <a:rPr sz="1300" b="1">
                <a:solidFill>
                  <a:srgbClr val="111828"/>
                </a:solidFill>
                <a:latin typeface="Calibri"/>
              </a:rPr>
              <a:t>No verification</a:t>
            </a:r>
          </a:p>
        </p:txBody>
      </p:sp>
      <p:sp>
        <p:nvSpPr>
          <p:cNvPr id="10" name="Rectangle 9"/>
          <p:cNvSpPr/>
          <p:nvPr/>
        </p:nvSpPr>
        <p:spPr>
          <a:xfrm>
            <a:off x="3977639" y="2679192"/>
            <a:ext cx="1783080" cy="402336"/>
          </a:xfrm>
          <a:prstGeom prst="rect">
            <a:avLst/>
          </a:prstGeom>
          <a:solidFill>
            <a:srgbClr val="FCEE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3977639" y="2679192"/>
            <a:ext cx="1783080" cy="402336"/>
          </a:xfrm>
          <a:prstGeom prst="rect">
            <a:avLst/>
          </a:prstGeom>
          <a:noFill/>
        </p:spPr>
        <p:txBody>
          <a:bodyPr wrap="square" anchor="ctr">
            <a:spAutoFit/>
          </a:bodyPr>
          <a:lstStyle/>
          <a:p>
            <a:pPr algn="ctr">
              <a:lnSpc>
                <a:spcPct val="105000"/>
              </a:lnSpc>
              <a:spcAft>
                <a:spcPts val="600"/>
              </a:spcAft>
            </a:pPr>
            <a:r>
              <a:rPr sz="1050" b="1">
                <a:solidFill>
                  <a:srgbClr val="DB4B0D"/>
                </a:solidFill>
                <a:latin typeface="Calibri"/>
              </a:rPr>
              <a:t>Support</a:t>
            </a:r>
          </a:p>
        </p:txBody>
      </p:sp>
      <p:sp>
        <p:nvSpPr>
          <p:cNvPr id="12" name="TextBox 11"/>
          <p:cNvSpPr txBox="1"/>
          <p:nvPr/>
        </p:nvSpPr>
        <p:spPr>
          <a:xfrm>
            <a:off x="5943600" y="2606040"/>
            <a:ext cx="5486400" cy="548640"/>
          </a:xfrm>
          <a:prstGeom prst="rect">
            <a:avLst/>
          </a:prstGeom>
          <a:noFill/>
        </p:spPr>
        <p:txBody>
          <a:bodyPr wrap="square" anchor="ctr">
            <a:spAutoFit/>
          </a:bodyPr>
          <a:lstStyle/>
          <a:p>
            <a:pPr algn="l">
              <a:lnSpc>
                <a:spcPct val="100000"/>
              </a:lnSpc>
              <a:spcAft>
                <a:spcPts val="600"/>
              </a:spcAft>
            </a:pPr>
            <a:r>
              <a:rPr sz="1150" b="0">
                <a:solidFill>
                  <a:srgbClr val="3A3F4A"/>
                </a:solidFill>
                <a:latin typeface="Calibri"/>
              </a:rPr>
              <a:t>An unknown stranger in your home — no identity check, no accountability.</a:t>
            </a:r>
          </a:p>
        </p:txBody>
      </p:sp>
      <p:sp>
        <p:nvSpPr>
          <p:cNvPr id="13" name="Rectangle 12"/>
          <p:cNvSpPr/>
          <p:nvPr/>
        </p:nvSpPr>
        <p:spPr>
          <a:xfrm>
            <a:off x="731520" y="3209544"/>
            <a:ext cx="109728" cy="548640"/>
          </a:xfrm>
          <a:prstGeom prst="rect">
            <a:avLst/>
          </a:prstGeom>
          <a:solidFill>
            <a:srgbClr val="DB4B0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60120" y="3209544"/>
            <a:ext cx="2926080" cy="548640"/>
          </a:xfrm>
          <a:prstGeom prst="rect">
            <a:avLst/>
          </a:prstGeom>
          <a:noFill/>
        </p:spPr>
        <p:txBody>
          <a:bodyPr wrap="square" anchor="ctr">
            <a:spAutoFit/>
          </a:bodyPr>
          <a:lstStyle/>
          <a:p>
            <a:pPr algn="l">
              <a:lnSpc>
                <a:spcPct val="105000"/>
              </a:lnSpc>
              <a:spcAft>
                <a:spcPts val="600"/>
              </a:spcAft>
            </a:pPr>
            <a:r>
              <a:rPr sz="1300" b="1">
                <a:solidFill>
                  <a:srgbClr val="111828"/>
                </a:solidFill>
                <a:latin typeface="Calibri"/>
              </a:rPr>
              <a:t>Opaque pricing</a:t>
            </a:r>
          </a:p>
        </p:txBody>
      </p:sp>
      <p:sp>
        <p:nvSpPr>
          <p:cNvPr id="15" name="Rectangle 14"/>
          <p:cNvSpPr/>
          <p:nvPr/>
        </p:nvSpPr>
        <p:spPr>
          <a:xfrm>
            <a:off x="3977639" y="3282696"/>
            <a:ext cx="1783080" cy="402336"/>
          </a:xfrm>
          <a:prstGeom prst="rect">
            <a:avLst/>
          </a:prstGeom>
          <a:solidFill>
            <a:srgbClr val="FCEE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977639" y="3282696"/>
            <a:ext cx="1783080" cy="402336"/>
          </a:xfrm>
          <a:prstGeom prst="rect">
            <a:avLst/>
          </a:prstGeom>
          <a:noFill/>
        </p:spPr>
        <p:txBody>
          <a:bodyPr wrap="square" anchor="ctr">
            <a:spAutoFit/>
          </a:bodyPr>
          <a:lstStyle/>
          <a:p>
            <a:pPr algn="ctr">
              <a:lnSpc>
                <a:spcPct val="105000"/>
              </a:lnSpc>
              <a:spcAft>
                <a:spcPts val="600"/>
              </a:spcAft>
            </a:pPr>
            <a:r>
              <a:rPr sz="1050" b="1">
                <a:solidFill>
                  <a:srgbClr val="DB4B0D"/>
                </a:solidFill>
                <a:latin typeface="Calibri"/>
              </a:rPr>
              <a:t>Financial</a:t>
            </a:r>
          </a:p>
        </p:txBody>
      </p:sp>
      <p:sp>
        <p:nvSpPr>
          <p:cNvPr id="17" name="TextBox 16"/>
          <p:cNvSpPr txBox="1"/>
          <p:nvPr/>
        </p:nvSpPr>
        <p:spPr>
          <a:xfrm>
            <a:off x="5943600" y="3209544"/>
            <a:ext cx="5486400" cy="548640"/>
          </a:xfrm>
          <a:prstGeom prst="rect">
            <a:avLst/>
          </a:prstGeom>
          <a:noFill/>
        </p:spPr>
        <p:txBody>
          <a:bodyPr wrap="square" anchor="ctr">
            <a:spAutoFit/>
          </a:bodyPr>
          <a:lstStyle/>
          <a:p>
            <a:pPr algn="l">
              <a:lnSpc>
                <a:spcPct val="100000"/>
              </a:lnSpc>
              <a:spcAft>
                <a:spcPts val="600"/>
              </a:spcAft>
            </a:pPr>
            <a:r>
              <a:rPr sz="1150" b="0">
                <a:solidFill>
                  <a:srgbClr val="3A3F4A"/>
                </a:solidFill>
                <a:latin typeface="Calibri"/>
              </a:rPr>
              <a:t>Overcharging is routine — no standard rates, no upfront quote, no receipt.</a:t>
            </a:r>
          </a:p>
        </p:txBody>
      </p:sp>
      <p:sp>
        <p:nvSpPr>
          <p:cNvPr id="18" name="Rectangle 17"/>
          <p:cNvSpPr/>
          <p:nvPr/>
        </p:nvSpPr>
        <p:spPr>
          <a:xfrm>
            <a:off x="731520" y="3813048"/>
            <a:ext cx="109728" cy="548640"/>
          </a:xfrm>
          <a:prstGeom prst="rect">
            <a:avLst/>
          </a:prstGeom>
          <a:solidFill>
            <a:srgbClr val="DB4B0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60120" y="3813048"/>
            <a:ext cx="2926080" cy="548640"/>
          </a:xfrm>
          <a:prstGeom prst="rect">
            <a:avLst/>
          </a:prstGeom>
          <a:noFill/>
        </p:spPr>
        <p:txBody>
          <a:bodyPr wrap="square" anchor="ctr">
            <a:spAutoFit/>
          </a:bodyPr>
          <a:lstStyle/>
          <a:p>
            <a:pPr algn="l">
              <a:lnSpc>
                <a:spcPct val="105000"/>
              </a:lnSpc>
              <a:spcAft>
                <a:spcPts val="600"/>
              </a:spcAft>
            </a:pPr>
            <a:r>
              <a:rPr sz="1300" b="1">
                <a:solidFill>
                  <a:srgbClr val="111828"/>
                </a:solidFill>
                <a:latin typeface="Calibri"/>
              </a:rPr>
              <a:t>No recourse / guarantee</a:t>
            </a:r>
          </a:p>
        </p:txBody>
      </p:sp>
      <p:sp>
        <p:nvSpPr>
          <p:cNvPr id="20" name="Rectangle 19"/>
          <p:cNvSpPr/>
          <p:nvPr/>
        </p:nvSpPr>
        <p:spPr>
          <a:xfrm>
            <a:off x="3977639" y="3886200"/>
            <a:ext cx="1783080" cy="402336"/>
          </a:xfrm>
          <a:prstGeom prst="rect">
            <a:avLst/>
          </a:prstGeom>
          <a:solidFill>
            <a:srgbClr val="FCEE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3977639" y="3886200"/>
            <a:ext cx="1783080" cy="402336"/>
          </a:xfrm>
          <a:prstGeom prst="rect">
            <a:avLst/>
          </a:prstGeom>
          <a:noFill/>
        </p:spPr>
        <p:txBody>
          <a:bodyPr wrap="square" anchor="ctr">
            <a:spAutoFit/>
          </a:bodyPr>
          <a:lstStyle/>
          <a:p>
            <a:pPr algn="ctr">
              <a:lnSpc>
                <a:spcPct val="105000"/>
              </a:lnSpc>
              <a:spcAft>
                <a:spcPts val="600"/>
              </a:spcAft>
            </a:pPr>
            <a:r>
              <a:rPr sz="1050" b="1">
                <a:solidFill>
                  <a:srgbClr val="DB4B0D"/>
                </a:solidFill>
                <a:latin typeface="Calibri"/>
              </a:rPr>
              <a:t>Process</a:t>
            </a:r>
          </a:p>
        </p:txBody>
      </p:sp>
      <p:sp>
        <p:nvSpPr>
          <p:cNvPr id="22" name="TextBox 21"/>
          <p:cNvSpPr txBox="1"/>
          <p:nvPr/>
        </p:nvSpPr>
        <p:spPr>
          <a:xfrm>
            <a:off x="5943600" y="3813048"/>
            <a:ext cx="5486400" cy="548640"/>
          </a:xfrm>
          <a:prstGeom prst="rect">
            <a:avLst/>
          </a:prstGeom>
          <a:noFill/>
        </p:spPr>
        <p:txBody>
          <a:bodyPr wrap="square" anchor="ctr">
            <a:spAutoFit/>
          </a:bodyPr>
          <a:lstStyle/>
          <a:p>
            <a:pPr algn="l">
              <a:lnSpc>
                <a:spcPct val="100000"/>
              </a:lnSpc>
              <a:spcAft>
                <a:spcPts val="600"/>
              </a:spcAft>
            </a:pPr>
            <a:r>
              <a:rPr sz="1150" b="0">
                <a:solidFill>
                  <a:srgbClr val="3A3F4A"/>
                </a:solidFill>
                <a:latin typeface="Calibri"/>
              </a:rPr>
              <a:t>If the work fails a day later, the worker vanishes — broken workflow.</a:t>
            </a:r>
          </a:p>
        </p:txBody>
      </p:sp>
      <p:sp>
        <p:nvSpPr>
          <p:cNvPr id="23" name="Rectangle 22"/>
          <p:cNvSpPr/>
          <p:nvPr/>
        </p:nvSpPr>
        <p:spPr>
          <a:xfrm>
            <a:off x="731520" y="4416552"/>
            <a:ext cx="109728" cy="548640"/>
          </a:xfrm>
          <a:prstGeom prst="rect">
            <a:avLst/>
          </a:prstGeom>
          <a:solidFill>
            <a:srgbClr val="DB4B0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960120" y="4416552"/>
            <a:ext cx="2926080" cy="548640"/>
          </a:xfrm>
          <a:prstGeom prst="rect">
            <a:avLst/>
          </a:prstGeom>
          <a:noFill/>
        </p:spPr>
        <p:txBody>
          <a:bodyPr wrap="square" anchor="ctr">
            <a:spAutoFit/>
          </a:bodyPr>
          <a:lstStyle/>
          <a:p>
            <a:pPr algn="l">
              <a:lnSpc>
                <a:spcPct val="105000"/>
              </a:lnSpc>
              <a:spcAft>
                <a:spcPts val="600"/>
              </a:spcAft>
            </a:pPr>
            <a:r>
              <a:rPr sz="1300" b="1">
                <a:solidFill>
                  <a:srgbClr val="111828"/>
                </a:solidFill>
                <a:latin typeface="Calibri"/>
              </a:rPr>
              <a:t>No visibility / ETA</a:t>
            </a:r>
          </a:p>
        </p:txBody>
      </p:sp>
      <p:sp>
        <p:nvSpPr>
          <p:cNvPr id="25" name="Rectangle 24"/>
          <p:cNvSpPr/>
          <p:nvPr/>
        </p:nvSpPr>
        <p:spPr>
          <a:xfrm>
            <a:off x="3977639" y="4489704"/>
            <a:ext cx="1783080" cy="402336"/>
          </a:xfrm>
          <a:prstGeom prst="rect">
            <a:avLst/>
          </a:prstGeom>
          <a:solidFill>
            <a:srgbClr val="FCEE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3977639" y="4489704"/>
            <a:ext cx="1783080" cy="402336"/>
          </a:xfrm>
          <a:prstGeom prst="rect">
            <a:avLst/>
          </a:prstGeom>
          <a:noFill/>
        </p:spPr>
        <p:txBody>
          <a:bodyPr wrap="square" anchor="ctr">
            <a:spAutoFit/>
          </a:bodyPr>
          <a:lstStyle/>
          <a:p>
            <a:pPr algn="ctr">
              <a:lnSpc>
                <a:spcPct val="105000"/>
              </a:lnSpc>
              <a:spcAft>
                <a:spcPts val="600"/>
              </a:spcAft>
            </a:pPr>
            <a:r>
              <a:rPr sz="1050" b="1">
                <a:solidFill>
                  <a:srgbClr val="DB4B0D"/>
                </a:solidFill>
                <a:latin typeface="Calibri"/>
              </a:rPr>
              <a:t>Productivity</a:t>
            </a:r>
          </a:p>
        </p:txBody>
      </p:sp>
      <p:sp>
        <p:nvSpPr>
          <p:cNvPr id="27" name="TextBox 26"/>
          <p:cNvSpPr txBox="1"/>
          <p:nvPr/>
        </p:nvSpPr>
        <p:spPr>
          <a:xfrm>
            <a:off x="5943600" y="4416552"/>
            <a:ext cx="5486400" cy="548640"/>
          </a:xfrm>
          <a:prstGeom prst="rect">
            <a:avLst/>
          </a:prstGeom>
          <a:noFill/>
        </p:spPr>
        <p:txBody>
          <a:bodyPr wrap="square" anchor="ctr">
            <a:spAutoFit/>
          </a:bodyPr>
          <a:lstStyle/>
          <a:p>
            <a:pPr algn="l">
              <a:lnSpc>
                <a:spcPct val="100000"/>
              </a:lnSpc>
              <a:spcAft>
                <a:spcPts val="600"/>
              </a:spcAft>
            </a:pPr>
            <a:r>
              <a:rPr sz="1150" b="0">
                <a:solidFill>
                  <a:srgbClr val="3A3F4A"/>
                </a:solidFill>
                <a:latin typeface="Calibri"/>
              </a:rPr>
              <a:t>“He's on the way” means waiting blind for hours — like a ride with no map.</a:t>
            </a:r>
          </a:p>
        </p:txBody>
      </p:sp>
      <p:sp>
        <p:nvSpPr>
          <p:cNvPr id="28" name="Rectangle 27"/>
          <p:cNvSpPr/>
          <p:nvPr/>
        </p:nvSpPr>
        <p:spPr>
          <a:xfrm>
            <a:off x="731520" y="5020056"/>
            <a:ext cx="109728" cy="548640"/>
          </a:xfrm>
          <a:prstGeom prst="rect">
            <a:avLst/>
          </a:prstGeom>
          <a:solidFill>
            <a:srgbClr val="DB4B0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960120" y="5020056"/>
            <a:ext cx="2926080" cy="548640"/>
          </a:xfrm>
          <a:prstGeom prst="rect">
            <a:avLst/>
          </a:prstGeom>
          <a:noFill/>
        </p:spPr>
        <p:txBody>
          <a:bodyPr wrap="square" anchor="ctr">
            <a:spAutoFit/>
          </a:bodyPr>
          <a:lstStyle/>
          <a:p>
            <a:pPr algn="l">
              <a:lnSpc>
                <a:spcPct val="105000"/>
              </a:lnSpc>
              <a:spcAft>
                <a:spcPts val="600"/>
              </a:spcAft>
            </a:pPr>
            <a:r>
              <a:rPr sz="1300" b="1">
                <a:solidFill>
                  <a:srgbClr val="111828"/>
                </a:solidFill>
                <a:latin typeface="Calibri"/>
              </a:rPr>
              <a:t>Supply side ignored</a:t>
            </a:r>
          </a:p>
        </p:txBody>
      </p:sp>
      <p:sp>
        <p:nvSpPr>
          <p:cNvPr id="30" name="Rectangle 29"/>
          <p:cNvSpPr/>
          <p:nvPr/>
        </p:nvSpPr>
        <p:spPr>
          <a:xfrm>
            <a:off x="3977639" y="5093208"/>
            <a:ext cx="1783080" cy="402336"/>
          </a:xfrm>
          <a:prstGeom prst="rect">
            <a:avLst/>
          </a:prstGeom>
          <a:solidFill>
            <a:srgbClr val="FCEE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3977639" y="5093208"/>
            <a:ext cx="1783080" cy="402336"/>
          </a:xfrm>
          <a:prstGeom prst="rect">
            <a:avLst/>
          </a:prstGeom>
          <a:noFill/>
        </p:spPr>
        <p:txBody>
          <a:bodyPr wrap="square" anchor="ctr">
            <a:spAutoFit/>
          </a:bodyPr>
          <a:lstStyle/>
          <a:p>
            <a:pPr algn="ctr">
              <a:lnSpc>
                <a:spcPct val="105000"/>
              </a:lnSpc>
              <a:spcAft>
                <a:spcPts val="600"/>
              </a:spcAft>
            </a:pPr>
            <a:r>
              <a:rPr sz="1050" b="1">
                <a:solidFill>
                  <a:srgbClr val="DB4B0D"/>
                </a:solidFill>
                <a:latin typeface="Calibri"/>
              </a:rPr>
              <a:t>Financial + Process</a:t>
            </a:r>
          </a:p>
        </p:txBody>
      </p:sp>
      <p:sp>
        <p:nvSpPr>
          <p:cNvPr id="32" name="TextBox 31"/>
          <p:cNvSpPr txBox="1"/>
          <p:nvPr/>
        </p:nvSpPr>
        <p:spPr>
          <a:xfrm>
            <a:off x="5943600" y="5020056"/>
            <a:ext cx="5486400" cy="548640"/>
          </a:xfrm>
          <a:prstGeom prst="rect">
            <a:avLst/>
          </a:prstGeom>
          <a:noFill/>
        </p:spPr>
        <p:txBody>
          <a:bodyPr wrap="square" anchor="ctr">
            <a:spAutoFit/>
          </a:bodyPr>
          <a:lstStyle/>
          <a:p>
            <a:pPr algn="l">
              <a:lnSpc>
                <a:spcPct val="100000"/>
              </a:lnSpc>
              <a:spcAft>
                <a:spcPts val="600"/>
              </a:spcAft>
            </a:pPr>
            <a:r>
              <a:rPr sz="1150" b="0">
                <a:solidFill>
                  <a:srgbClr val="3A3F4A"/>
                </a:solidFill>
                <a:latin typeface="Calibri"/>
              </a:rPr>
              <a:t>Skilled workers have no steady demand, no digital reach, no portable reputation.</a:t>
            </a:r>
          </a:p>
        </p:txBody>
      </p:sp>
      <p:sp>
        <p:nvSpPr>
          <p:cNvPr id="33" name="TextBox 32"/>
          <p:cNvSpPr txBox="1"/>
          <p:nvPr/>
        </p:nvSpPr>
        <p:spPr>
          <a:xfrm>
            <a:off x="731520" y="5760720"/>
            <a:ext cx="10607040" cy="457200"/>
          </a:xfrm>
          <a:prstGeom prst="rect">
            <a:avLst/>
          </a:prstGeom>
          <a:noFill/>
        </p:spPr>
        <p:txBody>
          <a:bodyPr wrap="square" anchor="t">
            <a:spAutoFit/>
          </a:bodyPr>
          <a:lstStyle/>
          <a:p>
            <a:pPr algn="l">
              <a:lnSpc>
                <a:spcPct val="105000"/>
              </a:lnSpc>
              <a:spcAft>
                <a:spcPts val="600"/>
              </a:spcAft>
            </a:pPr>
            <a:r>
              <a:rPr sz="1100" b="1">
                <a:solidFill>
                  <a:srgbClr val="111828"/>
                </a:solidFill>
                <a:latin typeface="Calibri"/>
              </a:rPr>
              <a:t>Pain mapped to NIC's four categories — Financial · Productivity · Process · Support.</a:t>
            </a:r>
          </a:p>
        </p:txBody>
      </p:sp>
      <p:sp>
        <p:nvSpPr>
          <p:cNvPr id="34" name="TextBox 33"/>
          <p:cNvSpPr txBox="1"/>
          <p:nvPr/>
        </p:nvSpPr>
        <p:spPr>
          <a:xfrm>
            <a:off x="457200" y="6446520"/>
            <a:ext cx="7315200" cy="320040"/>
          </a:xfrm>
          <a:prstGeom prst="rect">
            <a:avLst/>
          </a:prstGeom>
          <a:noFill/>
        </p:spPr>
        <p:txBody>
          <a:bodyPr wrap="square" anchor="t">
            <a:spAutoFit/>
          </a:bodyPr>
          <a:lstStyle/>
          <a:p>
            <a:pPr algn="l">
              <a:lnSpc>
                <a:spcPct val="105000"/>
              </a:lnSpc>
              <a:spcAft>
                <a:spcPts val="600"/>
              </a:spcAft>
            </a:pPr>
            <a:r>
              <a:rPr sz="900" b="1">
                <a:solidFill>
                  <a:srgbClr val="DB4B0D"/>
                </a:solidFill>
                <a:latin typeface="Calibri"/>
              </a:rPr>
              <a:t>USTAZ</a:t>
            </a:r>
            <a:r>
              <a:rPr sz="900" b="0">
                <a:solidFill>
                  <a:srgbClr val="6B707A"/>
                </a:solidFill>
                <a:latin typeface="Calibri"/>
              </a:rPr>
              <a:t>   ustaz-bice.vercel.app</a:t>
            </a:r>
          </a:p>
        </p:txBody>
      </p:sp>
      <p:sp>
        <p:nvSpPr>
          <p:cNvPr id="35" name="TextBox 34"/>
          <p:cNvSpPr txBox="1"/>
          <p:nvPr/>
        </p:nvSpPr>
        <p:spPr>
          <a:xfrm>
            <a:off x="11338560" y="6446520"/>
            <a:ext cx="548640" cy="320040"/>
          </a:xfrm>
          <a:prstGeom prst="rect">
            <a:avLst/>
          </a:prstGeom>
          <a:noFill/>
        </p:spPr>
        <p:txBody>
          <a:bodyPr wrap="square" anchor="t">
            <a:spAutoFit/>
          </a:bodyPr>
          <a:lstStyle/>
          <a:p>
            <a:pPr algn="r">
              <a:lnSpc>
                <a:spcPct val="105000"/>
              </a:lnSpc>
              <a:spcAft>
                <a:spcPts val="600"/>
              </a:spcAft>
            </a:pPr>
            <a:r>
              <a:rPr sz="900" b="1">
                <a:solidFill>
                  <a:srgbClr val="6B707A"/>
                </a:solidFill>
                <a:latin typeface="Calibri"/>
              </a:rPr>
              <a:t>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57200" y="640080"/>
            <a:ext cx="109728" cy="1051560"/>
          </a:xfrm>
          <a:prstGeom prst="rect">
            <a:avLst/>
          </a:prstGeom>
          <a:solidFill>
            <a:srgbClr val="DB4B0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11155680" y="-548640"/>
            <a:ext cx="1645920" cy="1645920"/>
          </a:xfrm>
          <a:prstGeom prst="ellipse">
            <a:avLst/>
          </a:prstGeom>
          <a:solidFill>
            <a:srgbClr val="FCEE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566928"/>
            <a:ext cx="9144000" cy="365760"/>
          </a:xfrm>
          <a:prstGeom prst="rect">
            <a:avLst/>
          </a:prstGeom>
          <a:noFill/>
        </p:spPr>
        <p:txBody>
          <a:bodyPr wrap="square" anchor="t">
            <a:spAutoFit/>
          </a:bodyPr>
          <a:lstStyle/>
          <a:p>
            <a:pPr algn="l">
              <a:lnSpc>
                <a:spcPct val="105000"/>
              </a:lnSpc>
              <a:spcAft>
                <a:spcPts val="600"/>
              </a:spcAft>
            </a:pPr>
            <a:r>
              <a:rPr sz="1200" b="1">
                <a:solidFill>
                  <a:srgbClr val="DB4B0D"/>
                </a:solidFill>
                <a:latin typeface="Calibri"/>
              </a:rPr>
              <a:t>5. SOLUTION &amp; MVP</a:t>
            </a:r>
          </a:p>
        </p:txBody>
      </p:sp>
      <p:sp>
        <p:nvSpPr>
          <p:cNvPr id="6" name="TextBox 5"/>
          <p:cNvSpPr txBox="1"/>
          <p:nvPr/>
        </p:nvSpPr>
        <p:spPr>
          <a:xfrm>
            <a:off x="713232" y="914400"/>
            <a:ext cx="10515600" cy="822960"/>
          </a:xfrm>
          <a:prstGeom prst="rect">
            <a:avLst/>
          </a:prstGeom>
          <a:noFill/>
        </p:spPr>
        <p:txBody>
          <a:bodyPr wrap="square" anchor="t">
            <a:spAutoFit/>
          </a:bodyPr>
          <a:lstStyle/>
          <a:p>
            <a:pPr algn="l">
              <a:lnSpc>
                <a:spcPct val="105000"/>
              </a:lnSpc>
              <a:spcAft>
                <a:spcPts val="600"/>
              </a:spcAft>
            </a:pPr>
            <a:r>
              <a:rPr sz="3000" b="1">
                <a:solidFill>
                  <a:srgbClr val="111828"/>
                </a:solidFill>
                <a:latin typeface="Calibri"/>
              </a:rPr>
              <a:t>Verified. Tracked. Guaranteed.</a:t>
            </a:r>
          </a:p>
        </p:txBody>
      </p:sp>
      <p:sp>
        <p:nvSpPr>
          <p:cNvPr id="7" name="TextBox 6"/>
          <p:cNvSpPr txBox="1"/>
          <p:nvPr/>
        </p:nvSpPr>
        <p:spPr>
          <a:xfrm>
            <a:off x="731520" y="1783080"/>
            <a:ext cx="10515600" cy="457200"/>
          </a:xfrm>
          <a:prstGeom prst="rect">
            <a:avLst/>
          </a:prstGeom>
          <a:noFill/>
        </p:spPr>
        <p:txBody>
          <a:bodyPr wrap="square" anchor="t">
            <a:spAutoFit/>
          </a:bodyPr>
          <a:lstStyle/>
          <a:p>
            <a:pPr algn="l">
              <a:lnSpc>
                <a:spcPct val="105000"/>
              </a:lnSpc>
              <a:spcAft>
                <a:spcPts val="600"/>
              </a:spcAft>
            </a:pPr>
            <a:r>
              <a:rPr sz="1600" b="1">
                <a:solidFill>
                  <a:srgbClr val="DB4B0D"/>
                </a:solidFill>
                <a:latin typeface="Calibri"/>
              </a:rPr>
              <a:t>An on-demand marketplace of verified pros, matched by location and tracked live.</a:t>
            </a:r>
          </a:p>
        </p:txBody>
      </p:sp>
      <p:sp>
        <p:nvSpPr>
          <p:cNvPr id="8" name="Rectangle 7"/>
          <p:cNvSpPr/>
          <p:nvPr/>
        </p:nvSpPr>
        <p:spPr>
          <a:xfrm>
            <a:off x="731520" y="2468880"/>
            <a:ext cx="3383280" cy="2286000"/>
          </a:xfrm>
          <a:prstGeom prst="rect">
            <a:avLst/>
          </a:prstGeom>
          <a:solidFill>
            <a:srgbClr val="FCEE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60120" y="2697480"/>
            <a:ext cx="640080" cy="640080"/>
          </a:xfrm>
          <a:prstGeom prst="ellipse">
            <a:avLst/>
          </a:prstGeom>
          <a:solidFill>
            <a:srgbClr val="DB4B0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60120" y="2743200"/>
            <a:ext cx="640080" cy="548640"/>
          </a:xfrm>
          <a:prstGeom prst="rect">
            <a:avLst/>
          </a:prstGeom>
          <a:noFill/>
        </p:spPr>
        <p:txBody>
          <a:bodyPr wrap="square" anchor="ctr">
            <a:spAutoFit/>
          </a:bodyPr>
          <a:lstStyle/>
          <a:p>
            <a:pPr algn="ctr">
              <a:lnSpc>
                <a:spcPct val="105000"/>
              </a:lnSpc>
              <a:spcAft>
                <a:spcPts val="600"/>
              </a:spcAft>
            </a:pPr>
            <a:r>
              <a:rPr sz="2200" b="1">
                <a:solidFill>
                  <a:srgbClr val="FFFFFF"/>
                </a:solidFill>
                <a:latin typeface="Calibri"/>
              </a:rPr>
              <a:t>1</a:t>
            </a:r>
          </a:p>
        </p:txBody>
      </p:sp>
      <p:sp>
        <p:nvSpPr>
          <p:cNvPr id="11" name="TextBox 10"/>
          <p:cNvSpPr txBox="1"/>
          <p:nvPr/>
        </p:nvSpPr>
        <p:spPr>
          <a:xfrm>
            <a:off x="960120" y="3520440"/>
            <a:ext cx="2926080" cy="1188720"/>
          </a:xfrm>
          <a:prstGeom prst="rect">
            <a:avLst/>
          </a:prstGeom>
          <a:noFill/>
        </p:spPr>
        <p:txBody>
          <a:bodyPr wrap="square" anchor="t">
            <a:spAutoFit/>
          </a:bodyPr>
          <a:lstStyle/>
          <a:p>
            <a:pPr algn="l">
              <a:lnSpc>
                <a:spcPct val="108000"/>
              </a:lnSpc>
              <a:spcAft>
                <a:spcPts val="600"/>
              </a:spcAft>
            </a:pPr>
            <a:r>
              <a:rPr sz="1450" b="1">
                <a:solidFill>
                  <a:srgbClr val="111828"/>
                </a:solidFill>
                <a:latin typeface="Calibri"/>
              </a:rPr>
              <a:t>Pick a service &amp; location</a:t>
            </a:r>
          </a:p>
          <a:p>
            <a:pPr algn="l">
              <a:lnSpc>
                <a:spcPct val="108000"/>
              </a:lnSpc>
              <a:spcAft>
                <a:spcPts val="600"/>
              </a:spcAft>
            </a:pPr>
            <a:r>
              <a:rPr sz="1150" b="0">
                <a:solidFill>
                  <a:srgbClr val="3A3F4A"/>
                </a:solidFill>
                <a:latin typeface="Calibri"/>
              </a:rPr>
              <a:t>Choose from electrician, plumber, carpenter, AC, solar or cleaning — set your spot on the map.</a:t>
            </a:r>
          </a:p>
        </p:txBody>
      </p:sp>
      <p:sp>
        <p:nvSpPr>
          <p:cNvPr id="12" name="Rectangle 11"/>
          <p:cNvSpPr/>
          <p:nvPr/>
        </p:nvSpPr>
        <p:spPr>
          <a:xfrm>
            <a:off x="4343400" y="2468880"/>
            <a:ext cx="3383280" cy="2286000"/>
          </a:xfrm>
          <a:prstGeom prst="rect">
            <a:avLst/>
          </a:prstGeom>
          <a:solidFill>
            <a:srgbClr val="FCEE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4572000" y="2697480"/>
            <a:ext cx="640080" cy="640080"/>
          </a:xfrm>
          <a:prstGeom prst="ellipse">
            <a:avLst/>
          </a:prstGeom>
          <a:solidFill>
            <a:srgbClr val="DB4B0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72000" y="2743200"/>
            <a:ext cx="640080" cy="548640"/>
          </a:xfrm>
          <a:prstGeom prst="rect">
            <a:avLst/>
          </a:prstGeom>
          <a:noFill/>
        </p:spPr>
        <p:txBody>
          <a:bodyPr wrap="square" anchor="ctr">
            <a:spAutoFit/>
          </a:bodyPr>
          <a:lstStyle/>
          <a:p>
            <a:pPr algn="ctr">
              <a:lnSpc>
                <a:spcPct val="105000"/>
              </a:lnSpc>
              <a:spcAft>
                <a:spcPts val="600"/>
              </a:spcAft>
            </a:pPr>
            <a:r>
              <a:rPr sz="2200" b="1">
                <a:solidFill>
                  <a:srgbClr val="FFFFFF"/>
                </a:solidFill>
                <a:latin typeface="Calibri"/>
              </a:rPr>
              <a:t>2</a:t>
            </a:r>
          </a:p>
        </p:txBody>
      </p:sp>
      <p:sp>
        <p:nvSpPr>
          <p:cNvPr id="15" name="TextBox 14"/>
          <p:cNvSpPr txBox="1"/>
          <p:nvPr/>
        </p:nvSpPr>
        <p:spPr>
          <a:xfrm>
            <a:off x="4572000" y="3520440"/>
            <a:ext cx="2926080" cy="1188720"/>
          </a:xfrm>
          <a:prstGeom prst="rect">
            <a:avLst/>
          </a:prstGeom>
          <a:noFill/>
        </p:spPr>
        <p:txBody>
          <a:bodyPr wrap="square" anchor="t">
            <a:spAutoFit/>
          </a:bodyPr>
          <a:lstStyle/>
          <a:p>
            <a:pPr algn="l">
              <a:lnSpc>
                <a:spcPct val="108000"/>
              </a:lnSpc>
              <a:spcAft>
                <a:spcPts val="600"/>
              </a:spcAft>
            </a:pPr>
            <a:r>
              <a:rPr sz="1450" b="1">
                <a:solidFill>
                  <a:srgbClr val="111828"/>
                </a:solidFill>
                <a:latin typeface="Calibri"/>
              </a:rPr>
              <a:t>Get matched instantly</a:t>
            </a:r>
          </a:p>
          <a:p>
            <a:pPr algn="l">
              <a:lnSpc>
                <a:spcPct val="108000"/>
              </a:lnSpc>
              <a:spcAft>
                <a:spcPts val="600"/>
              </a:spcAft>
            </a:pPr>
            <a:r>
              <a:rPr sz="1150" b="0">
                <a:solidFill>
                  <a:srgbClr val="3A3F4A"/>
                </a:solidFill>
                <a:latin typeface="Calibri"/>
              </a:rPr>
              <a:t>PostGIS finds nearby phone-verified providers; they accept in real time.</a:t>
            </a:r>
          </a:p>
        </p:txBody>
      </p:sp>
      <p:sp>
        <p:nvSpPr>
          <p:cNvPr id="16" name="Rectangle 15"/>
          <p:cNvSpPr/>
          <p:nvPr/>
        </p:nvSpPr>
        <p:spPr>
          <a:xfrm>
            <a:off x="7955280" y="2468880"/>
            <a:ext cx="3383280" cy="2286000"/>
          </a:xfrm>
          <a:prstGeom prst="rect">
            <a:avLst/>
          </a:prstGeom>
          <a:solidFill>
            <a:srgbClr val="FCEE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8183880" y="2697480"/>
            <a:ext cx="640080" cy="640080"/>
          </a:xfrm>
          <a:prstGeom prst="ellipse">
            <a:avLst/>
          </a:prstGeom>
          <a:solidFill>
            <a:srgbClr val="DB4B0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183880" y="2743200"/>
            <a:ext cx="640080" cy="548640"/>
          </a:xfrm>
          <a:prstGeom prst="rect">
            <a:avLst/>
          </a:prstGeom>
          <a:noFill/>
        </p:spPr>
        <p:txBody>
          <a:bodyPr wrap="square" anchor="ctr">
            <a:spAutoFit/>
          </a:bodyPr>
          <a:lstStyle/>
          <a:p>
            <a:pPr algn="ctr">
              <a:lnSpc>
                <a:spcPct val="105000"/>
              </a:lnSpc>
              <a:spcAft>
                <a:spcPts val="600"/>
              </a:spcAft>
            </a:pPr>
            <a:r>
              <a:rPr sz="2200" b="1">
                <a:solidFill>
                  <a:srgbClr val="FFFFFF"/>
                </a:solidFill>
                <a:latin typeface="Calibri"/>
              </a:rPr>
              <a:t>3</a:t>
            </a:r>
          </a:p>
        </p:txBody>
      </p:sp>
      <p:sp>
        <p:nvSpPr>
          <p:cNvPr id="19" name="TextBox 18"/>
          <p:cNvSpPr txBox="1"/>
          <p:nvPr/>
        </p:nvSpPr>
        <p:spPr>
          <a:xfrm>
            <a:off x="8183880" y="3520440"/>
            <a:ext cx="2926080" cy="1188720"/>
          </a:xfrm>
          <a:prstGeom prst="rect">
            <a:avLst/>
          </a:prstGeom>
          <a:noFill/>
        </p:spPr>
        <p:txBody>
          <a:bodyPr wrap="square" anchor="t">
            <a:spAutoFit/>
          </a:bodyPr>
          <a:lstStyle/>
          <a:p>
            <a:pPr algn="l">
              <a:lnSpc>
                <a:spcPct val="108000"/>
              </a:lnSpc>
              <a:spcAft>
                <a:spcPts val="600"/>
              </a:spcAft>
            </a:pPr>
            <a:r>
              <a:rPr sz="1450" b="1">
                <a:solidFill>
                  <a:srgbClr val="111828"/>
                </a:solidFill>
                <a:latin typeface="Calibri"/>
              </a:rPr>
              <a:t>Track live &amp; pay on done</a:t>
            </a:r>
          </a:p>
          <a:p>
            <a:pPr algn="l">
              <a:lnSpc>
                <a:spcPct val="108000"/>
              </a:lnSpc>
              <a:spcAft>
                <a:spcPts val="600"/>
              </a:spcAft>
            </a:pPr>
            <a:r>
              <a:rPr sz="1150" b="0">
                <a:solidFill>
                  <a:srgbClr val="3A3F4A"/>
                </a:solidFill>
                <a:latin typeface="Calibri"/>
              </a:rPr>
              <a:t>Watch your pro arrive on a live map, chat in-app, pay on completion — covered by a 3-day warranty.</a:t>
            </a:r>
          </a:p>
        </p:txBody>
      </p:sp>
      <p:sp>
        <p:nvSpPr>
          <p:cNvPr id="20" name="TextBox 19"/>
          <p:cNvSpPr txBox="1"/>
          <p:nvPr/>
        </p:nvSpPr>
        <p:spPr>
          <a:xfrm>
            <a:off x="731520" y="5029200"/>
            <a:ext cx="10607040" cy="731520"/>
          </a:xfrm>
          <a:prstGeom prst="rect">
            <a:avLst/>
          </a:prstGeom>
          <a:noFill/>
        </p:spPr>
        <p:txBody>
          <a:bodyPr wrap="square" anchor="t">
            <a:spAutoFit/>
          </a:bodyPr>
          <a:lstStyle/>
          <a:p>
            <a:pPr algn="l">
              <a:lnSpc>
                <a:spcPct val="105000"/>
              </a:lnSpc>
              <a:spcAft>
                <a:spcPts val="600"/>
              </a:spcAft>
            </a:pPr>
            <a:r>
              <a:rPr sz="1300" b="1">
                <a:solidFill>
                  <a:srgbClr val="111828"/>
                </a:solidFill>
                <a:latin typeface="Calibri"/>
              </a:rPr>
              <a:t>Trust built in:  </a:t>
            </a:r>
            <a:r>
              <a:rPr sz="1300" b="0">
                <a:solidFill>
                  <a:srgbClr val="3A3F4A"/>
                </a:solidFill>
                <a:latin typeface="Calibri"/>
              </a:rPr>
              <a:t>phone-verified providers · live GPS · in-app chat &amp; push · 3-day free re-fix · two-way ratings · prepaid escrow wallet.</a:t>
            </a:r>
          </a:p>
        </p:txBody>
      </p:sp>
      <p:sp>
        <p:nvSpPr>
          <p:cNvPr id="21" name="TextBox 20"/>
          <p:cNvSpPr txBox="1"/>
          <p:nvPr/>
        </p:nvSpPr>
        <p:spPr>
          <a:xfrm>
            <a:off x="457200" y="6446520"/>
            <a:ext cx="7315200" cy="320040"/>
          </a:xfrm>
          <a:prstGeom prst="rect">
            <a:avLst/>
          </a:prstGeom>
          <a:noFill/>
        </p:spPr>
        <p:txBody>
          <a:bodyPr wrap="square" anchor="t">
            <a:spAutoFit/>
          </a:bodyPr>
          <a:lstStyle/>
          <a:p>
            <a:pPr algn="l">
              <a:lnSpc>
                <a:spcPct val="105000"/>
              </a:lnSpc>
              <a:spcAft>
                <a:spcPts val="600"/>
              </a:spcAft>
            </a:pPr>
            <a:r>
              <a:rPr sz="900" b="1">
                <a:solidFill>
                  <a:srgbClr val="DB4B0D"/>
                </a:solidFill>
                <a:latin typeface="Calibri"/>
              </a:rPr>
              <a:t>USTAZ</a:t>
            </a:r>
            <a:r>
              <a:rPr sz="900" b="0">
                <a:solidFill>
                  <a:srgbClr val="6B707A"/>
                </a:solidFill>
                <a:latin typeface="Calibri"/>
              </a:rPr>
              <a:t>   ustaz-bice.vercel.app</a:t>
            </a:r>
          </a:p>
        </p:txBody>
      </p:sp>
      <p:sp>
        <p:nvSpPr>
          <p:cNvPr id="22" name="TextBox 21"/>
          <p:cNvSpPr txBox="1"/>
          <p:nvPr/>
        </p:nvSpPr>
        <p:spPr>
          <a:xfrm>
            <a:off x="11338560" y="6446520"/>
            <a:ext cx="548640" cy="320040"/>
          </a:xfrm>
          <a:prstGeom prst="rect">
            <a:avLst/>
          </a:prstGeom>
          <a:noFill/>
        </p:spPr>
        <p:txBody>
          <a:bodyPr wrap="square" anchor="t">
            <a:spAutoFit/>
          </a:bodyPr>
          <a:lstStyle/>
          <a:p>
            <a:pPr algn="r">
              <a:lnSpc>
                <a:spcPct val="105000"/>
              </a:lnSpc>
              <a:spcAft>
                <a:spcPts val="600"/>
              </a:spcAft>
            </a:pPr>
            <a:r>
              <a:rPr sz="900" b="1">
                <a:solidFill>
                  <a:srgbClr val="6B707A"/>
                </a:solidFill>
                <a:latin typeface="Calibri"/>
              </a:rPr>
              <a:t>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57200" y="640080"/>
            <a:ext cx="109728" cy="1051560"/>
          </a:xfrm>
          <a:prstGeom prst="rect">
            <a:avLst/>
          </a:prstGeom>
          <a:solidFill>
            <a:srgbClr val="DB4B0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11155680" y="-548640"/>
            <a:ext cx="1645920" cy="1645920"/>
          </a:xfrm>
          <a:prstGeom prst="ellipse">
            <a:avLst/>
          </a:prstGeom>
          <a:solidFill>
            <a:srgbClr val="FCEE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566928"/>
            <a:ext cx="9144000" cy="365760"/>
          </a:xfrm>
          <a:prstGeom prst="rect">
            <a:avLst/>
          </a:prstGeom>
          <a:noFill/>
        </p:spPr>
        <p:txBody>
          <a:bodyPr wrap="square" anchor="t">
            <a:spAutoFit/>
          </a:bodyPr>
          <a:lstStyle/>
          <a:p>
            <a:pPr algn="l">
              <a:lnSpc>
                <a:spcPct val="105000"/>
              </a:lnSpc>
              <a:spcAft>
                <a:spcPts val="600"/>
              </a:spcAft>
            </a:pPr>
            <a:r>
              <a:rPr sz="1200" b="1">
                <a:solidFill>
                  <a:srgbClr val="DB4B0D"/>
                </a:solidFill>
                <a:latin typeface="Calibri"/>
              </a:rPr>
              <a:t>5 · TECH STACK &amp; PRODUCT ROADMAP</a:t>
            </a:r>
          </a:p>
        </p:txBody>
      </p:sp>
      <p:sp>
        <p:nvSpPr>
          <p:cNvPr id="6" name="TextBox 5"/>
          <p:cNvSpPr txBox="1"/>
          <p:nvPr/>
        </p:nvSpPr>
        <p:spPr>
          <a:xfrm>
            <a:off x="713232" y="914400"/>
            <a:ext cx="10515600" cy="822960"/>
          </a:xfrm>
          <a:prstGeom prst="rect">
            <a:avLst/>
          </a:prstGeom>
          <a:noFill/>
        </p:spPr>
        <p:txBody>
          <a:bodyPr wrap="square" anchor="t">
            <a:spAutoFit/>
          </a:bodyPr>
          <a:lstStyle/>
          <a:p>
            <a:pPr algn="l">
              <a:lnSpc>
                <a:spcPct val="105000"/>
              </a:lnSpc>
              <a:spcAft>
                <a:spcPts val="600"/>
              </a:spcAft>
            </a:pPr>
            <a:r>
              <a:rPr sz="3000" b="1">
                <a:solidFill>
                  <a:srgbClr val="111828"/>
                </a:solidFill>
                <a:latin typeface="Calibri"/>
              </a:rPr>
              <a:t>A real-time marketplace, engineered to scale</a:t>
            </a:r>
          </a:p>
        </p:txBody>
      </p:sp>
      <p:sp>
        <p:nvSpPr>
          <p:cNvPr id="7" name="Rectangle 6"/>
          <p:cNvSpPr/>
          <p:nvPr/>
        </p:nvSpPr>
        <p:spPr>
          <a:xfrm>
            <a:off x="731520" y="1828800"/>
            <a:ext cx="3474720" cy="2834640"/>
          </a:xfrm>
          <a:prstGeom prst="rect">
            <a:avLst/>
          </a:prstGeom>
          <a:solidFill>
            <a:srgbClr val="FFFFFF"/>
          </a:solidFill>
          <a:ln w="12700">
            <a:solidFill>
              <a:srgbClr val="F8C9A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31520" y="1828800"/>
            <a:ext cx="3474720" cy="457200"/>
          </a:xfrm>
          <a:prstGeom prst="rect">
            <a:avLst/>
          </a:prstGeom>
          <a:solidFill>
            <a:srgbClr val="1118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31520" y="1874519"/>
            <a:ext cx="3474720" cy="411480"/>
          </a:xfrm>
          <a:prstGeom prst="rect">
            <a:avLst/>
          </a:prstGeom>
          <a:noFill/>
        </p:spPr>
        <p:txBody>
          <a:bodyPr wrap="square" anchor="ctr">
            <a:spAutoFit/>
          </a:bodyPr>
          <a:lstStyle/>
          <a:p>
            <a:pPr algn="ctr">
              <a:lnSpc>
                <a:spcPct val="105000"/>
              </a:lnSpc>
              <a:spcAft>
                <a:spcPts val="600"/>
              </a:spcAft>
            </a:pPr>
            <a:r>
              <a:rPr sz="1300" b="1">
                <a:solidFill>
                  <a:srgbClr val="FFFFFF"/>
                </a:solidFill>
                <a:latin typeface="Calibri"/>
              </a:rPr>
              <a:t>FRONTEND</a:t>
            </a:r>
          </a:p>
        </p:txBody>
      </p:sp>
      <p:sp>
        <p:nvSpPr>
          <p:cNvPr id="10" name="TextBox 9"/>
          <p:cNvSpPr txBox="1"/>
          <p:nvPr/>
        </p:nvSpPr>
        <p:spPr>
          <a:xfrm>
            <a:off x="914400" y="2423160"/>
            <a:ext cx="3200400" cy="2194560"/>
          </a:xfrm>
          <a:prstGeom prst="rect">
            <a:avLst/>
          </a:prstGeom>
          <a:noFill/>
        </p:spPr>
        <p:txBody>
          <a:bodyPr wrap="square">
            <a:spAutoFit/>
          </a:bodyPr>
          <a:lstStyle/>
          <a:p>
            <a:pPr>
              <a:lnSpc>
                <a:spcPct val="105000"/>
              </a:lnSpc>
              <a:spcAft>
                <a:spcPts val="900"/>
              </a:spcAft>
            </a:pPr>
            <a:r>
              <a:rPr sz="1150" b="1">
                <a:solidFill>
                  <a:srgbClr val="DB4B0D"/>
                </a:solidFill>
                <a:latin typeface="Calibri"/>
              </a:rPr>
              <a:t>▸  </a:t>
            </a:r>
            <a:r>
              <a:rPr sz="1150">
                <a:solidFill>
                  <a:srgbClr val="3A3F4A"/>
                </a:solidFill>
                <a:latin typeface="Calibri"/>
              </a:rPr>
              <a:t>Next.js 15 (App Router, Turbopack)</a:t>
            </a:r>
          </a:p>
          <a:p>
            <a:pPr>
              <a:lnSpc>
                <a:spcPct val="105000"/>
              </a:lnSpc>
              <a:spcAft>
                <a:spcPts val="900"/>
              </a:spcAft>
            </a:pPr>
            <a:r>
              <a:rPr sz="1150" b="1">
                <a:solidFill>
                  <a:srgbClr val="DB4B0D"/>
                </a:solidFill>
                <a:latin typeface="Calibri"/>
              </a:rPr>
              <a:t>▸  </a:t>
            </a:r>
            <a:r>
              <a:rPr sz="1150">
                <a:solidFill>
                  <a:srgbClr val="3A3F4A"/>
                </a:solidFill>
                <a:latin typeface="Calibri"/>
              </a:rPr>
              <a:t>React + Tailwind, PWA (offline-ready)</a:t>
            </a:r>
          </a:p>
          <a:p>
            <a:pPr>
              <a:lnSpc>
                <a:spcPct val="105000"/>
              </a:lnSpc>
              <a:spcAft>
                <a:spcPts val="900"/>
              </a:spcAft>
            </a:pPr>
            <a:r>
              <a:rPr sz="1150" b="1">
                <a:solidFill>
                  <a:srgbClr val="DB4B0D"/>
                </a:solidFill>
                <a:latin typeface="Calibri"/>
              </a:rPr>
              <a:t>▸  </a:t>
            </a:r>
            <a:r>
              <a:rPr sz="1150">
                <a:solidFill>
                  <a:srgbClr val="3A3F4A"/>
                </a:solidFill>
                <a:latin typeface="Calibri"/>
              </a:rPr>
              <a:t>Capacitor — native Android shell</a:t>
            </a:r>
          </a:p>
          <a:p>
            <a:pPr>
              <a:lnSpc>
                <a:spcPct val="105000"/>
              </a:lnSpc>
              <a:spcAft>
                <a:spcPts val="900"/>
              </a:spcAft>
            </a:pPr>
            <a:r>
              <a:rPr sz="1150" b="1">
                <a:solidFill>
                  <a:srgbClr val="DB4B0D"/>
                </a:solidFill>
                <a:latin typeface="Calibri"/>
              </a:rPr>
              <a:t>▸  </a:t>
            </a:r>
            <a:r>
              <a:rPr sz="1150">
                <a:solidFill>
                  <a:srgbClr val="3A3F4A"/>
                </a:solidFill>
                <a:latin typeface="Calibri"/>
              </a:rPr>
              <a:t>Google Maps live tracking UI</a:t>
            </a:r>
          </a:p>
        </p:txBody>
      </p:sp>
      <p:sp>
        <p:nvSpPr>
          <p:cNvPr id="11" name="Rectangle 10"/>
          <p:cNvSpPr/>
          <p:nvPr/>
        </p:nvSpPr>
        <p:spPr>
          <a:xfrm>
            <a:off x="4389120" y="1828800"/>
            <a:ext cx="3474720" cy="2834640"/>
          </a:xfrm>
          <a:prstGeom prst="rect">
            <a:avLst/>
          </a:prstGeom>
          <a:solidFill>
            <a:srgbClr val="FFFFFF"/>
          </a:solidFill>
          <a:ln w="12700">
            <a:solidFill>
              <a:srgbClr val="F8C9A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389120" y="1828800"/>
            <a:ext cx="3474720" cy="457200"/>
          </a:xfrm>
          <a:prstGeom prst="rect">
            <a:avLst/>
          </a:prstGeom>
          <a:solidFill>
            <a:srgbClr val="1118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389120" y="1874519"/>
            <a:ext cx="3474720" cy="411480"/>
          </a:xfrm>
          <a:prstGeom prst="rect">
            <a:avLst/>
          </a:prstGeom>
          <a:noFill/>
        </p:spPr>
        <p:txBody>
          <a:bodyPr wrap="square" anchor="ctr">
            <a:spAutoFit/>
          </a:bodyPr>
          <a:lstStyle/>
          <a:p>
            <a:pPr algn="ctr">
              <a:lnSpc>
                <a:spcPct val="105000"/>
              </a:lnSpc>
              <a:spcAft>
                <a:spcPts val="600"/>
              </a:spcAft>
            </a:pPr>
            <a:r>
              <a:rPr sz="1300" b="1">
                <a:solidFill>
                  <a:srgbClr val="FFFFFF"/>
                </a:solidFill>
                <a:latin typeface="Calibri"/>
              </a:rPr>
              <a:t>BACKEND</a:t>
            </a:r>
          </a:p>
        </p:txBody>
      </p:sp>
      <p:sp>
        <p:nvSpPr>
          <p:cNvPr id="14" name="TextBox 13"/>
          <p:cNvSpPr txBox="1"/>
          <p:nvPr/>
        </p:nvSpPr>
        <p:spPr>
          <a:xfrm>
            <a:off x="4572000" y="2423160"/>
            <a:ext cx="3200400" cy="2194560"/>
          </a:xfrm>
          <a:prstGeom prst="rect">
            <a:avLst/>
          </a:prstGeom>
          <a:noFill/>
        </p:spPr>
        <p:txBody>
          <a:bodyPr wrap="square">
            <a:spAutoFit/>
          </a:bodyPr>
          <a:lstStyle/>
          <a:p>
            <a:pPr>
              <a:lnSpc>
                <a:spcPct val="105000"/>
              </a:lnSpc>
              <a:spcAft>
                <a:spcPts val="900"/>
              </a:spcAft>
            </a:pPr>
            <a:r>
              <a:rPr sz="1150" b="1">
                <a:solidFill>
                  <a:srgbClr val="DB4B0D"/>
                </a:solidFill>
                <a:latin typeface="Calibri"/>
              </a:rPr>
              <a:t>▸  </a:t>
            </a:r>
            <a:r>
              <a:rPr sz="1150">
                <a:solidFill>
                  <a:srgbClr val="3A3F4A"/>
                </a:solidFill>
                <a:latin typeface="Calibri"/>
              </a:rPr>
              <a:t>Supabase Postgres + PostGIS</a:t>
            </a:r>
          </a:p>
          <a:p>
            <a:pPr>
              <a:lnSpc>
                <a:spcPct val="105000"/>
              </a:lnSpc>
              <a:spcAft>
                <a:spcPts val="900"/>
              </a:spcAft>
            </a:pPr>
            <a:r>
              <a:rPr sz="1150" b="1">
                <a:solidFill>
                  <a:srgbClr val="DB4B0D"/>
                </a:solidFill>
                <a:latin typeface="Calibri"/>
              </a:rPr>
              <a:t>▸  </a:t>
            </a:r>
            <a:r>
              <a:rPr sz="1150">
                <a:solidFill>
                  <a:srgbClr val="3A3F4A"/>
                </a:solidFill>
                <a:latin typeface="Calibri"/>
              </a:rPr>
              <a:t>Row-Level Security + SECURITY DEFINER RPCs</a:t>
            </a:r>
          </a:p>
          <a:p>
            <a:pPr>
              <a:lnSpc>
                <a:spcPct val="105000"/>
              </a:lnSpc>
              <a:spcAft>
                <a:spcPts val="900"/>
              </a:spcAft>
            </a:pPr>
            <a:r>
              <a:rPr sz="1150" b="1">
                <a:solidFill>
                  <a:srgbClr val="DB4B0D"/>
                </a:solidFill>
                <a:latin typeface="Calibri"/>
              </a:rPr>
              <a:t>▸  </a:t>
            </a:r>
            <a:r>
              <a:rPr sz="1150">
                <a:solidFill>
                  <a:srgbClr val="3A3F4A"/>
                </a:solidFill>
                <a:latin typeface="Calibri"/>
              </a:rPr>
              <a:t>Realtime (broadcast + postgres_changes)</a:t>
            </a:r>
          </a:p>
          <a:p>
            <a:pPr>
              <a:lnSpc>
                <a:spcPct val="105000"/>
              </a:lnSpc>
              <a:spcAft>
                <a:spcPts val="900"/>
              </a:spcAft>
            </a:pPr>
            <a:r>
              <a:rPr sz="1150" b="1">
                <a:solidFill>
                  <a:srgbClr val="DB4B0D"/>
                </a:solidFill>
                <a:latin typeface="Calibri"/>
              </a:rPr>
              <a:t>▸  </a:t>
            </a:r>
            <a:r>
              <a:rPr sz="1150">
                <a:solidFill>
                  <a:srgbClr val="3A3F4A"/>
                </a:solidFill>
                <a:latin typeface="Calibri"/>
              </a:rPr>
              <a:t>Edge Functions (Deno)</a:t>
            </a:r>
          </a:p>
        </p:txBody>
      </p:sp>
      <p:sp>
        <p:nvSpPr>
          <p:cNvPr id="15" name="Rectangle 14"/>
          <p:cNvSpPr/>
          <p:nvPr/>
        </p:nvSpPr>
        <p:spPr>
          <a:xfrm>
            <a:off x="8046720" y="1828800"/>
            <a:ext cx="3474720" cy="2834640"/>
          </a:xfrm>
          <a:prstGeom prst="rect">
            <a:avLst/>
          </a:prstGeom>
          <a:solidFill>
            <a:srgbClr val="FFFFFF"/>
          </a:solidFill>
          <a:ln w="12700">
            <a:solidFill>
              <a:srgbClr val="F8C9A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046720" y="1828800"/>
            <a:ext cx="3474720" cy="457200"/>
          </a:xfrm>
          <a:prstGeom prst="rect">
            <a:avLst/>
          </a:prstGeom>
          <a:solidFill>
            <a:srgbClr val="1118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046720" y="1874519"/>
            <a:ext cx="3474720" cy="411480"/>
          </a:xfrm>
          <a:prstGeom prst="rect">
            <a:avLst/>
          </a:prstGeom>
          <a:noFill/>
        </p:spPr>
        <p:txBody>
          <a:bodyPr wrap="square" anchor="ctr">
            <a:spAutoFit/>
          </a:bodyPr>
          <a:lstStyle/>
          <a:p>
            <a:pPr algn="ctr">
              <a:lnSpc>
                <a:spcPct val="105000"/>
              </a:lnSpc>
              <a:spcAft>
                <a:spcPts val="600"/>
              </a:spcAft>
            </a:pPr>
            <a:r>
              <a:rPr sz="1300" b="1">
                <a:solidFill>
                  <a:srgbClr val="FFFFFF"/>
                </a:solidFill>
                <a:latin typeface="Calibri"/>
              </a:rPr>
              <a:t>SERVICES</a:t>
            </a:r>
          </a:p>
        </p:txBody>
      </p:sp>
      <p:sp>
        <p:nvSpPr>
          <p:cNvPr id="18" name="TextBox 17"/>
          <p:cNvSpPr txBox="1"/>
          <p:nvPr/>
        </p:nvSpPr>
        <p:spPr>
          <a:xfrm>
            <a:off x="8229600" y="2423160"/>
            <a:ext cx="3200400" cy="2194560"/>
          </a:xfrm>
          <a:prstGeom prst="rect">
            <a:avLst/>
          </a:prstGeom>
          <a:noFill/>
        </p:spPr>
        <p:txBody>
          <a:bodyPr wrap="square">
            <a:spAutoFit/>
          </a:bodyPr>
          <a:lstStyle/>
          <a:p>
            <a:pPr>
              <a:lnSpc>
                <a:spcPct val="105000"/>
              </a:lnSpc>
              <a:spcAft>
                <a:spcPts val="900"/>
              </a:spcAft>
            </a:pPr>
            <a:r>
              <a:rPr sz="1150" b="1">
                <a:solidFill>
                  <a:srgbClr val="DB4B0D"/>
                </a:solidFill>
                <a:latin typeface="Calibri"/>
              </a:rPr>
              <a:t>▸  </a:t>
            </a:r>
            <a:r>
              <a:rPr sz="1150">
                <a:solidFill>
                  <a:srgbClr val="3A3F4A"/>
                </a:solidFill>
                <a:latin typeface="Calibri"/>
              </a:rPr>
              <a:t>Twilio Verify — phone OTP</a:t>
            </a:r>
          </a:p>
          <a:p>
            <a:pPr>
              <a:lnSpc>
                <a:spcPct val="105000"/>
              </a:lnSpc>
              <a:spcAft>
                <a:spcPts val="900"/>
              </a:spcAft>
            </a:pPr>
            <a:r>
              <a:rPr sz="1150" b="1">
                <a:solidFill>
                  <a:srgbClr val="DB4B0D"/>
                </a:solidFill>
                <a:latin typeface="Calibri"/>
              </a:rPr>
              <a:t>▸  </a:t>
            </a:r>
            <a:r>
              <a:rPr sz="1150">
                <a:solidFill>
                  <a:srgbClr val="3A3F4A"/>
                </a:solidFill>
                <a:latin typeface="Calibri"/>
              </a:rPr>
              <a:t>Firebase Cloud Messaging — push</a:t>
            </a:r>
          </a:p>
          <a:p>
            <a:pPr>
              <a:lnSpc>
                <a:spcPct val="105000"/>
              </a:lnSpc>
              <a:spcAft>
                <a:spcPts val="900"/>
              </a:spcAft>
            </a:pPr>
            <a:r>
              <a:rPr sz="1150" b="1">
                <a:solidFill>
                  <a:srgbClr val="DB4B0D"/>
                </a:solidFill>
                <a:latin typeface="Calibri"/>
              </a:rPr>
              <a:t>▸  </a:t>
            </a:r>
            <a:r>
              <a:rPr sz="1150">
                <a:solidFill>
                  <a:srgbClr val="3A3F4A"/>
                </a:solidFill>
                <a:latin typeface="Calibri"/>
              </a:rPr>
              <a:t>Google Maps — geocoding &amp; maps</a:t>
            </a:r>
          </a:p>
          <a:p>
            <a:pPr>
              <a:lnSpc>
                <a:spcPct val="105000"/>
              </a:lnSpc>
              <a:spcAft>
                <a:spcPts val="900"/>
              </a:spcAft>
            </a:pPr>
            <a:r>
              <a:rPr sz="1150" b="1">
                <a:solidFill>
                  <a:srgbClr val="DB4B0D"/>
                </a:solidFill>
                <a:latin typeface="Calibri"/>
              </a:rPr>
              <a:t>▸  </a:t>
            </a:r>
            <a:r>
              <a:rPr sz="1150">
                <a:solidFill>
                  <a:srgbClr val="3A3F4A"/>
                </a:solidFill>
                <a:latin typeface="Calibri"/>
              </a:rPr>
              <a:t>Resend — transactional email</a:t>
            </a:r>
          </a:p>
        </p:txBody>
      </p:sp>
      <p:sp>
        <p:nvSpPr>
          <p:cNvPr id="19" name="TextBox 18"/>
          <p:cNvSpPr txBox="1"/>
          <p:nvPr/>
        </p:nvSpPr>
        <p:spPr>
          <a:xfrm>
            <a:off x="731520" y="4937760"/>
            <a:ext cx="10607040" cy="1234440"/>
          </a:xfrm>
          <a:prstGeom prst="rect">
            <a:avLst/>
          </a:prstGeom>
          <a:noFill/>
        </p:spPr>
        <p:txBody>
          <a:bodyPr wrap="square" anchor="t">
            <a:spAutoFit/>
          </a:bodyPr>
          <a:lstStyle/>
          <a:p>
            <a:pPr algn="l">
              <a:lnSpc>
                <a:spcPct val="112000"/>
              </a:lnSpc>
              <a:spcAft>
                <a:spcPts val="500"/>
              </a:spcAft>
            </a:pPr>
            <a:r>
              <a:rPr sz="1300" b="1">
                <a:solidFill>
                  <a:srgbClr val="DB4B0D"/>
                </a:solidFill>
                <a:latin typeface="Calibri"/>
              </a:rPr>
              <a:t>Building now (pilot):  </a:t>
            </a:r>
            <a:r>
              <a:rPr sz="1250" b="0">
                <a:solidFill>
                  <a:srgbClr val="3A3F4A"/>
                </a:solidFill>
                <a:latin typeface="Calibri"/>
              </a:rPr>
              <a:t>automated JazzCash/EasyPaisa webhook reconciliation — replacing manual receipt review — plus native iOS/Android apps.</a:t>
            </a:r>
          </a:p>
          <a:p>
            <a:pPr algn="l">
              <a:lnSpc>
                <a:spcPct val="112000"/>
              </a:lnSpc>
              <a:spcAft>
                <a:spcPts val="500"/>
              </a:spcAft>
            </a:pPr>
            <a:r>
              <a:rPr sz="1300" b="1">
                <a:solidFill>
                  <a:srgbClr val="DB4B0D"/>
                </a:solidFill>
                <a:latin typeface="Calibri"/>
              </a:rPr>
              <a:t>Next:  </a:t>
            </a:r>
            <a:r>
              <a:rPr sz="1250" b="0">
                <a:solidFill>
                  <a:srgbClr val="3A3F4A"/>
                </a:solidFill>
                <a:latin typeface="Calibri"/>
              </a:rPr>
              <a:t>payment-gateway + Raast · per-query KYC &amp; background checks · multi-city expansion · provider financing &amp; insurance partnerships.</a:t>
            </a:r>
          </a:p>
        </p:txBody>
      </p:sp>
      <p:sp>
        <p:nvSpPr>
          <p:cNvPr id="20" name="TextBox 19"/>
          <p:cNvSpPr txBox="1"/>
          <p:nvPr/>
        </p:nvSpPr>
        <p:spPr>
          <a:xfrm>
            <a:off x="457200" y="6446520"/>
            <a:ext cx="7315200" cy="320040"/>
          </a:xfrm>
          <a:prstGeom prst="rect">
            <a:avLst/>
          </a:prstGeom>
          <a:noFill/>
        </p:spPr>
        <p:txBody>
          <a:bodyPr wrap="square" anchor="t">
            <a:spAutoFit/>
          </a:bodyPr>
          <a:lstStyle/>
          <a:p>
            <a:pPr algn="l">
              <a:lnSpc>
                <a:spcPct val="105000"/>
              </a:lnSpc>
              <a:spcAft>
                <a:spcPts val="600"/>
              </a:spcAft>
            </a:pPr>
            <a:r>
              <a:rPr sz="900" b="1">
                <a:solidFill>
                  <a:srgbClr val="DB4B0D"/>
                </a:solidFill>
                <a:latin typeface="Calibri"/>
              </a:rPr>
              <a:t>USTAZ</a:t>
            </a:r>
            <a:r>
              <a:rPr sz="900" b="0">
                <a:solidFill>
                  <a:srgbClr val="6B707A"/>
                </a:solidFill>
                <a:latin typeface="Calibri"/>
              </a:rPr>
              <a:t>   ustaz-bice.vercel.app</a:t>
            </a:r>
          </a:p>
        </p:txBody>
      </p:sp>
      <p:sp>
        <p:nvSpPr>
          <p:cNvPr id="21" name="TextBox 20"/>
          <p:cNvSpPr txBox="1"/>
          <p:nvPr/>
        </p:nvSpPr>
        <p:spPr>
          <a:xfrm>
            <a:off x="11338560" y="6446520"/>
            <a:ext cx="548640" cy="320040"/>
          </a:xfrm>
          <a:prstGeom prst="rect">
            <a:avLst/>
          </a:prstGeom>
          <a:noFill/>
        </p:spPr>
        <p:txBody>
          <a:bodyPr wrap="square" anchor="t">
            <a:spAutoFit/>
          </a:bodyPr>
          <a:lstStyle/>
          <a:p>
            <a:pPr algn="r">
              <a:lnSpc>
                <a:spcPct val="105000"/>
              </a:lnSpc>
              <a:spcAft>
                <a:spcPts val="600"/>
              </a:spcAft>
            </a:pPr>
            <a:r>
              <a:rPr sz="900" b="1">
                <a:solidFill>
                  <a:srgbClr val="6B707A"/>
                </a:solidFill>
                <a:latin typeface="Calibri"/>
              </a:rPr>
              <a:t>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57200" y="640080"/>
            <a:ext cx="109728" cy="1051560"/>
          </a:xfrm>
          <a:prstGeom prst="rect">
            <a:avLst/>
          </a:prstGeom>
          <a:solidFill>
            <a:srgbClr val="DB4B0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11155680" y="-548640"/>
            <a:ext cx="1645920" cy="1645920"/>
          </a:xfrm>
          <a:prstGeom prst="ellipse">
            <a:avLst/>
          </a:prstGeom>
          <a:solidFill>
            <a:srgbClr val="FCEE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566928"/>
            <a:ext cx="9144000" cy="365760"/>
          </a:xfrm>
          <a:prstGeom prst="rect">
            <a:avLst/>
          </a:prstGeom>
          <a:noFill/>
        </p:spPr>
        <p:txBody>
          <a:bodyPr wrap="square" anchor="t">
            <a:spAutoFit/>
          </a:bodyPr>
          <a:lstStyle/>
          <a:p>
            <a:pPr algn="l">
              <a:lnSpc>
                <a:spcPct val="105000"/>
              </a:lnSpc>
              <a:spcAft>
                <a:spcPts val="600"/>
              </a:spcAft>
            </a:pPr>
            <a:r>
              <a:rPr sz="1200" b="1">
                <a:solidFill>
                  <a:srgbClr val="DB4B0D"/>
                </a:solidFill>
                <a:latin typeface="Calibri"/>
              </a:rPr>
              <a:t>6. CUSTOMER SEGMENTATION &amp; PERSONA</a:t>
            </a:r>
          </a:p>
        </p:txBody>
      </p:sp>
      <p:sp>
        <p:nvSpPr>
          <p:cNvPr id="6" name="TextBox 5"/>
          <p:cNvSpPr txBox="1"/>
          <p:nvPr/>
        </p:nvSpPr>
        <p:spPr>
          <a:xfrm>
            <a:off x="713232" y="914400"/>
            <a:ext cx="10515600" cy="822960"/>
          </a:xfrm>
          <a:prstGeom prst="rect">
            <a:avLst/>
          </a:prstGeom>
          <a:noFill/>
        </p:spPr>
        <p:txBody>
          <a:bodyPr wrap="square" anchor="t">
            <a:spAutoFit/>
          </a:bodyPr>
          <a:lstStyle/>
          <a:p>
            <a:pPr algn="l">
              <a:lnSpc>
                <a:spcPct val="105000"/>
              </a:lnSpc>
              <a:spcAft>
                <a:spcPts val="600"/>
              </a:spcAft>
            </a:pPr>
            <a:r>
              <a:rPr sz="3000" b="1">
                <a:solidFill>
                  <a:srgbClr val="111828"/>
                </a:solidFill>
                <a:latin typeface="Calibri"/>
              </a:rPr>
              <a:t>Two personas, served on both sides</a:t>
            </a:r>
          </a:p>
        </p:txBody>
      </p:sp>
      <p:sp>
        <p:nvSpPr>
          <p:cNvPr id="7" name="Rectangle 6"/>
          <p:cNvSpPr/>
          <p:nvPr/>
        </p:nvSpPr>
        <p:spPr>
          <a:xfrm>
            <a:off x="731520" y="1783080"/>
            <a:ext cx="5166360" cy="3931920"/>
          </a:xfrm>
          <a:prstGeom prst="rect">
            <a:avLst/>
          </a:prstGeom>
          <a:solidFill>
            <a:srgbClr val="FCEE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31520" y="1783080"/>
            <a:ext cx="5166360" cy="109728"/>
          </a:xfrm>
          <a:prstGeom prst="rect">
            <a:avLst/>
          </a:prstGeom>
          <a:solidFill>
            <a:srgbClr val="DB4B0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2011680"/>
            <a:ext cx="4663440" cy="548640"/>
          </a:xfrm>
          <a:prstGeom prst="rect">
            <a:avLst/>
          </a:prstGeom>
          <a:noFill/>
        </p:spPr>
        <p:txBody>
          <a:bodyPr wrap="square" anchor="t">
            <a:spAutoFit/>
          </a:bodyPr>
          <a:lstStyle/>
          <a:p>
            <a:pPr algn="l">
              <a:lnSpc>
                <a:spcPct val="105000"/>
              </a:lnSpc>
              <a:spcAft>
                <a:spcPts val="600"/>
              </a:spcAft>
            </a:pPr>
            <a:r>
              <a:rPr sz="1350" b="1">
                <a:solidFill>
                  <a:srgbClr val="DB4B0D"/>
                </a:solidFill>
                <a:latin typeface="Calibri"/>
              </a:rPr>
              <a:t>DEMAND — “Safe Household Manager”</a:t>
            </a:r>
          </a:p>
        </p:txBody>
      </p:sp>
      <p:sp>
        <p:nvSpPr>
          <p:cNvPr id="10" name="TextBox 9"/>
          <p:cNvSpPr txBox="1"/>
          <p:nvPr/>
        </p:nvSpPr>
        <p:spPr>
          <a:xfrm>
            <a:off x="1005840" y="2560320"/>
            <a:ext cx="4709160" cy="3017520"/>
          </a:xfrm>
          <a:prstGeom prst="rect">
            <a:avLst/>
          </a:prstGeom>
          <a:noFill/>
        </p:spPr>
        <p:txBody>
          <a:bodyPr wrap="square" anchor="t">
            <a:spAutoFit/>
          </a:bodyPr>
          <a:lstStyle/>
          <a:p>
            <a:pPr algn="l">
              <a:lnSpc>
                <a:spcPct val="108000"/>
              </a:lnSpc>
              <a:spcAft>
                <a:spcPts val="700"/>
              </a:spcAft>
            </a:pPr>
            <a:r>
              <a:rPr sz="1200" b="1">
                <a:solidFill>
                  <a:srgbClr val="111828"/>
                </a:solidFill>
                <a:latin typeface="Calibri"/>
              </a:rPr>
              <a:t>Demographic: </a:t>
            </a:r>
            <a:r>
              <a:rPr sz="1200" b="0">
                <a:solidFill>
                  <a:srgbClr val="3A3F4A"/>
                </a:solidFill>
                <a:latin typeface="Calibri"/>
              </a:rPr>
              <a:t>age 28–50, urban Karachi, SEC A/B household.</a:t>
            </a:r>
          </a:p>
          <a:p>
            <a:pPr algn="l">
              <a:lnSpc>
                <a:spcPct val="108000"/>
              </a:lnSpc>
              <a:spcAft>
                <a:spcPts val="700"/>
              </a:spcAft>
            </a:pPr>
            <a:r>
              <a:rPr sz="1200" b="1">
                <a:solidFill>
                  <a:srgbClr val="111828"/>
                </a:solidFill>
                <a:latin typeface="Calibri"/>
              </a:rPr>
              <a:t>Geographic: </a:t>
            </a:r>
            <a:r>
              <a:rPr sz="1200" b="0">
                <a:solidFill>
                  <a:srgbClr val="3A3F4A"/>
                </a:solidFill>
                <a:latin typeface="Calibri"/>
              </a:rPr>
              <a:t>DHA, Clifton, Gulshan, PECHS, North Nazimabad.</a:t>
            </a:r>
          </a:p>
          <a:p>
            <a:pPr algn="l">
              <a:lnSpc>
                <a:spcPct val="108000"/>
              </a:lnSpc>
              <a:spcAft>
                <a:spcPts val="700"/>
              </a:spcAft>
            </a:pPr>
            <a:r>
              <a:rPr sz="1200" b="1">
                <a:solidFill>
                  <a:srgbClr val="111828"/>
                </a:solidFill>
                <a:latin typeface="Calibri"/>
              </a:rPr>
              <a:t>Psychographic: </a:t>
            </a:r>
            <a:r>
              <a:rPr sz="1200" b="0">
                <a:solidFill>
                  <a:srgbClr val="3A3F4A"/>
                </a:solidFill>
                <a:latin typeface="Calibri"/>
              </a:rPr>
              <a:t>values safety over price; has been overcharged; manages the home; won't risk an unverified stranger; wants a visible ETA and accountability.</a:t>
            </a:r>
          </a:p>
          <a:p>
            <a:pPr algn="l">
              <a:lnSpc>
                <a:spcPct val="108000"/>
              </a:lnSpc>
              <a:spcAft>
                <a:spcPts val="700"/>
              </a:spcAft>
            </a:pPr>
            <a:r>
              <a:rPr sz="1200" b="1">
                <a:solidFill>
                  <a:srgbClr val="DB4B0D"/>
                </a:solidFill>
                <a:latin typeface="Calibri"/>
              </a:rPr>
              <a:t>Trigger: </a:t>
            </a:r>
            <a:r>
              <a:rPr sz="1200" b="0">
                <a:solidFill>
                  <a:srgbClr val="3A3F4A"/>
                </a:solidFill>
                <a:latin typeface="Calibri"/>
              </a:rPr>
              <a:t>AC breaks in June — needs a trusted technician today, not a stranger from a Facebook group.</a:t>
            </a:r>
          </a:p>
        </p:txBody>
      </p:sp>
      <p:sp>
        <p:nvSpPr>
          <p:cNvPr id="11" name="Rectangle 10"/>
          <p:cNvSpPr/>
          <p:nvPr/>
        </p:nvSpPr>
        <p:spPr>
          <a:xfrm>
            <a:off x="6263640" y="1783080"/>
            <a:ext cx="5166360" cy="3931920"/>
          </a:xfrm>
          <a:prstGeom prst="rect">
            <a:avLst/>
          </a:prstGeom>
          <a:solidFill>
            <a:srgbClr val="1118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263640" y="1783080"/>
            <a:ext cx="5166360" cy="109728"/>
          </a:xfrm>
          <a:prstGeom prst="rect">
            <a:avLst/>
          </a:prstGeom>
          <a:solidFill>
            <a:srgbClr val="DB4B0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537960" y="2011680"/>
            <a:ext cx="4663440" cy="548640"/>
          </a:xfrm>
          <a:prstGeom prst="rect">
            <a:avLst/>
          </a:prstGeom>
          <a:noFill/>
        </p:spPr>
        <p:txBody>
          <a:bodyPr wrap="square" anchor="t">
            <a:spAutoFit/>
          </a:bodyPr>
          <a:lstStyle/>
          <a:p>
            <a:pPr algn="l">
              <a:lnSpc>
                <a:spcPct val="105000"/>
              </a:lnSpc>
              <a:spcAft>
                <a:spcPts val="600"/>
              </a:spcAft>
            </a:pPr>
            <a:r>
              <a:rPr sz="1350" b="1">
                <a:solidFill>
                  <a:srgbClr val="DB4B0D"/>
                </a:solidFill>
                <a:latin typeface="Calibri"/>
              </a:rPr>
              <a:t>SUPPLY — “Underserved Tradesman”</a:t>
            </a:r>
          </a:p>
        </p:txBody>
      </p:sp>
      <p:sp>
        <p:nvSpPr>
          <p:cNvPr id="14" name="TextBox 13"/>
          <p:cNvSpPr txBox="1"/>
          <p:nvPr/>
        </p:nvSpPr>
        <p:spPr>
          <a:xfrm>
            <a:off x="6537960" y="2560320"/>
            <a:ext cx="4709160" cy="3017520"/>
          </a:xfrm>
          <a:prstGeom prst="rect">
            <a:avLst/>
          </a:prstGeom>
          <a:noFill/>
        </p:spPr>
        <p:txBody>
          <a:bodyPr wrap="square" anchor="t">
            <a:spAutoFit/>
          </a:bodyPr>
          <a:lstStyle/>
          <a:p>
            <a:pPr algn="l">
              <a:lnSpc>
                <a:spcPct val="108000"/>
              </a:lnSpc>
              <a:spcAft>
                <a:spcPts val="700"/>
              </a:spcAft>
            </a:pPr>
            <a:r>
              <a:rPr sz="1200" b="1">
                <a:solidFill>
                  <a:srgbClr val="FFFFFF"/>
                </a:solidFill>
                <a:latin typeface="Calibri"/>
              </a:rPr>
              <a:t>Demographic: </a:t>
            </a:r>
            <a:r>
              <a:rPr sz="1200" b="0">
                <a:solidFill>
                  <a:srgbClr val="CFD3DA"/>
                </a:solidFill>
                <a:latin typeface="Calibri"/>
              </a:rPr>
              <a:t>age 22–45, skilled electrician / plumber / AC tech.</a:t>
            </a:r>
          </a:p>
          <a:p>
            <a:pPr algn="l">
              <a:lnSpc>
                <a:spcPct val="108000"/>
              </a:lnSpc>
              <a:spcAft>
                <a:spcPts val="700"/>
              </a:spcAft>
            </a:pPr>
            <a:r>
              <a:rPr sz="1200" b="1">
                <a:solidFill>
                  <a:srgbClr val="FFFFFF"/>
                </a:solidFill>
                <a:latin typeface="Calibri"/>
              </a:rPr>
              <a:t>Geographic: </a:t>
            </a:r>
            <a:r>
              <a:rPr sz="1200" b="0">
                <a:solidFill>
                  <a:srgbClr val="CFD3DA"/>
                </a:solidFill>
                <a:latin typeface="Calibri"/>
              </a:rPr>
              <a:t>works across Karachi, based in lower-income areas.</a:t>
            </a:r>
          </a:p>
          <a:p>
            <a:pPr algn="l">
              <a:lnSpc>
                <a:spcPct val="108000"/>
              </a:lnSpc>
              <a:spcAft>
                <a:spcPts val="700"/>
              </a:spcAft>
            </a:pPr>
            <a:r>
              <a:rPr sz="1200" b="1">
                <a:solidFill>
                  <a:srgbClr val="FFFFFF"/>
                </a:solidFill>
                <a:latin typeface="Calibri"/>
              </a:rPr>
              <a:t>Psychographic: </a:t>
            </a:r>
            <a:r>
              <a:rPr sz="1200" b="0">
                <a:solidFill>
                  <a:srgbClr val="CFD3DA"/>
                </a:solidFill>
                <a:latin typeface="Calibri"/>
              </a:rPr>
              <a:t>wants steady, predictable digital demand and a reputation that travels with him; tired of middlemen taking large cuts.</a:t>
            </a:r>
          </a:p>
          <a:p>
            <a:pPr algn="l">
              <a:lnSpc>
                <a:spcPct val="108000"/>
              </a:lnSpc>
              <a:spcAft>
                <a:spcPts val="700"/>
              </a:spcAft>
            </a:pPr>
            <a:r>
              <a:rPr sz="1200" b="1">
                <a:solidFill>
                  <a:srgbClr val="DB4B0D"/>
                </a:solidFill>
                <a:latin typeface="Calibri"/>
              </a:rPr>
              <a:t>Trigger: </a:t>
            </a:r>
            <a:r>
              <a:rPr sz="1200" b="0">
                <a:solidFill>
                  <a:srgbClr val="CFD3DA"/>
                </a:solidFill>
                <a:latin typeface="Calibri"/>
              </a:rPr>
              <a:t>wants to stop depending on ustads / contractors and own his own customer pipeline.</a:t>
            </a:r>
          </a:p>
        </p:txBody>
      </p:sp>
      <p:sp>
        <p:nvSpPr>
          <p:cNvPr id="15" name="TextBox 14"/>
          <p:cNvSpPr txBox="1"/>
          <p:nvPr/>
        </p:nvSpPr>
        <p:spPr>
          <a:xfrm>
            <a:off x="731520" y="5852160"/>
            <a:ext cx="10698480" cy="365760"/>
          </a:xfrm>
          <a:prstGeom prst="rect">
            <a:avLst/>
          </a:prstGeom>
          <a:noFill/>
        </p:spPr>
        <p:txBody>
          <a:bodyPr wrap="square" anchor="t">
            <a:spAutoFit/>
          </a:bodyPr>
          <a:lstStyle/>
          <a:p>
            <a:pPr algn="l">
              <a:lnSpc>
                <a:spcPct val="105000"/>
              </a:lnSpc>
              <a:spcAft>
                <a:spcPts val="600"/>
              </a:spcAft>
            </a:pPr>
            <a:r>
              <a:rPr sz="1100" b="0">
                <a:solidFill>
                  <a:srgbClr val="111828"/>
                </a:solidFill>
                <a:latin typeface="Calibri"/>
              </a:rPr>
              <a:t>This two-sided pool — Karachi's middle-class households × the city's skilled tradesmen — is our SAM foundation (sizing on next slide).</a:t>
            </a:r>
          </a:p>
        </p:txBody>
      </p:sp>
      <p:sp>
        <p:nvSpPr>
          <p:cNvPr id="16" name="TextBox 15"/>
          <p:cNvSpPr txBox="1"/>
          <p:nvPr/>
        </p:nvSpPr>
        <p:spPr>
          <a:xfrm>
            <a:off x="457200" y="6446520"/>
            <a:ext cx="7315200" cy="320040"/>
          </a:xfrm>
          <a:prstGeom prst="rect">
            <a:avLst/>
          </a:prstGeom>
          <a:noFill/>
        </p:spPr>
        <p:txBody>
          <a:bodyPr wrap="square" anchor="t">
            <a:spAutoFit/>
          </a:bodyPr>
          <a:lstStyle/>
          <a:p>
            <a:pPr algn="l">
              <a:lnSpc>
                <a:spcPct val="105000"/>
              </a:lnSpc>
              <a:spcAft>
                <a:spcPts val="600"/>
              </a:spcAft>
            </a:pPr>
            <a:r>
              <a:rPr sz="900" b="1">
                <a:solidFill>
                  <a:srgbClr val="DB4B0D"/>
                </a:solidFill>
                <a:latin typeface="Calibri"/>
              </a:rPr>
              <a:t>USTAZ</a:t>
            </a:r>
            <a:r>
              <a:rPr sz="900" b="0">
                <a:solidFill>
                  <a:srgbClr val="6B707A"/>
                </a:solidFill>
                <a:latin typeface="Calibri"/>
              </a:rPr>
              <a:t>   ustaz-bice.vercel.app</a:t>
            </a:r>
          </a:p>
        </p:txBody>
      </p:sp>
      <p:sp>
        <p:nvSpPr>
          <p:cNvPr id="17" name="TextBox 16"/>
          <p:cNvSpPr txBox="1"/>
          <p:nvPr/>
        </p:nvSpPr>
        <p:spPr>
          <a:xfrm>
            <a:off x="11338560" y="6446520"/>
            <a:ext cx="548640" cy="320040"/>
          </a:xfrm>
          <a:prstGeom prst="rect">
            <a:avLst/>
          </a:prstGeom>
          <a:noFill/>
        </p:spPr>
        <p:txBody>
          <a:bodyPr wrap="square" anchor="t">
            <a:spAutoFit/>
          </a:bodyPr>
          <a:lstStyle/>
          <a:p>
            <a:pPr algn="r">
              <a:lnSpc>
                <a:spcPct val="105000"/>
              </a:lnSpc>
              <a:spcAft>
                <a:spcPts val="600"/>
              </a:spcAft>
            </a:pPr>
            <a:r>
              <a:rPr sz="900" b="1">
                <a:solidFill>
                  <a:srgbClr val="6B707A"/>
                </a:solidFill>
                <a:latin typeface="Calibri"/>
              </a:rPr>
              <a:t>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57200" y="640080"/>
            <a:ext cx="109728" cy="1051560"/>
          </a:xfrm>
          <a:prstGeom prst="rect">
            <a:avLst/>
          </a:prstGeom>
          <a:solidFill>
            <a:srgbClr val="DB4B0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11155680" y="-548640"/>
            <a:ext cx="1645920" cy="1645920"/>
          </a:xfrm>
          <a:prstGeom prst="ellipse">
            <a:avLst/>
          </a:prstGeom>
          <a:solidFill>
            <a:srgbClr val="FCEE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566928"/>
            <a:ext cx="9144000" cy="365760"/>
          </a:xfrm>
          <a:prstGeom prst="rect">
            <a:avLst/>
          </a:prstGeom>
          <a:noFill/>
        </p:spPr>
        <p:txBody>
          <a:bodyPr wrap="square" anchor="t">
            <a:spAutoFit/>
          </a:bodyPr>
          <a:lstStyle/>
          <a:p>
            <a:pPr algn="l">
              <a:lnSpc>
                <a:spcPct val="105000"/>
              </a:lnSpc>
              <a:spcAft>
                <a:spcPts val="600"/>
              </a:spcAft>
            </a:pPr>
            <a:r>
              <a:rPr sz="1200" b="1">
                <a:solidFill>
                  <a:srgbClr val="DB4B0D"/>
                </a:solidFill>
                <a:latin typeface="Calibri"/>
              </a:rPr>
              <a:t>7. MARKET SIZING  (TAM · SAM · SOM)</a:t>
            </a:r>
          </a:p>
        </p:txBody>
      </p:sp>
      <p:sp>
        <p:nvSpPr>
          <p:cNvPr id="6" name="TextBox 5"/>
          <p:cNvSpPr txBox="1"/>
          <p:nvPr/>
        </p:nvSpPr>
        <p:spPr>
          <a:xfrm>
            <a:off x="713232" y="914400"/>
            <a:ext cx="10515600" cy="822960"/>
          </a:xfrm>
          <a:prstGeom prst="rect">
            <a:avLst/>
          </a:prstGeom>
          <a:noFill/>
        </p:spPr>
        <p:txBody>
          <a:bodyPr wrap="square" anchor="t">
            <a:spAutoFit/>
          </a:bodyPr>
          <a:lstStyle/>
          <a:p>
            <a:pPr algn="l">
              <a:lnSpc>
                <a:spcPct val="105000"/>
              </a:lnSpc>
              <a:spcAft>
                <a:spcPts val="600"/>
              </a:spcAft>
            </a:pPr>
            <a:r>
              <a:rPr sz="3000" b="1">
                <a:solidFill>
                  <a:srgbClr val="111828"/>
                </a:solidFill>
                <a:latin typeface="Calibri"/>
              </a:rPr>
              <a:t>A vast, underserved, digitizing market</a:t>
            </a:r>
          </a:p>
        </p:txBody>
      </p:sp>
      <p:sp>
        <p:nvSpPr>
          <p:cNvPr id="7" name="Rectangle 6"/>
          <p:cNvSpPr/>
          <p:nvPr/>
        </p:nvSpPr>
        <p:spPr>
          <a:xfrm>
            <a:off x="731520" y="1920240"/>
            <a:ext cx="3474720" cy="3383280"/>
          </a:xfrm>
          <a:prstGeom prst="rect">
            <a:avLst/>
          </a:prstGeom>
          <a:solidFill>
            <a:srgbClr val="FFFFFF"/>
          </a:solidFill>
          <a:ln w="12700">
            <a:solidFill>
              <a:srgbClr val="F8C9A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1965960" y="1600200"/>
            <a:ext cx="1005840" cy="1005840"/>
          </a:xfrm>
          <a:prstGeom prst="ellipse">
            <a:avLst/>
          </a:prstGeom>
          <a:solidFill>
            <a:srgbClr val="DB4B0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965960" y="1664208"/>
            <a:ext cx="1005840" cy="914400"/>
          </a:xfrm>
          <a:prstGeom prst="rect">
            <a:avLst/>
          </a:prstGeom>
          <a:noFill/>
        </p:spPr>
        <p:txBody>
          <a:bodyPr wrap="square" anchor="ctr">
            <a:spAutoFit/>
          </a:bodyPr>
          <a:lstStyle/>
          <a:p>
            <a:pPr algn="ctr">
              <a:lnSpc>
                <a:spcPct val="105000"/>
              </a:lnSpc>
              <a:spcAft>
                <a:spcPts val="600"/>
              </a:spcAft>
            </a:pPr>
            <a:r>
              <a:rPr sz="2200" b="1">
                <a:solidFill>
                  <a:srgbClr val="FFFFFF"/>
                </a:solidFill>
                <a:latin typeface="Calibri"/>
              </a:rPr>
              <a:t>01</a:t>
            </a:r>
          </a:p>
        </p:txBody>
      </p:sp>
      <p:sp>
        <p:nvSpPr>
          <p:cNvPr id="10" name="TextBox 9"/>
          <p:cNvSpPr txBox="1"/>
          <p:nvPr/>
        </p:nvSpPr>
        <p:spPr>
          <a:xfrm>
            <a:off x="731520" y="2697480"/>
            <a:ext cx="3474720" cy="411480"/>
          </a:xfrm>
          <a:prstGeom prst="rect">
            <a:avLst/>
          </a:prstGeom>
          <a:noFill/>
        </p:spPr>
        <p:txBody>
          <a:bodyPr wrap="square" anchor="t">
            <a:spAutoFit/>
          </a:bodyPr>
          <a:lstStyle/>
          <a:p>
            <a:pPr algn="ctr">
              <a:lnSpc>
                <a:spcPct val="105000"/>
              </a:lnSpc>
              <a:spcAft>
                <a:spcPts val="600"/>
              </a:spcAft>
            </a:pPr>
            <a:r>
              <a:rPr sz="1600" b="1">
                <a:solidFill>
                  <a:srgbClr val="111828"/>
                </a:solidFill>
                <a:latin typeface="Calibri"/>
              </a:rPr>
              <a:t>TAM</a:t>
            </a:r>
          </a:p>
        </p:txBody>
      </p:sp>
      <p:sp>
        <p:nvSpPr>
          <p:cNvPr id="11" name="TextBox 10"/>
          <p:cNvSpPr txBox="1"/>
          <p:nvPr/>
        </p:nvSpPr>
        <p:spPr>
          <a:xfrm>
            <a:off x="731520" y="3090672"/>
            <a:ext cx="3474720" cy="548640"/>
          </a:xfrm>
          <a:prstGeom prst="rect">
            <a:avLst/>
          </a:prstGeom>
          <a:noFill/>
        </p:spPr>
        <p:txBody>
          <a:bodyPr wrap="square" anchor="t">
            <a:spAutoFit/>
          </a:bodyPr>
          <a:lstStyle/>
          <a:p>
            <a:pPr algn="ctr">
              <a:lnSpc>
                <a:spcPct val="105000"/>
              </a:lnSpc>
              <a:spcAft>
                <a:spcPts val="600"/>
              </a:spcAft>
            </a:pPr>
            <a:r>
              <a:rPr sz="2700" b="1">
                <a:solidFill>
                  <a:srgbClr val="DB4B0D"/>
                </a:solidFill>
                <a:latin typeface="Calibri"/>
              </a:rPr>
              <a:t>~$3–5B</a:t>
            </a:r>
          </a:p>
        </p:txBody>
      </p:sp>
      <p:sp>
        <p:nvSpPr>
          <p:cNvPr id="12" name="TextBox 11"/>
          <p:cNvSpPr txBox="1"/>
          <p:nvPr/>
        </p:nvSpPr>
        <p:spPr>
          <a:xfrm>
            <a:off x="960120" y="3840480"/>
            <a:ext cx="3017520" cy="1371600"/>
          </a:xfrm>
          <a:prstGeom prst="rect">
            <a:avLst/>
          </a:prstGeom>
          <a:noFill/>
        </p:spPr>
        <p:txBody>
          <a:bodyPr wrap="square" anchor="t">
            <a:spAutoFit/>
          </a:bodyPr>
          <a:lstStyle/>
          <a:p>
            <a:pPr algn="ctr">
              <a:lnSpc>
                <a:spcPct val="108000"/>
              </a:lnSpc>
              <a:spcAft>
                <a:spcPts val="600"/>
              </a:spcAft>
            </a:pPr>
            <a:r>
              <a:rPr sz="1050" b="0">
                <a:solidFill>
                  <a:srgbClr val="3A3F4A"/>
                </a:solidFill>
                <a:latin typeface="Calibri"/>
              </a:rPr>
              <a:t>Pakistan home services (informal + formal).  Source: SMEDA / ILO, 2024.</a:t>
            </a:r>
          </a:p>
        </p:txBody>
      </p:sp>
      <p:sp>
        <p:nvSpPr>
          <p:cNvPr id="13" name="Rectangle 12"/>
          <p:cNvSpPr/>
          <p:nvPr/>
        </p:nvSpPr>
        <p:spPr>
          <a:xfrm>
            <a:off x="4389120" y="1920240"/>
            <a:ext cx="3474720" cy="3383280"/>
          </a:xfrm>
          <a:prstGeom prst="rect">
            <a:avLst/>
          </a:prstGeom>
          <a:solidFill>
            <a:srgbClr val="FFFFFF"/>
          </a:solidFill>
          <a:ln w="12700">
            <a:solidFill>
              <a:srgbClr val="F8C9A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5623560" y="1600200"/>
            <a:ext cx="1005840" cy="1005840"/>
          </a:xfrm>
          <a:prstGeom prst="ellipse">
            <a:avLst/>
          </a:prstGeom>
          <a:solidFill>
            <a:srgbClr val="DB4B0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623560" y="1664208"/>
            <a:ext cx="1005840" cy="914400"/>
          </a:xfrm>
          <a:prstGeom prst="rect">
            <a:avLst/>
          </a:prstGeom>
          <a:noFill/>
        </p:spPr>
        <p:txBody>
          <a:bodyPr wrap="square" anchor="ctr">
            <a:spAutoFit/>
          </a:bodyPr>
          <a:lstStyle/>
          <a:p>
            <a:pPr algn="ctr">
              <a:lnSpc>
                <a:spcPct val="105000"/>
              </a:lnSpc>
              <a:spcAft>
                <a:spcPts val="600"/>
              </a:spcAft>
            </a:pPr>
            <a:r>
              <a:rPr sz="2200" b="1">
                <a:solidFill>
                  <a:srgbClr val="FFFFFF"/>
                </a:solidFill>
                <a:latin typeface="Calibri"/>
              </a:rPr>
              <a:t>02</a:t>
            </a:r>
          </a:p>
        </p:txBody>
      </p:sp>
      <p:sp>
        <p:nvSpPr>
          <p:cNvPr id="16" name="TextBox 15"/>
          <p:cNvSpPr txBox="1"/>
          <p:nvPr/>
        </p:nvSpPr>
        <p:spPr>
          <a:xfrm>
            <a:off x="4389120" y="2697480"/>
            <a:ext cx="3474720" cy="411480"/>
          </a:xfrm>
          <a:prstGeom prst="rect">
            <a:avLst/>
          </a:prstGeom>
          <a:noFill/>
        </p:spPr>
        <p:txBody>
          <a:bodyPr wrap="square" anchor="t">
            <a:spAutoFit/>
          </a:bodyPr>
          <a:lstStyle/>
          <a:p>
            <a:pPr algn="ctr">
              <a:lnSpc>
                <a:spcPct val="105000"/>
              </a:lnSpc>
              <a:spcAft>
                <a:spcPts val="600"/>
              </a:spcAft>
            </a:pPr>
            <a:r>
              <a:rPr sz="1600" b="1">
                <a:solidFill>
                  <a:srgbClr val="111828"/>
                </a:solidFill>
                <a:latin typeface="Calibri"/>
              </a:rPr>
              <a:t>SAM</a:t>
            </a:r>
          </a:p>
        </p:txBody>
      </p:sp>
      <p:sp>
        <p:nvSpPr>
          <p:cNvPr id="17" name="TextBox 16"/>
          <p:cNvSpPr txBox="1"/>
          <p:nvPr/>
        </p:nvSpPr>
        <p:spPr>
          <a:xfrm>
            <a:off x="4389120" y="3090672"/>
            <a:ext cx="3474720" cy="548640"/>
          </a:xfrm>
          <a:prstGeom prst="rect">
            <a:avLst/>
          </a:prstGeom>
          <a:noFill/>
        </p:spPr>
        <p:txBody>
          <a:bodyPr wrap="square" anchor="t">
            <a:spAutoFit/>
          </a:bodyPr>
          <a:lstStyle/>
          <a:p>
            <a:pPr algn="ctr">
              <a:lnSpc>
                <a:spcPct val="105000"/>
              </a:lnSpc>
              <a:spcAft>
                <a:spcPts val="600"/>
              </a:spcAft>
            </a:pPr>
            <a:r>
              <a:rPr sz="2700" b="1">
                <a:solidFill>
                  <a:srgbClr val="DB4B0D"/>
                </a:solidFill>
                <a:latin typeface="Calibri"/>
              </a:rPr>
              <a:t>~$600M</a:t>
            </a:r>
          </a:p>
        </p:txBody>
      </p:sp>
      <p:sp>
        <p:nvSpPr>
          <p:cNvPr id="18" name="TextBox 17"/>
          <p:cNvSpPr txBox="1"/>
          <p:nvPr/>
        </p:nvSpPr>
        <p:spPr>
          <a:xfrm>
            <a:off x="4617720" y="3840480"/>
            <a:ext cx="3017520" cy="1371600"/>
          </a:xfrm>
          <a:prstGeom prst="rect">
            <a:avLst/>
          </a:prstGeom>
          <a:noFill/>
        </p:spPr>
        <p:txBody>
          <a:bodyPr wrap="square" anchor="t">
            <a:spAutoFit/>
          </a:bodyPr>
          <a:lstStyle/>
          <a:p>
            <a:pPr algn="ctr">
              <a:lnSpc>
                <a:spcPct val="108000"/>
              </a:lnSpc>
              <a:spcAft>
                <a:spcPts val="600"/>
              </a:spcAft>
            </a:pPr>
            <a:r>
              <a:rPr sz="1050" b="0">
                <a:solidFill>
                  <a:srgbClr val="3A3F4A"/>
                </a:solidFill>
                <a:latin typeface="Calibri"/>
              </a:rPr>
              <a:t>Smartphone-enabled urban households — Karachi, Lahore, Islamabad, Faisalabad.  Source: PTA / PBS HIES, 2025.</a:t>
            </a:r>
          </a:p>
        </p:txBody>
      </p:sp>
      <p:sp>
        <p:nvSpPr>
          <p:cNvPr id="19" name="Rectangle 18"/>
          <p:cNvSpPr/>
          <p:nvPr/>
        </p:nvSpPr>
        <p:spPr>
          <a:xfrm>
            <a:off x="8046720" y="1920240"/>
            <a:ext cx="3474720" cy="3383280"/>
          </a:xfrm>
          <a:prstGeom prst="rect">
            <a:avLst/>
          </a:prstGeom>
          <a:solidFill>
            <a:srgbClr val="FFFFFF"/>
          </a:solidFill>
          <a:ln w="12700">
            <a:solidFill>
              <a:srgbClr val="F8C9A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9281160" y="1600200"/>
            <a:ext cx="1005840" cy="1005840"/>
          </a:xfrm>
          <a:prstGeom prst="ellipse">
            <a:avLst/>
          </a:prstGeom>
          <a:solidFill>
            <a:srgbClr val="DB4B0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9281160" y="1664208"/>
            <a:ext cx="1005840" cy="914400"/>
          </a:xfrm>
          <a:prstGeom prst="rect">
            <a:avLst/>
          </a:prstGeom>
          <a:noFill/>
        </p:spPr>
        <p:txBody>
          <a:bodyPr wrap="square" anchor="ctr">
            <a:spAutoFit/>
          </a:bodyPr>
          <a:lstStyle/>
          <a:p>
            <a:pPr algn="ctr">
              <a:lnSpc>
                <a:spcPct val="105000"/>
              </a:lnSpc>
              <a:spcAft>
                <a:spcPts val="600"/>
              </a:spcAft>
            </a:pPr>
            <a:r>
              <a:rPr sz="2200" b="1">
                <a:solidFill>
                  <a:srgbClr val="FFFFFF"/>
                </a:solidFill>
                <a:latin typeface="Calibri"/>
              </a:rPr>
              <a:t>03</a:t>
            </a:r>
          </a:p>
        </p:txBody>
      </p:sp>
      <p:sp>
        <p:nvSpPr>
          <p:cNvPr id="22" name="TextBox 21"/>
          <p:cNvSpPr txBox="1"/>
          <p:nvPr/>
        </p:nvSpPr>
        <p:spPr>
          <a:xfrm>
            <a:off x="8046720" y="2697480"/>
            <a:ext cx="3474720" cy="411480"/>
          </a:xfrm>
          <a:prstGeom prst="rect">
            <a:avLst/>
          </a:prstGeom>
          <a:noFill/>
        </p:spPr>
        <p:txBody>
          <a:bodyPr wrap="square" anchor="t">
            <a:spAutoFit/>
          </a:bodyPr>
          <a:lstStyle/>
          <a:p>
            <a:pPr algn="ctr">
              <a:lnSpc>
                <a:spcPct val="105000"/>
              </a:lnSpc>
              <a:spcAft>
                <a:spcPts val="600"/>
              </a:spcAft>
            </a:pPr>
            <a:r>
              <a:rPr sz="1600" b="1">
                <a:solidFill>
                  <a:srgbClr val="111828"/>
                </a:solidFill>
                <a:latin typeface="Calibri"/>
              </a:rPr>
              <a:t>SOM</a:t>
            </a:r>
          </a:p>
        </p:txBody>
      </p:sp>
      <p:sp>
        <p:nvSpPr>
          <p:cNvPr id="23" name="TextBox 22"/>
          <p:cNvSpPr txBox="1"/>
          <p:nvPr/>
        </p:nvSpPr>
        <p:spPr>
          <a:xfrm>
            <a:off x="8046720" y="3090672"/>
            <a:ext cx="3474720" cy="548640"/>
          </a:xfrm>
          <a:prstGeom prst="rect">
            <a:avLst/>
          </a:prstGeom>
          <a:noFill/>
        </p:spPr>
        <p:txBody>
          <a:bodyPr wrap="square" anchor="t">
            <a:spAutoFit/>
          </a:bodyPr>
          <a:lstStyle/>
          <a:p>
            <a:pPr algn="ctr">
              <a:lnSpc>
                <a:spcPct val="105000"/>
              </a:lnSpc>
              <a:spcAft>
                <a:spcPts val="600"/>
              </a:spcAft>
            </a:pPr>
            <a:r>
              <a:rPr sz="2700" b="1">
                <a:solidFill>
                  <a:srgbClr val="DB4B0D"/>
                </a:solidFill>
                <a:latin typeface="Calibri"/>
              </a:rPr>
              <a:t>~PKR 1.4M</a:t>
            </a:r>
          </a:p>
        </p:txBody>
      </p:sp>
      <p:sp>
        <p:nvSpPr>
          <p:cNvPr id="24" name="TextBox 23"/>
          <p:cNvSpPr txBox="1"/>
          <p:nvPr/>
        </p:nvSpPr>
        <p:spPr>
          <a:xfrm>
            <a:off x="8275320" y="3840480"/>
            <a:ext cx="3017520" cy="1371600"/>
          </a:xfrm>
          <a:prstGeom prst="rect">
            <a:avLst/>
          </a:prstGeom>
          <a:noFill/>
        </p:spPr>
        <p:txBody>
          <a:bodyPr wrap="square" anchor="t">
            <a:spAutoFit/>
          </a:bodyPr>
          <a:lstStyle/>
          <a:p>
            <a:pPr algn="ctr">
              <a:lnSpc>
                <a:spcPct val="108000"/>
              </a:lnSpc>
              <a:spcAft>
                <a:spcPts val="600"/>
              </a:spcAft>
            </a:pPr>
            <a:r>
              <a:rPr sz="1050" b="0">
                <a:solidFill>
                  <a:srgbClr val="3A3F4A"/>
                </a:solidFill>
                <a:latin typeface="Calibri"/>
              </a:rPr>
              <a:t>Year 1, Karachi: 5,000 households × 4 jobs/yr × PKR 72 commission.</a:t>
            </a:r>
          </a:p>
        </p:txBody>
      </p:sp>
      <p:sp>
        <p:nvSpPr>
          <p:cNvPr id="25" name="Rectangle 24"/>
          <p:cNvSpPr/>
          <p:nvPr/>
        </p:nvSpPr>
        <p:spPr>
          <a:xfrm>
            <a:off x="731520" y="5440680"/>
            <a:ext cx="10698480" cy="868680"/>
          </a:xfrm>
          <a:prstGeom prst="rect">
            <a:avLst/>
          </a:prstGeom>
          <a:solidFill>
            <a:srgbClr val="1118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960120" y="5513832"/>
            <a:ext cx="10332720" cy="777240"/>
          </a:xfrm>
          <a:prstGeom prst="rect">
            <a:avLst/>
          </a:prstGeom>
          <a:noFill/>
        </p:spPr>
        <p:txBody>
          <a:bodyPr wrap="square" anchor="t">
            <a:spAutoFit/>
          </a:bodyPr>
          <a:lstStyle/>
          <a:p>
            <a:pPr algn="l">
              <a:lnSpc>
                <a:spcPct val="104000"/>
              </a:lnSpc>
              <a:spcAft>
                <a:spcPts val="300"/>
              </a:spcAft>
            </a:pPr>
            <a:r>
              <a:rPr sz="1200" b="1">
                <a:solidFill>
                  <a:srgbClr val="DB4B0D"/>
                </a:solidFill>
                <a:latin typeface="Calibri"/>
              </a:rPr>
              <a:t>Bottom-up SOM:  </a:t>
            </a:r>
            <a:r>
              <a:rPr sz="1100" b="0">
                <a:solidFill>
                  <a:srgbClr val="FFFFFF"/>
                </a:solidFill>
                <a:latin typeface="Calibri"/>
              </a:rPr>
              <a:t>5,000 Karachi households × 4 jobs/yr × PKR 600 avg job × 12% = ~PKR 1.44M (Year 1, conservative — matches our QRR plan).</a:t>
            </a:r>
          </a:p>
          <a:p>
            <a:pPr algn="l">
              <a:lnSpc>
                <a:spcPct val="104000"/>
              </a:lnSpc>
              <a:spcAft>
                <a:spcPts val="300"/>
              </a:spcAft>
            </a:pPr>
            <a:r>
              <a:rPr sz="1000" b="1">
                <a:solidFill>
                  <a:srgbClr val="CFD3DA"/>
                </a:solidFill>
                <a:latin typeface="Calibri"/>
              </a:rPr>
              <a:t>Market data limited at this stage — joining NIC to validate. Sources: SMEDA/ILO 2024 · PTA/PBS HIES 2024–25.</a:t>
            </a:r>
          </a:p>
        </p:txBody>
      </p:sp>
      <p:sp>
        <p:nvSpPr>
          <p:cNvPr id="27" name="TextBox 26"/>
          <p:cNvSpPr txBox="1"/>
          <p:nvPr/>
        </p:nvSpPr>
        <p:spPr>
          <a:xfrm>
            <a:off x="457200" y="6446520"/>
            <a:ext cx="7315200" cy="320040"/>
          </a:xfrm>
          <a:prstGeom prst="rect">
            <a:avLst/>
          </a:prstGeom>
          <a:noFill/>
        </p:spPr>
        <p:txBody>
          <a:bodyPr wrap="square" anchor="t">
            <a:spAutoFit/>
          </a:bodyPr>
          <a:lstStyle/>
          <a:p>
            <a:pPr algn="l">
              <a:lnSpc>
                <a:spcPct val="105000"/>
              </a:lnSpc>
              <a:spcAft>
                <a:spcPts val="600"/>
              </a:spcAft>
            </a:pPr>
            <a:r>
              <a:rPr sz="900" b="1">
                <a:solidFill>
                  <a:srgbClr val="DB4B0D"/>
                </a:solidFill>
                <a:latin typeface="Calibri"/>
              </a:rPr>
              <a:t>USTAZ</a:t>
            </a:r>
            <a:r>
              <a:rPr sz="900" b="0">
                <a:solidFill>
                  <a:srgbClr val="6B707A"/>
                </a:solidFill>
                <a:latin typeface="Calibri"/>
              </a:rPr>
              <a:t>   ustaz-bice.vercel.app</a:t>
            </a:r>
          </a:p>
        </p:txBody>
      </p:sp>
      <p:sp>
        <p:nvSpPr>
          <p:cNvPr id="28" name="TextBox 27"/>
          <p:cNvSpPr txBox="1"/>
          <p:nvPr/>
        </p:nvSpPr>
        <p:spPr>
          <a:xfrm>
            <a:off x="11338560" y="6446520"/>
            <a:ext cx="548640" cy="320040"/>
          </a:xfrm>
          <a:prstGeom prst="rect">
            <a:avLst/>
          </a:prstGeom>
          <a:noFill/>
        </p:spPr>
        <p:txBody>
          <a:bodyPr wrap="square" anchor="t">
            <a:spAutoFit/>
          </a:bodyPr>
          <a:lstStyle/>
          <a:p>
            <a:pPr algn="r">
              <a:lnSpc>
                <a:spcPct val="105000"/>
              </a:lnSpc>
              <a:spcAft>
                <a:spcPts val="600"/>
              </a:spcAft>
            </a:pPr>
            <a:r>
              <a:rPr sz="900" b="1">
                <a:solidFill>
                  <a:srgbClr val="6B707A"/>
                </a:solidFill>
                <a:latin typeface="Calibri"/>
              </a:rPr>
              <a:t>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CEE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2377440"/>
            <a:ext cx="12191695" cy="2103120"/>
          </a:xfrm>
          <a:prstGeom prst="rect">
            <a:avLst/>
          </a:prstGeom>
          <a:solidFill>
            <a:srgbClr val="1118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10332720" y="457200"/>
            <a:ext cx="1463040" cy="1463040"/>
          </a:xfrm>
          <a:prstGeom prst="ellipse">
            <a:avLst/>
          </a:prstGeom>
          <a:solidFill>
            <a:srgbClr val="DB4B0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822960"/>
            <a:ext cx="10058400" cy="457200"/>
          </a:xfrm>
          <a:prstGeom prst="rect">
            <a:avLst/>
          </a:prstGeom>
          <a:noFill/>
        </p:spPr>
        <p:txBody>
          <a:bodyPr wrap="square" anchor="t">
            <a:spAutoFit/>
          </a:bodyPr>
          <a:lstStyle/>
          <a:p>
            <a:pPr algn="l">
              <a:lnSpc>
                <a:spcPct val="105000"/>
              </a:lnSpc>
              <a:spcAft>
                <a:spcPts val="600"/>
              </a:spcAft>
            </a:pPr>
            <a:r>
              <a:rPr sz="1200" b="1">
                <a:solidFill>
                  <a:srgbClr val="DB4B0D"/>
                </a:solidFill>
                <a:latin typeface="Calibri"/>
              </a:rPr>
              <a:t>8. UNIQUE VALUE PROPOSITION (UVP)</a:t>
            </a:r>
          </a:p>
        </p:txBody>
      </p:sp>
      <p:sp>
        <p:nvSpPr>
          <p:cNvPr id="6" name="TextBox 5"/>
          <p:cNvSpPr txBox="1"/>
          <p:nvPr/>
        </p:nvSpPr>
        <p:spPr>
          <a:xfrm>
            <a:off x="731520" y="1325880"/>
            <a:ext cx="10515600" cy="822960"/>
          </a:xfrm>
          <a:prstGeom prst="rect">
            <a:avLst/>
          </a:prstGeom>
          <a:noFill/>
        </p:spPr>
        <p:txBody>
          <a:bodyPr wrap="square" anchor="t">
            <a:spAutoFit/>
          </a:bodyPr>
          <a:lstStyle/>
          <a:p>
            <a:pPr algn="l">
              <a:lnSpc>
                <a:spcPct val="105000"/>
              </a:lnSpc>
              <a:spcAft>
                <a:spcPts val="600"/>
              </a:spcAft>
            </a:pPr>
            <a:r>
              <a:rPr sz="2800" b="1">
                <a:solidFill>
                  <a:srgbClr val="111828"/>
                </a:solidFill>
                <a:latin typeface="Calibri"/>
              </a:rPr>
              <a:t>Trust a stranger in your home — for the first time.</a:t>
            </a:r>
          </a:p>
        </p:txBody>
      </p:sp>
      <p:sp>
        <p:nvSpPr>
          <p:cNvPr id="7" name="TextBox 6"/>
          <p:cNvSpPr txBox="1"/>
          <p:nvPr/>
        </p:nvSpPr>
        <p:spPr>
          <a:xfrm>
            <a:off x="914400" y="2606040"/>
            <a:ext cx="10332720" cy="1737360"/>
          </a:xfrm>
          <a:prstGeom prst="rect">
            <a:avLst/>
          </a:prstGeom>
          <a:noFill/>
        </p:spPr>
        <p:txBody>
          <a:bodyPr wrap="square" anchor="ctr">
            <a:spAutoFit/>
          </a:bodyPr>
          <a:lstStyle/>
          <a:p>
            <a:pPr algn="l">
              <a:lnSpc>
                <a:spcPct val="116000"/>
              </a:lnSpc>
              <a:spcAft>
                <a:spcPts val="1000"/>
              </a:spcAft>
            </a:pPr>
            <a:r>
              <a:rPr sz="1800" b="0">
                <a:solidFill>
                  <a:srgbClr val="FFFFFF"/>
                </a:solidFill>
                <a:latin typeface="Calibri"/>
              </a:rPr>
              <a:t>USTAZ verifies every pro, shows you exactly where they are, and </a:t>
            </a:r>
            <a:r>
              <a:rPr sz="1800" b="1">
                <a:solidFill>
                  <a:srgbClr val="DB4B0D"/>
                </a:solidFill>
                <a:latin typeface="Calibri"/>
              </a:rPr>
              <a:t>guarantees the work for 3 days — or we fix it free.</a:t>
            </a:r>
          </a:p>
          <a:p>
            <a:pPr algn="l">
              <a:lnSpc>
                <a:spcPct val="116000"/>
              </a:lnSpc>
              <a:spcAft>
                <a:spcPts val="1000"/>
              </a:spcAft>
            </a:pPr>
            <a:r>
              <a:rPr sz="1600" b="1">
                <a:solidFill>
                  <a:srgbClr val="F8C9A8"/>
                </a:solidFill>
                <a:latin typeface="Calibri"/>
              </a:rPr>
              <a:t>Halal by design — no interest, no hidden charges, just a transparent service fee.</a:t>
            </a:r>
          </a:p>
        </p:txBody>
      </p:sp>
      <p:sp>
        <p:nvSpPr>
          <p:cNvPr id="8" name="Rectangle 7"/>
          <p:cNvSpPr/>
          <p:nvPr/>
        </p:nvSpPr>
        <p:spPr>
          <a:xfrm>
            <a:off x="731520" y="4937760"/>
            <a:ext cx="2697480" cy="731520"/>
          </a:xfrm>
          <a:prstGeom prst="rect">
            <a:avLst/>
          </a:prstGeom>
          <a:solidFill>
            <a:srgbClr val="FFFFFF"/>
          </a:solidFill>
          <a:ln w="12700">
            <a:solidFill>
              <a:srgbClr val="F8C9A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31520" y="4937760"/>
            <a:ext cx="2697480" cy="731520"/>
          </a:xfrm>
          <a:prstGeom prst="rect">
            <a:avLst/>
          </a:prstGeom>
          <a:noFill/>
        </p:spPr>
        <p:txBody>
          <a:bodyPr wrap="square" anchor="ctr">
            <a:spAutoFit/>
          </a:bodyPr>
          <a:lstStyle/>
          <a:p>
            <a:pPr algn="ctr">
              <a:lnSpc>
                <a:spcPct val="105000"/>
              </a:lnSpc>
              <a:spcAft>
                <a:spcPts val="600"/>
              </a:spcAft>
            </a:pPr>
            <a:r>
              <a:rPr sz="1300" b="1">
                <a:solidFill>
                  <a:srgbClr val="111828"/>
                </a:solidFill>
                <a:latin typeface="Calibri"/>
              </a:rPr>
              <a:t>Feel safe at the door</a:t>
            </a:r>
          </a:p>
        </p:txBody>
      </p:sp>
      <p:sp>
        <p:nvSpPr>
          <p:cNvPr id="10" name="Rectangle 9"/>
          <p:cNvSpPr/>
          <p:nvPr/>
        </p:nvSpPr>
        <p:spPr>
          <a:xfrm>
            <a:off x="3520440" y="4937760"/>
            <a:ext cx="2697480" cy="731520"/>
          </a:xfrm>
          <a:prstGeom prst="rect">
            <a:avLst/>
          </a:prstGeom>
          <a:solidFill>
            <a:srgbClr val="FFFFFF"/>
          </a:solidFill>
          <a:ln w="12700">
            <a:solidFill>
              <a:srgbClr val="F8C9A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3520440" y="4937760"/>
            <a:ext cx="2697480" cy="731520"/>
          </a:xfrm>
          <a:prstGeom prst="rect">
            <a:avLst/>
          </a:prstGeom>
          <a:noFill/>
        </p:spPr>
        <p:txBody>
          <a:bodyPr wrap="square" anchor="ctr">
            <a:spAutoFit/>
          </a:bodyPr>
          <a:lstStyle/>
          <a:p>
            <a:pPr algn="ctr">
              <a:lnSpc>
                <a:spcPct val="105000"/>
              </a:lnSpc>
              <a:spcAft>
                <a:spcPts val="600"/>
              </a:spcAft>
            </a:pPr>
            <a:r>
              <a:rPr sz="1300" b="1">
                <a:solidFill>
                  <a:srgbClr val="111828"/>
                </a:solidFill>
                <a:latin typeface="Calibri"/>
              </a:rPr>
              <a:t>See them on the way</a:t>
            </a:r>
          </a:p>
        </p:txBody>
      </p:sp>
      <p:sp>
        <p:nvSpPr>
          <p:cNvPr id="12" name="Rectangle 11"/>
          <p:cNvSpPr/>
          <p:nvPr/>
        </p:nvSpPr>
        <p:spPr>
          <a:xfrm>
            <a:off x="6309360" y="4937760"/>
            <a:ext cx="2697480" cy="731520"/>
          </a:xfrm>
          <a:prstGeom prst="rect">
            <a:avLst/>
          </a:prstGeom>
          <a:solidFill>
            <a:srgbClr val="FFFFFF"/>
          </a:solidFill>
          <a:ln w="12700">
            <a:solidFill>
              <a:srgbClr val="F8C9A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309360" y="4937760"/>
            <a:ext cx="2697480" cy="731520"/>
          </a:xfrm>
          <a:prstGeom prst="rect">
            <a:avLst/>
          </a:prstGeom>
          <a:noFill/>
        </p:spPr>
        <p:txBody>
          <a:bodyPr wrap="square" anchor="ctr">
            <a:spAutoFit/>
          </a:bodyPr>
          <a:lstStyle/>
          <a:p>
            <a:pPr algn="ctr">
              <a:lnSpc>
                <a:spcPct val="105000"/>
              </a:lnSpc>
              <a:spcAft>
                <a:spcPts val="600"/>
              </a:spcAft>
            </a:pPr>
            <a:r>
              <a:rPr sz="1300" b="1">
                <a:solidFill>
                  <a:srgbClr val="111828"/>
                </a:solidFill>
                <a:latin typeface="Calibri"/>
              </a:rPr>
              <a:t>Covered for 3 days</a:t>
            </a:r>
          </a:p>
        </p:txBody>
      </p:sp>
      <p:sp>
        <p:nvSpPr>
          <p:cNvPr id="14" name="Rectangle 13"/>
          <p:cNvSpPr/>
          <p:nvPr/>
        </p:nvSpPr>
        <p:spPr>
          <a:xfrm>
            <a:off x="9098280" y="4937760"/>
            <a:ext cx="2697480" cy="731520"/>
          </a:xfrm>
          <a:prstGeom prst="rect">
            <a:avLst/>
          </a:prstGeom>
          <a:solidFill>
            <a:srgbClr val="FFFFFF"/>
          </a:solidFill>
          <a:ln w="12700">
            <a:solidFill>
              <a:srgbClr val="F8C9A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098280" y="4937760"/>
            <a:ext cx="2697480" cy="731520"/>
          </a:xfrm>
          <a:prstGeom prst="rect">
            <a:avLst/>
          </a:prstGeom>
          <a:noFill/>
        </p:spPr>
        <p:txBody>
          <a:bodyPr wrap="square" anchor="ctr">
            <a:spAutoFit/>
          </a:bodyPr>
          <a:lstStyle/>
          <a:p>
            <a:pPr algn="ctr">
              <a:lnSpc>
                <a:spcPct val="105000"/>
              </a:lnSpc>
              <a:spcAft>
                <a:spcPts val="600"/>
              </a:spcAft>
            </a:pPr>
            <a:r>
              <a:rPr sz="1300" b="1">
                <a:solidFill>
                  <a:srgbClr val="111828"/>
                </a:solidFill>
                <a:latin typeface="Calibri"/>
              </a:rPr>
              <a:t>Halal, transparent fee</a:t>
            </a:r>
          </a:p>
        </p:txBody>
      </p:sp>
      <p:sp>
        <p:nvSpPr>
          <p:cNvPr id="16" name="TextBox 15"/>
          <p:cNvSpPr txBox="1"/>
          <p:nvPr/>
        </p:nvSpPr>
        <p:spPr>
          <a:xfrm>
            <a:off x="457200" y="6446520"/>
            <a:ext cx="7315200" cy="320040"/>
          </a:xfrm>
          <a:prstGeom prst="rect">
            <a:avLst/>
          </a:prstGeom>
          <a:noFill/>
        </p:spPr>
        <p:txBody>
          <a:bodyPr wrap="square" anchor="t">
            <a:spAutoFit/>
          </a:bodyPr>
          <a:lstStyle/>
          <a:p>
            <a:pPr algn="l">
              <a:lnSpc>
                <a:spcPct val="105000"/>
              </a:lnSpc>
              <a:spcAft>
                <a:spcPts val="600"/>
              </a:spcAft>
            </a:pPr>
            <a:r>
              <a:rPr sz="900" b="1">
                <a:solidFill>
                  <a:srgbClr val="DB4B0D"/>
                </a:solidFill>
                <a:latin typeface="Calibri"/>
              </a:rPr>
              <a:t>USTAZ</a:t>
            </a:r>
            <a:r>
              <a:rPr sz="900" b="0">
                <a:solidFill>
                  <a:srgbClr val="6B707A"/>
                </a:solidFill>
                <a:latin typeface="Calibri"/>
              </a:rPr>
              <a:t>   ustaz-bice.vercel.app</a:t>
            </a:r>
          </a:p>
        </p:txBody>
      </p:sp>
      <p:sp>
        <p:nvSpPr>
          <p:cNvPr id="17" name="TextBox 16"/>
          <p:cNvSpPr txBox="1"/>
          <p:nvPr/>
        </p:nvSpPr>
        <p:spPr>
          <a:xfrm>
            <a:off x="11338560" y="6446520"/>
            <a:ext cx="548640" cy="320040"/>
          </a:xfrm>
          <a:prstGeom prst="rect">
            <a:avLst/>
          </a:prstGeom>
          <a:noFill/>
        </p:spPr>
        <p:txBody>
          <a:bodyPr wrap="square" anchor="t">
            <a:spAutoFit/>
          </a:bodyPr>
          <a:lstStyle/>
          <a:p>
            <a:pPr algn="r">
              <a:lnSpc>
                <a:spcPct val="105000"/>
              </a:lnSpc>
              <a:spcAft>
                <a:spcPts val="600"/>
              </a:spcAft>
            </a:pPr>
            <a:r>
              <a:rPr sz="900" b="1">
                <a:solidFill>
                  <a:srgbClr val="6B707A"/>
                </a:solidFill>
                <a:latin typeface="Calibri"/>
              </a:rPr>
              <a:t>9</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57200" y="640080"/>
            <a:ext cx="109728" cy="1051560"/>
          </a:xfrm>
          <a:prstGeom prst="rect">
            <a:avLst/>
          </a:prstGeom>
          <a:solidFill>
            <a:srgbClr val="DB4B0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11155680" y="-548640"/>
            <a:ext cx="1645920" cy="1645920"/>
          </a:xfrm>
          <a:prstGeom prst="ellipse">
            <a:avLst/>
          </a:prstGeom>
          <a:solidFill>
            <a:srgbClr val="FCEE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566928"/>
            <a:ext cx="9144000" cy="365760"/>
          </a:xfrm>
          <a:prstGeom prst="rect">
            <a:avLst/>
          </a:prstGeom>
          <a:noFill/>
        </p:spPr>
        <p:txBody>
          <a:bodyPr wrap="square" anchor="t">
            <a:spAutoFit/>
          </a:bodyPr>
          <a:lstStyle/>
          <a:p>
            <a:pPr algn="l">
              <a:lnSpc>
                <a:spcPct val="105000"/>
              </a:lnSpc>
              <a:spcAft>
                <a:spcPts val="600"/>
              </a:spcAft>
            </a:pPr>
            <a:r>
              <a:rPr sz="1200" b="1">
                <a:solidFill>
                  <a:srgbClr val="DB4B0D"/>
                </a:solidFill>
                <a:latin typeface="Calibri"/>
              </a:rPr>
              <a:t>9. COMPETITOR ANALYSIS / ALTERNATIVES</a:t>
            </a:r>
          </a:p>
        </p:txBody>
      </p:sp>
      <p:sp>
        <p:nvSpPr>
          <p:cNvPr id="6" name="TextBox 5"/>
          <p:cNvSpPr txBox="1"/>
          <p:nvPr/>
        </p:nvSpPr>
        <p:spPr>
          <a:xfrm>
            <a:off x="713232" y="914400"/>
            <a:ext cx="10515600" cy="822960"/>
          </a:xfrm>
          <a:prstGeom prst="rect">
            <a:avLst/>
          </a:prstGeom>
          <a:noFill/>
        </p:spPr>
        <p:txBody>
          <a:bodyPr wrap="square" anchor="t">
            <a:spAutoFit/>
          </a:bodyPr>
          <a:lstStyle/>
          <a:p>
            <a:pPr algn="l">
              <a:lnSpc>
                <a:spcPct val="105000"/>
              </a:lnSpc>
              <a:spcAft>
                <a:spcPts val="600"/>
              </a:spcAft>
            </a:pPr>
            <a:r>
              <a:rPr sz="3000" b="1">
                <a:solidFill>
                  <a:srgbClr val="111828"/>
                </a:solidFill>
                <a:latin typeface="Calibri"/>
              </a:rPr>
              <a:t>We compete with chaos — and beat it</a:t>
            </a:r>
          </a:p>
        </p:txBody>
      </p:sp>
      <p:graphicFrame>
        <p:nvGraphicFramePr>
          <p:cNvPr id="7" name="Table 6"/>
          <p:cNvGraphicFramePr>
            <a:graphicFrameLocks noGrp="1"/>
          </p:cNvGraphicFramePr>
          <p:nvPr/>
        </p:nvGraphicFramePr>
        <p:xfrm>
          <a:off x="731520" y="1783080"/>
          <a:ext cx="10698480" cy="3246120"/>
        </p:xfrm>
        <a:graphic>
          <a:graphicData uri="http://schemas.openxmlformats.org/drawingml/2006/table">
            <a:tbl>
              <a:tblPr firstRow="1" bandRow="1">
                <a:tableStyleId>{5C22544A-7EE6-4342-B048-85BDC9FD1C3A}</a:tableStyleId>
              </a:tblPr>
              <a:tblGrid>
                <a:gridCol w="2468880"/>
                <a:gridCol w="1371600"/>
                <a:gridCol w="1371600"/>
                <a:gridCol w="1371600"/>
                <a:gridCol w="1371600"/>
                <a:gridCol w="1371600"/>
                <a:gridCol w="1371600"/>
              </a:tblGrid>
              <a:tr h="463731">
                <a:tc>
                  <a:txBody>
                    <a:bodyPr/>
                    <a:lstStyle/>
                    <a:p>
                      <a:pPr algn="l"/>
                      <a:r>
                        <a:rPr sz="1100" b="1">
                          <a:solidFill>
                            <a:srgbClr val="FFFFFF"/>
                          </a:solidFill>
                          <a:latin typeface="Calibri"/>
                        </a:rPr>
                        <a:t>Alternative</a:t>
                      </a:r>
                    </a:p>
                  </a:txBody>
                  <a:tcPr>
                    <a:solidFill>
                      <a:srgbClr val="111828"/>
                    </a:solidFill>
                  </a:tcPr>
                </a:tc>
                <a:tc>
                  <a:txBody>
                    <a:bodyPr/>
                    <a:lstStyle/>
                    <a:p>
                      <a:pPr algn="ctr"/>
                      <a:r>
                        <a:rPr sz="1100" b="1">
                          <a:solidFill>
                            <a:srgbClr val="FFFFFF"/>
                          </a:solidFill>
                          <a:latin typeface="Calibri"/>
                        </a:rPr>
                        <a:t>Verified</a:t>
                      </a:r>
                    </a:p>
                  </a:txBody>
                  <a:tcPr>
                    <a:solidFill>
                      <a:srgbClr val="111828"/>
                    </a:solidFill>
                  </a:tcPr>
                </a:tc>
                <a:tc>
                  <a:txBody>
                    <a:bodyPr/>
                    <a:lstStyle/>
                    <a:p>
                      <a:pPr algn="ctr"/>
                      <a:r>
                        <a:rPr sz="1100" b="1">
                          <a:solidFill>
                            <a:srgbClr val="FFFFFF"/>
                          </a:solidFill>
                          <a:latin typeface="Calibri"/>
                        </a:rPr>
                        <a:t>Live GPS</a:t>
                      </a:r>
                    </a:p>
                  </a:txBody>
                  <a:tcPr>
                    <a:solidFill>
                      <a:srgbClr val="111828"/>
                    </a:solidFill>
                  </a:tcPr>
                </a:tc>
                <a:tc>
                  <a:txBody>
                    <a:bodyPr/>
                    <a:lstStyle/>
                    <a:p>
                      <a:pPr algn="ctr"/>
                      <a:r>
                        <a:rPr sz="1100" b="1">
                          <a:solidFill>
                            <a:srgbClr val="FFFFFF"/>
                          </a:solidFill>
                          <a:latin typeface="Calibri"/>
                        </a:rPr>
                        <a:t>Warranty</a:t>
                      </a:r>
                    </a:p>
                  </a:txBody>
                  <a:tcPr>
                    <a:solidFill>
                      <a:srgbClr val="111828"/>
                    </a:solidFill>
                  </a:tcPr>
                </a:tc>
                <a:tc>
                  <a:txBody>
                    <a:bodyPr/>
                    <a:lstStyle/>
                    <a:p>
                      <a:pPr algn="ctr"/>
                      <a:r>
                        <a:rPr sz="1100" b="1">
                          <a:solidFill>
                            <a:srgbClr val="FFFFFF"/>
                          </a:solidFill>
                          <a:latin typeface="Calibri"/>
                        </a:rPr>
                        <a:t>Escrow</a:t>
                      </a:r>
                    </a:p>
                  </a:txBody>
                  <a:tcPr>
                    <a:solidFill>
                      <a:srgbClr val="111828"/>
                    </a:solidFill>
                  </a:tcPr>
                </a:tc>
                <a:tc>
                  <a:txBody>
                    <a:bodyPr/>
                    <a:lstStyle/>
                    <a:p>
                      <a:pPr algn="ctr"/>
                      <a:r>
                        <a:rPr sz="1100" b="1">
                          <a:solidFill>
                            <a:srgbClr val="FFFFFF"/>
                          </a:solidFill>
                          <a:latin typeface="Calibri"/>
                        </a:rPr>
                        <a:t>Reputation</a:t>
                      </a:r>
                    </a:p>
                  </a:txBody>
                  <a:tcPr>
                    <a:solidFill>
                      <a:srgbClr val="111828"/>
                    </a:solidFill>
                  </a:tcPr>
                </a:tc>
                <a:tc>
                  <a:txBody>
                    <a:bodyPr/>
                    <a:lstStyle/>
                    <a:p>
                      <a:pPr algn="ctr"/>
                      <a:r>
                        <a:rPr sz="1100" b="1">
                          <a:solidFill>
                            <a:srgbClr val="FFFFFF"/>
                          </a:solidFill>
                          <a:latin typeface="Calibri"/>
                        </a:rPr>
                        <a:t>Price clarity</a:t>
                      </a:r>
                    </a:p>
                  </a:txBody>
                  <a:tcPr>
                    <a:solidFill>
                      <a:srgbClr val="111828"/>
                    </a:solidFill>
                  </a:tcPr>
                </a:tc>
              </a:tr>
              <a:tr h="463731">
                <a:tc>
                  <a:txBody>
                    <a:bodyPr/>
                    <a:lstStyle/>
                    <a:p>
                      <a:pPr algn="l"/>
                      <a:r>
                        <a:rPr b="1" sz="1150">
                          <a:solidFill>
                            <a:srgbClr val="FFFFFF"/>
                          </a:solidFill>
                          <a:latin typeface="Calibri"/>
                        </a:rPr>
                        <a:t>USTAZ</a:t>
                      </a:r>
                    </a:p>
                  </a:txBody>
                  <a:tcPr>
                    <a:solidFill>
                      <a:srgbClr val="DB4B0D"/>
                    </a:solidFill>
                  </a:tcPr>
                </a:tc>
                <a:tc>
                  <a:txBody>
                    <a:bodyPr/>
                    <a:lstStyle/>
                    <a:p>
                      <a:pPr algn="ctr"/>
                      <a:r>
                        <a:rPr b="1" sz="1300">
                          <a:solidFill>
                            <a:srgbClr val="1E9E5A"/>
                          </a:solidFill>
                          <a:latin typeface="Calibri"/>
                        </a:rPr>
                        <a:t>✓</a:t>
                      </a:r>
                    </a:p>
                  </a:txBody>
                  <a:tcPr>
                    <a:solidFill>
                      <a:srgbClr val="F8C9A8"/>
                    </a:solidFill>
                  </a:tcPr>
                </a:tc>
                <a:tc>
                  <a:txBody>
                    <a:bodyPr/>
                    <a:lstStyle/>
                    <a:p>
                      <a:pPr algn="ctr"/>
                      <a:r>
                        <a:rPr b="1" sz="1300">
                          <a:solidFill>
                            <a:srgbClr val="1E9E5A"/>
                          </a:solidFill>
                          <a:latin typeface="Calibri"/>
                        </a:rPr>
                        <a:t>✓</a:t>
                      </a:r>
                    </a:p>
                  </a:txBody>
                  <a:tcPr>
                    <a:solidFill>
                      <a:srgbClr val="F8C9A8"/>
                    </a:solidFill>
                  </a:tcPr>
                </a:tc>
                <a:tc>
                  <a:txBody>
                    <a:bodyPr/>
                    <a:lstStyle/>
                    <a:p>
                      <a:pPr algn="ctr"/>
                      <a:r>
                        <a:rPr b="1" sz="1300">
                          <a:solidFill>
                            <a:srgbClr val="1E9E5A"/>
                          </a:solidFill>
                          <a:latin typeface="Calibri"/>
                        </a:rPr>
                        <a:t>✓</a:t>
                      </a:r>
                    </a:p>
                  </a:txBody>
                  <a:tcPr>
                    <a:solidFill>
                      <a:srgbClr val="F8C9A8"/>
                    </a:solidFill>
                  </a:tcPr>
                </a:tc>
                <a:tc>
                  <a:txBody>
                    <a:bodyPr/>
                    <a:lstStyle/>
                    <a:p>
                      <a:pPr algn="ctr"/>
                      <a:r>
                        <a:rPr b="1" sz="1300">
                          <a:solidFill>
                            <a:srgbClr val="1E9E5A"/>
                          </a:solidFill>
                          <a:latin typeface="Calibri"/>
                        </a:rPr>
                        <a:t>✓</a:t>
                      </a:r>
                    </a:p>
                  </a:txBody>
                  <a:tcPr>
                    <a:solidFill>
                      <a:srgbClr val="F8C9A8"/>
                    </a:solidFill>
                  </a:tcPr>
                </a:tc>
                <a:tc>
                  <a:txBody>
                    <a:bodyPr/>
                    <a:lstStyle/>
                    <a:p>
                      <a:pPr algn="ctr"/>
                      <a:r>
                        <a:rPr b="1" sz="1300">
                          <a:solidFill>
                            <a:srgbClr val="1E9E5A"/>
                          </a:solidFill>
                          <a:latin typeface="Calibri"/>
                        </a:rPr>
                        <a:t>✓</a:t>
                      </a:r>
                    </a:p>
                  </a:txBody>
                  <a:tcPr>
                    <a:solidFill>
                      <a:srgbClr val="F8C9A8"/>
                    </a:solidFill>
                  </a:tcPr>
                </a:tc>
                <a:tc>
                  <a:txBody>
                    <a:bodyPr/>
                    <a:lstStyle/>
                    <a:p>
                      <a:pPr algn="ctr"/>
                      <a:r>
                        <a:rPr b="1" sz="1300">
                          <a:solidFill>
                            <a:srgbClr val="1E9E5A"/>
                          </a:solidFill>
                          <a:latin typeface="Calibri"/>
                        </a:rPr>
                        <a:t>✓</a:t>
                      </a:r>
                    </a:p>
                  </a:txBody>
                  <a:tcPr>
                    <a:solidFill>
                      <a:srgbClr val="F8C9A8"/>
                    </a:solidFill>
                  </a:tcPr>
                </a:tc>
              </a:tr>
              <a:tr h="463731">
                <a:tc>
                  <a:txBody>
                    <a:bodyPr/>
                    <a:lstStyle/>
                    <a:p>
                      <a:pPr algn="l"/>
                      <a:r>
                        <a:rPr b="1" sz="1150">
                          <a:solidFill>
                            <a:srgbClr val="111828"/>
                          </a:solidFill>
                          <a:latin typeface="Calibri"/>
                        </a:rPr>
                        <a:t>Mahir</a:t>
                      </a:r>
                    </a:p>
                  </a:txBody>
                  <a:tcPr>
                    <a:solidFill>
                      <a:srgbClr val="FFFFFF"/>
                    </a:solidFill>
                  </a:tcPr>
                </a:tc>
                <a:tc>
                  <a:txBody>
                    <a:bodyPr/>
                    <a:lstStyle/>
                    <a:p>
                      <a:pPr algn="ctr"/>
                      <a:r>
                        <a:rPr b="1" sz="1300">
                          <a:solidFill>
                            <a:srgbClr val="C97A12"/>
                          </a:solidFill>
                          <a:latin typeface="Calibri"/>
                        </a:rPr>
                        <a:t>~</a:t>
                      </a:r>
                    </a:p>
                  </a:txBody>
                  <a:tcPr>
                    <a:solidFill>
                      <a:srgbClr val="FFFFFF"/>
                    </a:solidFill>
                  </a:tcPr>
                </a:tc>
                <a:tc>
                  <a:txBody>
                    <a:bodyPr/>
                    <a:lstStyle/>
                    <a:p>
                      <a:pPr algn="ctr"/>
                      <a:r>
                        <a:rPr b="1" sz="1300">
                          <a:solidFill>
                            <a:srgbClr val="C23B22"/>
                          </a:solidFill>
                          <a:latin typeface="Calibri"/>
                        </a:rPr>
                        <a:t>✗</a:t>
                      </a:r>
                    </a:p>
                  </a:txBody>
                  <a:tcPr>
                    <a:solidFill>
                      <a:srgbClr val="FFFFFF"/>
                    </a:solidFill>
                  </a:tcPr>
                </a:tc>
                <a:tc>
                  <a:txBody>
                    <a:bodyPr/>
                    <a:lstStyle/>
                    <a:p>
                      <a:pPr algn="ctr"/>
                      <a:r>
                        <a:rPr b="1" sz="1300">
                          <a:solidFill>
                            <a:srgbClr val="C23B22"/>
                          </a:solidFill>
                          <a:latin typeface="Calibri"/>
                        </a:rPr>
                        <a:t>✗</a:t>
                      </a:r>
                    </a:p>
                  </a:txBody>
                  <a:tcPr>
                    <a:solidFill>
                      <a:srgbClr val="FFFFFF"/>
                    </a:solidFill>
                  </a:tcPr>
                </a:tc>
                <a:tc>
                  <a:txBody>
                    <a:bodyPr/>
                    <a:lstStyle/>
                    <a:p>
                      <a:pPr algn="ctr"/>
                      <a:r>
                        <a:rPr b="1" sz="1300">
                          <a:solidFill>
                            <a:srgbClr val="C23B22"/>
                          </a:solidFill>
                          <a:latin typeface="Calibri"/>
                        </a:rPr>
                        <a:t>✗</a:t>
                      </a:r>
                    </a:p>
                  </a:txBody>
                  <a:tcPr>
                    <a:solidFill>
                      <a:srgbClr val="FFFFFF"/>
                    </a:solidFill>
                  </a:tcPr>
                </a:tc>
                <a:tc>
                  <a:txBody>
                    <a:bodyPr/>
                    <a:lstStyle/>
                    <a:p>
                      <a:pPr algn="ctr"/>
                      <a:r>
                        <a:rPr b="1" sz="1300">
                          <a:solidFill>
                            <a:srgbClr val="C97A12"/>
                          </a:solidFill>
                          <a:latin typeface="Calibri"/>
                        </a:rPr>
                        <a:t>~</a:t>
                      </a:r>
                    </a:p>
                  </a:txBody>
                  <a:tcPr>
                    <a:solidFill>
                      <a:srgbClr val="FFFFFF"/>
                    </a:solidFill>
                  </a:tcPr>
                </a:tc>
                <a:tc>
                  <a:txBody>
                    <a:bodyPr/>
                    <a:lstStyle/>
                    <a:p>
                      <a:pPr algn="ctr"/>
                      <a:r>
                        <a:rPr b="1" sz="1300">
                          <a:solidFill>
                            <a:srgbClr val="C97A12"/>
                          </a:solidFill>
                          <a:latin typeface="Calibri"/>
                        </a:rPr>
                        <a:t>~</a:t>
                      </a:r>
                    </a:p>
                  </a:txBody>
                  <a:tcPr>
                    <a:solidFill>
                      <a:srgbClr val="FFFFFF"/>
                    </a:solidFill>
                  </a:tcPr>
                </a:tc>
              </a:tr>
              <a:tr h="463731">
                <a:tc>
                  <a:txBody>
                    <a:bodyPr/>
                    <a:lstStyle/>
                    <a:p>
                      <a:pPr algn="l"/>
                      <a:r>
                        <a:rPr b="1" sz="1150">
                          <a:solidFill>
                            <a:srgbClr val="111828"/>
                          </a:solidFill>
                          <a:latin typeface="Calibri"/>
                        </a:rPr>
                        <a:t>RepairGuru</a:t>
                      </a:r>
                    </a:p>
                  </a:txBody>
                  <a:tcPr>
                    <a:solidFill>
                      <a:srgbClr val="FFFFFF"/>
                    </a:solidFill>
                  </a:tcPr>
                </a:tc>
                <a:tc>
                  <a:txBody>
                    <a:bodyPr/>
                    <a:lstStyle/>
                    <a:p>
                      <a:pPr algn="ctr"/>
                      <a:r>
                        <a:rPr b="1" sz="1300">
                          <a:solidFill>
                            <a:srgbClr val="C97A12"/>
                          </a:solidFill>
                          <a:latin typeface="Calibri"/>
                        </a:rPr>
                        <a:t>~</a:t>
                      </a:r>
                    </a:p>
                  </a:txBody>
                  <a:tcPr>
                    <a:solidFill>
                      <a:srgbClr val="FCEEE2"/>
                    </a:solidFill>
                  </a:tcPr>
                </a:tc>
                <a:tc>
                  <a:txBody>
                    <a:bodyPr/>
                    <a:lstStyle/>
                    <a:p>
                      <a:pPr algn="ctr"/>
                      <a:r>
                        <a:rPr b="1" sz="1300">
                          <a:solidFill>
                            <a:srgbClr val="C23B22"/>
                          </a:solidFill>
                          <a:latin typeface="Calibri"/>
                        </a:rPr>
                        <a:t>✗</a:t>
                      </a:r>
                    </a:p>
                  </a:txBody>
                  <a:tcPr>
                    <a:solidFill>
                      <a:srgbClr val="FCEEE2"/>
                    </a:solidFill>
                  </a:tcPr>
                </a:tc>
                <a:tc>
                  <a:txBody>
                    <a:bodyPr/>
                    <a:lstStyle/>
                    <a:p>
                      <a:pPr algn="ctr"/>
                      <a:r>
                        <a:rPr b="1" sz="1300">
                          <a:solidFill>
                            <a:srgbClr val="C23B22"/>
                          </a:solidFill>
                          <a:latin typeface="Calibri"/>
                        </a:rPr>
                        <a:t>✗</a:t>
                      </a:r>
                    </a:p>
                  </a:txBody>
                  <a:tcPr>
                    <a:solidFill>
                      <a:srgbClr val="FCEEE2"/>
                    </a:solidFill>
                  </a:tcPr>
                </a:tc>
                <a:tc>
                  <a:txBody>
                    <a:bodyPr/>
                    <a:lstStyle/>
                    <a:p>
                      <a:pPr algn="ctr"/>
                      <a:r>
                        <a:rPr b="1" sz="1300">
                          <a:solidFill>
                            <a:srgbClr val="C23B22"/>
                          </a:solidFill>
                          <a:latin typeface="Calibri"/>
                        </a:rPr>
                        <a:t>✗</a:t>
                      </a:r>
                    </a:p>
                  </a:txBody>
                  <a:tcPr>
                    <a:solidFill>
                      <a:srgbClr val="FCEEE2"/>
                    </a:solidFill>
                  </a:tcPr>
                </a:tc>
                <a:tc>
                  <a:txBody>
                    <a:bodyPr/>
                    <a:lstStyle/>
                    <a:p>
                      <a:pPr algn="ctr"/>
                      <a:r>
                        <a:rPr b="1" sz="1300">
                          <a:solidFill>
                            <a:srgbClr val="C97A12"/>
                          </a:solidFill>
                          <a:latin typeface="Calibri"/>
                        </a:rPr>
                        <a:t>~</a:t>
                      </a:r>
                    </a:p>
                  </a:txBody>
                  <a:tcPr>
                    <a:solidFill>
                      <a:srgbClr val="FCEEE2"/>
                    </a:solidFill>
                  </a:tcPr>
                </a:tc>
                <a:tc>
                  <a:txBody>
                    <a:bodyPr/>
                    <a:lstStyle/>
                    <a:p>
                      <a:pPr algn="ctr"/>
                      <a:r>
                        <a:rPr b="1" sz="1300">
                          <a:solidFill>
                            <a:srgbClr val="C97A12"/>
                          </a:solidFill>
                          <a:latin typeface="Calibri"/>
                        </a:rPr>
                        <a:t>~</a:t>
                      </a:r>
                    </a:p>
                  </a:txBody>
                  <a:tcPr>
                    <a:solidFill>
                      <a:srgbClr val="FCEEE2"/>
                    </a:solidFill>
                  </a:tcPr>
                </a:tc>
              </a:tr>
              <a:tr h="463731">
                <a:tc>
                  <a:txBody>
                    <a:bodyPr/>
                    <a:lstStyle/>
                    <a:p>
                      <a:pPr algn="l"/>
                      <a:r>
                        <a:rPr b="1" sz="1150">
                          <a:solidFill>
                            <a:srgbClr val="111828"/>
                          </a:solidFill>
                          <a:latin typeface="Calibri"/>
                        </a:rPr>
                        <a:t>OLX / classifieds</a:t>
                      </a:r>
                    </a:p>
                  </a:txBody>
                  <a:tcPr>
                    <a:solidFill>
                      <a:srgbClr val="FFFFFF"/>
                    </a:solidFill>
                  </a:tcPr>
                </a:tc>
                <a:tc>
                  <a:txBody>
                    <a:bodyPr/>
                    <a:lstStyle/>
                    <a:p>
                      <a:pPr algn="ctr"/>
                      <a:r>
                        <a:rPr b="1" sz="1300">
                          <a:solidFill>
                            <a:srgbClr val="C23B22"/>
                          </a:solidFill>
                          <a:latin typeface="Calibri"/>
                        </a:rPr>
                        <a:t>✗</a:t>
                      </a:r>
                    </a:p>
                  </a:txBody>
                  <a:tcPr>
                    <a:solidFill>
                      <a:srgbClr val="FFFFFF"/>
                    </a:solidFill>
                  </a:tcPr>
                </a:tc>
                <a:tc>
                  <a:txBody>
                    <a:bodyPr/>
                    <a:lstStyle/>
                    <a:p>
                      <a:pPr algn="ctr"/>
                      <a:r>
                        <a:rPr b="1" sz="1300">
                          <a:solidFill>
                            <a:srgbClr val="C23B22"/>
                          </a:solidFill>
                          <a:latin typeface="Calibri"/>
                        </a:rPr>
                        <a:t>✗</a:t>
                      </a:r>
                    </a:p>
                  </a:txBody>
                  <a:tcPr>
                    <a:solidFill>
                      <a:srgbClr val="FFFFFF"/>
                    </a:solidFill>
                  </a:tcPr>
                </a:tc>
                <a:tc>
                  <a:txBody>
                    <a:bodyPr/>
                    <a:lstStyle/>
                    <a:p>
                      <a:pPr algn="ctr"/>
                      <a:r>
                        <a:rPr b="1" sz="1300">
                          <a:solidFill>
                            <a:srgbClr val="C23B22"/>
                          </a:solidFill>
                          <a:latin typeface="Calibri"/>
                        </a:rPr>
                        <a:t>✗</a:t>
                      </a:r>
                    </a:p>
                  </a:txBody>
                  <a:tcPr>
                    <a:solidFill>
                      <a:srgbClr val="FFFFFF"/>
                    </a:solidFill>
                  </a:tcPr>
                </a:tc>
                <a:tc>
                  <a:txBody>
                    <a:bodyPr/>
                    <a:lstStyle/>
                    <a:p>
                      <a:pPr algn="ctr"/>
                      <a:r>
                        <a:rPr b="1" sz="1300">
                          <a:solidFill>
                            <a:srgbClr val="C23B22"/>
                          </a:solidFill>
                          <a:latin typeface="Calibri"/>
                        </a:rPr>
                        <a:t>✗</a:t>
                      </a:r>
                    </a:p>
                  </a:txBody>
                  <a:tcPr>
                    <a:solidFill>
                      <a:srgbClr val="FFFFFF"/>
                    </a:solidFill>
                  </a:tcPr>
                </a:tc>
                <a:tc>
                  <a:txBody>
                    <a:bodyPr/>
                    <a:lstStyle/>
                    <a:p>
                      <a:pPr algn="ctr"/>
                      <a:r>
                        <a:rPr b="1" sz="1300">
                          <a:solidFill>
                            <a:srgbClr val="C23B22"/>
                          </a:solidFill>
                          <a:latin typeface="Calibri"/>
                        </a:rPr>
                        <a:t>✗</a:t>
                      </a:r>
                    </a:p>
                  </a:txBody>
                  <a:tcPr>
                    <a:solidFill>
                      <a:srgbClr val="FFFFFF"/>
                    </a:solidFill>
                  </a:tcPr>
                </a:tc>
                <a:tc>
                  <a:txBody>
                    <a:bodyPr/>
                    <a:lstStyle/>
                    <a:p>
                      <a:pPr algn="ctr"/>
                      <a:r>
                        <a:rPr b="1" sz="1300">
                          <a:solidFill>
                            <a:srgbClr val="C23B22"/>
                          </a:solidFill>
                          <a:latin typeface="Calibri"/>
                        </a:rPr>
                        <a:t>✗</a:t>
                      </a:r>
                    </a:p>
                  </a:txBody>
                  <a:tcPr>
                    <a:solidFill>
                      <a:srgbClr val="FFFFFF"/>
                    </a:solidFill>
                  </a:tcPr>
                </a:tc>
              </a:tr>
              <a:tr h="463731">
                <a:tc>
                  <a:txBody>
                    <a:bodyPr/>
                    <a:lstStyle/>
                    <a:p>
                      <a:pPr algn="l"/>
                      <a:r>
                        <a:rPr b="1" sz="1150">
                          <a:solidFill>
                            <a:srgbClr val="111828"/>
                          </a:solidFill>
                          <a:latin typeface="Calibri"/>
                        </a:rPr>
                        <a:t>Facebook groups</a:t>
                      </a:r>
                    </a:p>
                  </a:txBody>
                  <a:tcPr>
                    <a:solidFill>
                      <a:srgbClr val="FFFFFF"/>
                    </a:solidFill>
                  </a:tcPr>
                </a:tc>
                <a:tc>
                  <a:txBody>
                    <a:bodyPr/>
                    <a:lstStyle/>
                    <a:p>
                      <a:pPr algn="ctr"/>
                      <a:r>
                        <a:rPr b="1" sz="1300">
                          <a:solidFill>
                            <a:srgbClr val="C23B22"/>
                          </a:solidFill>
                          <a:latin typeface="Calibri"/>
                        </a:rPr>
                        <a:t>✗</a:t>
                      </a:r>
                    </a:p>
                  </a:txBody>
                  <a:tcPr>
                    <a:solidFill>
                      <a:srgbClr val="FCEEE2"/>
                    </a:solidFill>
                  </a:tcPr>
                </a:tc>
                <a:tc>
                  <a:txBody>
                    <a:bodyPr/>
                    <a:lstStyle/>
                    <a:p>
                      <a:pPr algn="ctr"/>
                      <a:r>
                        <a:rPr b="1" sz="1300">
                          <a:solidFill>
                            <a:srgbClr val="C23B22"/>
                          </a:solidFill>
                          <a:latin typeface="Calibri"/>
                        </a:rPr>
                        <a:t>✗</a:t>
                      </a:r>
                    </a:p>
                  </a:txBody>
                  <a:tcPr>
                    <a:solidFill>
                      <a:srgbClr val="FCEEE2"/>
                    </a:solidFill>
                  </a:tcPr>
                </a:tc>
                <a:tc>
                  <a:txBody>
                    <a:bodyPr/>
                    <a:lstStyle/>
                    <a:p>
                      <a:pPr algn="ctr"/>
                      <a:r>
                        <a:rPr b="1" sz="1300">
                          <a:solidFill>
                            <a:srgbClr val="C23B22"/>
                          </a:solidFill>
                          <a:latin typeface="Calibri"/>
                        </a:rPr>
                        <a:t>✗</a:t>
                      </a:r>
                    </a:p>
                  </a:txBody>
                  <a:tcPr>
                    <a:solidFill>
                      <a:srgbClr val="FCEEE2"/>
                    </a:solidFill>
                  </a:tcPr>
                </a:tc>
                <a:tc>
                  <a:txBody>
                    <a:bodyPr/>
                    <a:lstStyle/>
                    <a:p>
                      <a:pPr algn="ctr"/>
                      <a:r>
                        <a:rPr b="1" sz="1300">
                          <a:solidFill>
                            <a:srgbClr val="C23B22"/>
                          </a:solidFill>
                          <a:latin typeface="Calibri"/>
                        </a:rPr>
                        <a:t>✗</a:t>
                      </a:r>
                    </a:p>
                  </a:txBody>
                  <a:tcPr>
                    <a:solidFill>
                      <a:srgbClr val="FCEEE2"/>
                    </a:solidFill>
                  </a:tcPr>
                </a:tc>
                <a:tc>
                  <a:txBody>
                    <a:bodyPr/>
                    <a:lstStyle/>
                    <a:p>
                      <a:pPr algn="ctr"/>
                      <a:r>
                        <a:rPr b="1" sz="1300">
                          <a:solidFill>
                            <a:srgbClr val="C23B22"/>
                          </a:solidFill>
                          <a:latin typeface="Calibri"/>
                        </a:rPr>
                        <a:t>✗</a:t>
                      </a:r>
                    </a:p>
                  </a:txBody>
                  <a:tcPr>
                    <a:solidFill>
                      <a:srgbClr val="FCEEE2"/>
                    </a:solidFill>
                  </a:tcPr>
                </a:tc>
                <a:tc>
                  <a:txBody>
                    <a:bodyPr/>
                    <a:lstStyle/>
                    <a:p>
                      <a:pPr algn="ctr"/>
                      <a:r>
                        <a:rPr b="1" sz="1300">
                          <a:solidFill>
                            <a:srgbClr val="C23B22"/>
                          </a:solidFill>
                          <a:latin typeface="Calibri"/>
                        </a:rPr>
                        <a:t>✗</a:t>
                      </a:r>
                    </a:p>
                  </a:txBody>
                  <a:tcPr>
                    <a:solidFill>
                      <a:srgbClr val="FCEEE2"/>
                    </a:solidFill>
                  </a:tcPr>
                </a:tc>
              </a:tr>
              <a:tr h="463734">
                <a:tc>
                  <a:txBody>
                    <a:bodyPr/>
                    <a:lstStyle/>
                    <a:p>
                      <a:pPr algn="l"/>
                      <a:r>
                        <a:rPr b="1" sz="1150">
                          <a:solidFill>
                            <a:srgbClr val="111828"/>
                          </a:solidFill>
                          <a:latin typeface="Calibri"/>
                        </a:rPr>
                        <a:t>Word-of-mouth</a:t>
                      </a:r>
                    </a:p>
                  </a:txBody>
                  <a:tcPr>
                    <a:solidFill>
                      <a:srgbClr val="FFFFFF"/>
                    </a:solidFill>
                  </a:tcPr>
                </a:tc>
                <a:tc>
                  <a:txBody>
                    <a:bodyPr/>
                    <a:lstStyle/>
                    <a:p>
                      <a:pPr algn="ctr"/>
                      <a:r>
                        <a:rPr b="1" sz="1300">
                          <a:solidFill>
                            <a:srgbClr val="C23B22"/>
                          </a:solidFill>
                          <a:latin typeface="Calibri"/>
                        </a:rPr>
                        <a:t>✗</a:t>
                      </a:r>
                    </a:p>
                  </a:txBody>
                  <a:tcPr>
                    <a:solidFill>
                      <a:srgbClr val="FFFFFF"/>
                    </a:solidFill>
                  </a:tcPr>
                </a:tc>
                <a:tc>
                  <a:txBody>
                    <a:bodyPr/>
                    <a:lstStyle/>
                    <a:p>
                      <a:pPr algn="ctr"/>
                      <a:r>
                        <a:rPr b="1" sz="1300">
                          <a:solidFill>
                            <a:srgbClr val="C23B22"/>
                          </a:solidFill>
                          <a:latin typeface="Calibri"/>
                        </a:rPr>
                        <a:t>✗</a:t>
                      </a:r>
                    </a:p>
                  </a:txBody>
                  <a:tcPr>
                    <a:solidFill>
                      <a:srgbClr val="FFFFFF"/>
                    </a:solidFill>
                  </a:tcPr>
                </a:tc>
                <a:tc>
                  <a:txBody>
                    <a:bodyPr/>
                    <a:lstStyle/>
                    <a:p>
                      <a:pPr algn="ctr"/>
                      <a:r>
                        <a:rPr b="1" sz="1300">
                          <a:solidFill>
                            <a:srgbClr val="C23B22"/>
                          </a:solidFill>
                          <a:latin typeface="Calibri"/>
                        </a:rPr>
                        <a:t>✗</a:t>
                      </a:r>
                    </a:p>
                  </a:txBody>
                  <a:tcPr>
                    <a:solidFill>
                      <a:srgbClr val="FFFFFF"/>
                    </a:solidFill>
                  </a:tcPr>
                </a:tc>
                <a:tc>
                  <a:txBody>
                    <a:bodyPr/>
                    <a:lstStyle/>
                    <a:p>
                      <a:pPr algn="ctr"/>
                      <a:r>
                        <a:rPr b="1" sz="1300">
                          <a:solidFill>
                            <a:srgbClr val="C23B22"/>
                          </a:solidFill>
                          <a:latin typeface="Calibri"/>
                        </a:rPr>
                        <a:t>✗</a:t>
                      </a:r>
                    </a:p>
                  </a:txBody>
                  <a:tcPr>
                    <a:solidFill>
                      <a:srgbClr val="FFFFFF"/>
                    </a:solidFill>
                  </a:tcPr>
                </a:tc>
                <a:tc>
                  <a:txBody>
                    <a:bodyPr/>
                    <a:lstStyle/>
                    <a:p>
                      <a:pPr algn="ctr"/>
                      <a:r>
                        <a:rPr b="1" sz="1300">
                          <a:solidFill>
                            <a:srgbClr val="C97A12"/>
                          </a:solidFill>
                          <a:latin typeface="Calibri"/>
                        </a:rPr>
                        <a:t>~</a:t>
                      </a:r>
                    </a:p>
                  </a:txBody>
                  <a:tcPr>
                    <a:solidFill>
                      <a:srgbClr val="FFFFFF"/>
                    </a:solidFill>
                  </a:tcPr>
                </a:tc>
                <a:tc>
                  <a:txBody>
                    <a:bodyPr/>
                    <a:lstStyle/>
                    <a:p>
                      <a:pPr algn="ctr"/>
                      <a:r>
                        <a:rPr b="1" sz="1300">
                          <a:solidFill>
                            <a:srgbClr val="C23B22"/>
                          </a:solidFill>
                          <a:latin typeface="Calibri"/>
                        </a:rPr>
                        <a:t>✗</a:t>
                      </a:r>
                    </a:p>
                  </a:txBody>
                  <a:tcPr>
                    <a:solidFill>
                      <a:srgbClr val="FFFFFF"/>
                    </a:solidFill>
                  </a:tcPr>
                </a:tc>
              </a:tr>
            </a:tbl>
          </a:graphicData>
        </a:graphic>
      </p:graphicFrame>
      <p:sp>
        <p:nvSpPr>
          <p:cNvPr id="8" name="Rectangle 7"/>
          <p:cNvSpPr/>
          <p:nvPr/>
        </p:nvSpPr>
        <p:spPr>
          <a:xfrm>
            <a:off x="731520" y="5138928"/>
            <a:ext cx="10698480" cy="420624"/>
          </a:xfrm>
          <a:prstGeom prst="rect">
            <a:avLst/>
          </a:prstGeom>
          <a:solidFill>
            <a:srgbClr val="FCEE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14400" y="5138928"/>
            <a:ext cx="10332720" cy="420624"/>
          </a:xfrm>
          <a:prstGeom prst="rect">
            <a:avLst/>
          </a:prstGeom>
          <a:noFill/>
        </p:spPr>
        <p:txBody>
          <a:bodyPr wrap="square" anchor="ctr">
            <a:spAutoFit/>
          </a:bodyPr>
          <a:lstStyle/>
          <a:p>
            <a:pPr algn="l">
              <a:lnSpc>
                <a:spcPct val="105000"/>
              </a:lnSpc>
              <a:spcAft>
                <a:spcPts val="600"/>
              </a:spcAft>
            </a:pPr>
            <a:r>
              <a:rPr sz="1100" b="1">
                <a:solidFill>
                  <a:srgbClr val="111828"/>
                </a:solidFill>
                <a:latin typeface="Calibri"/>
              </a:rPr>
              <a:t>The real competitor is informality — ~90–95% of the market is still cash, unverified, untracked.  </a:t>
            </a:r>
            <a:r>
              <a:rPr sz="900" b="0">
                <a:solidFill>
                  <a:srgbClr val="6B707A"/>
                </a:solidFill>
                <a:latin typeface="Calibri"/>
              </a:rPr>
              <a:t>(industry estimate)</a:t>
            </a:r>
          </a:p>
        </p:txBody>
      </p:sp>
      <p:sp>
        <p:nvSpPr>
          <p:cNvPr id="10" name="Rectangle 9"/>
          <p:cNvSpPr/>
          <p:nvPr/>
        </p:nvSpPr>
        <p:spPr>
          <a:xfrm>
            <a:off x="731520" y="5632704"/>
            <a:ext cx="10698480" cy="676656"/>
          </a:xfrm>
          <a:prstGeom prst="rect">
            <a:avLst/>
          </a:prstGeom>
          <a:solidFill>
            <a:srgbClr val="1118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14400" y="5632704"/>
            <a:ext cx="10332720" cy="676656"/>
          </a:xfrm>
          <a:prstGeom prst="rect">
            <a:avLst/>
          </a:prstGeom>
          <a:noFill/>
        </p:spPr>
        <p:txBody>
          <a:bodyPr wrap="square" anchor="ctr">
            <a:spAutoFit/>
          </a:bodyPr>
          <a:lstStyle/>
          <a:p>
            <a:pPr algn="l">
              <a:lnSpc>
                <a:spcPct val="100000"/>
              </a:lnSpc>
              <a:spcAft>
                <a:spcPts val="100"/>
              </a:spcAft>
            </a:pPr>
            <a:r>
              <a:rPr sz="1100" b="1">
                <a:solidFill>
                  <a:srgbClr val="DB4B0D"/>
                </a:solidFill>
                <a:latin typeface="Calibri"/>
              </a:rPr>
              <a:t>Why bookings stay on-platform (anti-disintermediation):  </a:t>
            </a:r>
          </a:p>
          <a:p>
            <a:pPr algn="l">
              <a:lnSpc>
                <a:spcPct val="100000"/>
              </a:lnSpc>
              <a:spcAft>
                <a:spcPts val="100"/>
              </a:spcAft>
            </a:pPr>
            <a:r>
              <a:rPr sz="1000" b="0">
                <a:solidFill>
                  <a:srgbClr val="FFFFFF"/>
                </a:solidFill>
                <a:latin typeface="Calibri"/>
              </a:rPr>
              <a:t>3-day warranty &amp; dispute cover apply only to in-app jobs · a provider's ratings, job history &amp; search visibility — i.e. their future demand — live only here · customer loyalty credits + wallet incentives. Going cash-direct forfeits all of it.</a:t>
            </a:r>
          </a:p>
        </p:txBody>
      </p:sp>
      <p:sp>
        <p:nvSpPr>
          <p:cNvPr id="12" name="TextBox 11"/>
          <p:cNvSpPr txBox="1"/>
          <p:nvPr/>
        </p:nvSpPr>
        <p:spPr>
          <a:xfrm>
            <a:off x="457200" y="6446520"/>
            <a:ext cx="7315200" cy="320040"/>
          </a:xfrm>
          <a:prstGeom prst="rect">
            <a:avLst/>
          </a:prstGeom>
          <a:noFill/>
        </p:spPr>
        <p:txBody>
          <a:bodyPr wrap="square" anchor="t">
            <a:spAutoFit/>
          </a:bodyPr>
          <a:lstStyle/>
          <a:p>
            <a:pPr algn="l">
              <a:lnSpc>
                <a:spcPct val="105000"/>
              </a:lnSpc>
              <a:spcAft>
                <a:spcPts val="600"/>
              </a:spcAft>
            </a:pPr>
            <a:r>
              <a:rPr sz="900" b="1">
                <a:solidFill>
                  <a:srgbClr val="DB4B0D"/>
                </a:solidFill>
                <a:latin typeface="Calibri"/>
              </a:rPr>
              <a:t>USTAZ</a:t>
            </a:r>
            <a:r>
              <a:rPr sz="900" b="0">
                <a:solidFill>
                  <a:srgbClr val="6B707A"/>
                </a:solidFill>
                <a:latin typeface="Calibri"/>
              </a:rPr>
              <a:t>   ustaz-bice.vercel.app</a:t>
            </a:r>
          </a:p>
        </p:txBody>
      </p:sp>
      <p:sp>
        <p:nvSpPr>
          <p:cNvPr id="13" name="TextBox 12"/>
          <p:cNvSpPr txBox="1"/>
          <p:nvPr/>
        </p:nvSpPr>
        <p:spPr>
          <a:xfrm>
            <a:off x="11338560" y="6446520"/>
            <a:ext cx="548640" cy="320040"/>
          </a:xfrm>
          <a:prstGeom prst="rect">
            <a:avLst/>
          </a:prstGeom>
          <a:noFill/>
        </p:spPr>
        <p:txBody>
          <a:bodyPr wrap="square" anchor="t">
            <a:spAutoFit/>
          </a:bodyPr>
          <a:lstStyle/>
          <a:p>
            <a:pPr algn="r">
              <a:lnSpc>
                <a:spcPct val="105000"/>
              </a:lnSpc>
              <a:spcAft>
                <a:spcPts val="600"/>
              </a:spcAft>
            </a:pPr>
            <a:r>
              <a:rPr sz="900" b="1">
                <a:solidFill>
                  <a:srgbClr val="6B707A"/>
                </a:solidFill>
                <a:latin typeface="Calibri"/>
              </a:rPr>
              <a:t>10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57200" y="640080"/>
            <a:ext cx="109728" cy="1051560"/>
          </a:xfrm>
          <a:prstGeom prst="rect">
            <a:avLst/>
          </a:prstGeom>
          <a:solidFill>
            <a:srgbClr val="DB4B0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11155680" y="-548640"/>
            <a:ext cx="1645920" cy="1645920"/>
          </a:xfrm>
          <a:prstGeom prst="ellipse">
            <a:avLst/>
          </a:prstGeom>
          <a:solidFill>
            <a:srgbClr val="FCEE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566928"/>
            <a:ext cx="9144000" cy="365760"/>
          </a:xfrm>
          <a:prstGeom prst="rect">
            <a:avLst/>
          </a:prstGeom>
          <a:noFill/>
        </p:spPr>
        <p:txBody>
          <a:bodyPr wrap="square" anchor="t">
            <a:spAutoFit/>
          </a:bodyPr>
          <a:lstStyle/>
          <a:p>
            <a:pPr algn="l">
              <a:lnSpc>
                <a:spcPct val="105000"/>
              </a:lnSpc>
              <a:spcAft>
                <a:spcPts val="600"/>
              </a:spcAft>
            </a:pPr>
            <a:r>
              <a:rPr sz="1200" b="1">
                <a:solidFill>
                  <a:srgbClr val="DB4B0D"/>
                </a:solidFill>
                <a:latin typeface="Calibri"/>
              </a:rPr>
              <a:t>10. MARKETING &amp; DISTRIBUTION CHANNELS</a:t>
            </a:r>
          </a:p>
        </p:txBody>
      </p:sp>
      <p:sp>
        <p:nvSpPr>
          <p:cNvPr id="6" name="TextBox 5"/>
          <p:cNvSpPr txBox="1"/>
          <p:nvPr/>
        </p:nvSpPr>
        <p:spPr>
          <a:xfrm>
            <a:off x="713232" y="914400"/>
            <a:ext cx="10515600" cy="822960"/>
          </a:xfrm>
          <a:prstGeom prst="rect">
            <a:avLst/>
          </a:prstGeom>
          <a:noFill/>
        </p:spPr>
        <p:txBody>
          <a:bodyPr wrap="square" anchor="t">
            <a:spAutoFit/>
          </a:bodyPr>
          <a:lstStyle/>
          <a:p>
            <a:pPr algn="l">
              <a:lnSpc>
                <a:spcPct val="105000"/>
              </a:lnSpc>
              <a:spcAft>
                <a:spcPts val="600"/>
              </a:spcAft>
            </a:pPr>
            <a:r>
              <a:rPr sz="3000" b="1">
                <a:solidFill>
                  <a:srgbClr val="111828"/>
                </a:solidFill>
                <a:latin typeface="Calibri"/>
              </a:rPr>
              <a:t>Two acquisition engines, one flywheel</a:t>
            </a:r>
          </a:p>
        </p:txBody>
      </p:sp>
      <p:sp>
        <p:nvSpPr>
          <p:cNvPr id="7" name="Rectangle 6"/>
          <p:cNvSpPr/>
          <p:nvPr/>
        </p:nvSpPr>
        <p:spPr>
          <a:xfrm>
            <a:off x="731520" y="1783080"/>
            <a:ext cx="5166360" cy="3977639"/>
          </a:xfrm>
          <a:prstGeom prst="rect">
            <a:avLst/>
          </a:prstGeom>
          <a:solidFill>
            <a:srgbClr val="FCEE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31520" y="1783080"/>
            <a:ext cx="5166360" cy="109728"/>
          </a:xfrm>
          <a:prstGeom prst="rect">
            <a:avLst/>
          </a:prstGeom>
          <a:solidFill>
            <a:srgbClr val="DB4B0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2011680"/>
            <a:ext cx="4663440" cy="457200"/>
          </a:xfrm>
          <a:prstGeom prst="rect">
            <a:avLst/>
          </a:prstGeom>
          <a:noFill/>
        </p:spPr>
        <p:txBody>
          <a:bodyPr wrap="square" anchor="t">
            <a:spAutoFit/>
          </a:bodyPr>
          <a:lstStyle/>
          <a:p>
            <a:pPr algn="l">
              <a:lnSpc>
                <a:spcPct val="105000"/>
              </a:lnSpc>
              <a:spcAft>
                <a:spcPts val="600"/>
              </a:spcAft>
            </a:pPr>
            <a:r>
              <a:rPr sz="1300" b="1">
                <a:solidFill>
                  <a:srgbClr val="DB4B0D"/>
                </a:solidFill>
                <a:latin typeface="Calibri"/>
              </a:rPr>
              <a:t>DEMAND  ·  acquiring customers</a:t>
            </a:r>
          </a:p>
        </p:txBody>
      </p:sp>
      <p:sp>
        <p:nvSpPr>
          <p:cNvPr id="10" name="TextBox 9"/>
          <p:cNvSpPr txBox="1"/>
          <p:nvPr/>
        </p:nvSpPr>
        <p:spPr>
          <a:xfrm>
            <a:off x="1005840" y="2560320"/>
            <a:ext cx="4709160" cy="3108960"/>
          </a:xfrm>
          <a:prstGeom prst="rect">
            <a:avLst/>
          </a:prstGeom>
          <a:noFill/>
        </p:spPr>
        <p:txBody>
          <a:bodyPr wrap="square">
            <a:spAutoFit/>
          </a:bodyPr>
          <a:lstStyle/>
          <a:p>
            <a:pPr>
              <a:lnSpc>
                <a:spcPct val="105000"/>
              </a:lnSpc>
              <a:spcAft>
                <a:spcPts val="800"/>
              </a:spcAft>
            </a:pPr>
            <a:r>
              <a:rPr sz="1200" b="1">
                <a:solidFill>
                  <a:srgbClr val="DB4B0D"/>
                </a:solidFill>
                <a:latin typeface="Calibri"/>
              </a:rPr>
              <a:t>▸  </a:t>
            </a:r>
            <a:r>
              <a:rPr sz="1200" b="1">
                <a:solidFill>
                  <a:srgbClr val="111828"/>
                </a:solidFill>
                <a:latin typeface="Calibri"/>
              </a:rPr>
              <a:t>Meta / TikTok ads — </a:t>
            </a:r>
            <a:r>
              <a:rPr sz="1200" b="0">
                <a:solidFill>
                  <a:srgbClr val="3A3F4A"/>
                </a:solidFill>
                <a:latin typeface="Calibri"/>
              </a:rPr>
              <a:t>Karachi women 25–45, home-owner interest.</a:t>
            </a:r>
          </a:p>
          <a:p>
            <a:pPr>
              <a:lnSpc>
                <a:spcPct val="105000"/>
              </a:lnSpc>
              <a:spcAft>
                <a:spcPts val="800"/>
              </a:spcAft>
            </a:pPr>
            <a:r>
              <a:rPr sz="1200" b="1">
                <a:solidFill>
                  <a:srgbClr val="DB4B0D"/>
                </a:solidFill>
                <a:latin typeface="Calibri"/>
              </a:rPr>
              <a:t>▸  </a:t>
            </a:r>
            <a:r>
              <a:rPr sz="1200" b="1">
                <a:solidFill>
                  <a:srgbClr val="111828"/>
                </a:solidFill>
                <a:latin typeface="Calibri"/>
              </a:rPr>
              <a:t>SEO landing pages — </a:t>
            </a:r>
            <a:r>
              <a:rPr sz="1200" b="0">
                <a:solidFill>
                  <a:srgbClr val="3A3F4A"/>
                </a:solidFill>
                <a:latin typeface="Calibri"/>
              </a:rPr>
              <a:t>per service × city (already shipped — a live channel asset).</a:t>
            </a:r>
          </a:p>
          <a:p>
            <a:pPr>
              <a:lnSpc>
                <a:spcPct val="105000"/>
              </a:lnSpc>
              <a:spcAft>
                <a:spcPts val="800"/>
              </a:spcAft>
            </a:pPr>
            <a:r>
              <a:rPr sz="1200" b="1">
                <a:solidFill>
                  <a:srgbClr val="DB4B0D"/>
                </a:solidFill>
                <a:latin typeface="Calibri"/>
              </a:rPr>
              <a:t>▸  </a:t>
            </a:r>
            <a:r>
              <a:rPr sz="1200" b="1">
                <a:solidFill>
                  <a:srgbClr val="111828"/>
                </a:solidFill>
                <a:latin typeface="Calibri"/>
              </a:rPr>
              <a:t>Residential societies (B2B2C) — </a:t>
            </a:r>
            <a:r>
              <a:rPr sz="1200" b="0">
                <a:solidFill>
                  <a:srgbClr val="3A3F4A"/>
                </a:solidFill>
                <a:latin typeface="Calibri"/>
              </a:rPr>
              <a:t>one manager unlocks 200+ households.</a:t>
            </a:r>
          </a:p>
          <a:p>
            <a:pPr>
              <a:lnSpc>
                <a:spcPct val="105000"/>
              </a:lnSpc>
              <a:spcAft>
                <a:spcPts val="800"/>
              </a:spcAft>
            </a:pPr>
            <a:r>
              <a:rPr sz="1200" b="1">
                <a:solidFill>
                  <a:srgbClr val="DB4B0D"/>
                </a:solidFill>
                <a:latin typeface="Calibri"/>
              </a:rPr>
              <a:t>▸  </a:t>
            </a:r>
            <a:r>
              <a:rPr sz="1200" b="1">
                <a:solidFill>
                  <a:srgbClr val="111828"/>
                </a:solidFill>
                <a:latin typeface="Calibri"/>
              </a:rPr>
              <a:t>Referral loop — </a:t>
            </a:r>
            <a:r>
              <a:rPr sz="1200" b="0">
                <a:solidFill>
                  <a:srgbClr val="3A3F4A"/>
                </a:solidFill>
                <a:latin typeface="Calibri"/>
              </a:rPr>
              <a:t>customers earn for each new customer.</a:t>
            </a:r>
          </a:p>
          <a:p>
            <a:pPr>
              <a:lnSpc>
                <a:spcPct val="105000"/>
              </a:lnSpc>
              <a:spcAft>
                <a:spcPts val="800"/>
              </a:spcAft>
            </a:pPr>
            <a:r>
              <a:rPr sz="1200" b="1">
                <a:solidFill>
                  <a:srgbClr val="DB4B0D"/>
                </a:solidFill>
                <a:latin typeface="Calibri"/>
              </a:rPr>
              <a:t>▸  </a:t>
            </a:r>
            <a:r>
              <a:rPr sz="1200" b="1">
                <a:solidFill>
                  <a:srgbClr val="111828"/>
                </a:solidFill>
                <a:latin typeface="Calibri"/>
              </a:rPr>
              <a:t>Community &amp; mosque networks — </a:t>
            </a:r>
            <a:r>
              <a:rPr sz="1200" b="0">
                <a:solidFill>
                  <a:srgbClr val="3A3F4A"/>
                </a:solidFill>
                <a:latin typeface="Calibri"/>
              </a:rPr>
              <a:t>trust-building in conservative areas.</a:t>
            </a:r>
          </a:p>
        </p:txBody>
      </p:sp>
      <p:sp>
        <p:nvSpPr>
          <p:cNvPr id="11" name="Rectangle 10"/>
          <p:cNvSpPr/>
          <p:nvPr/>
        </p:nvSpPr>
        <p:spPr>
          <a:xfrm>
            <a:off x="6263640" y="1783080"/>
            <a:ext cx="5166360" cy="3977639"/>
          </a:xfrm>
          <a:prstGeom prst="rect">
            <a:avLst/>
          </a:prstGeom>
          <a:solidFill>
            <a:srgbClr val="1118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263640" y="1783080"/>
            <a:ext cx="5166360" cy="109728"/>
          </a:xfrm>
          <a:prstGeom prst="rect">
            <a:avLst/>
          </a:prstGeom>
          <a:solidFill>
            <a:srgbClr val="DB4B0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537960" y="2011680"/>
            <a:ext cx="4663440" cy="457200"/>
          </a:xfrm>
          <a:prstGeom prst="rect">
            <a:avLst/>
          </a:prstGeom>
          <a:noFill/>
        </p:spPr>
        <p:txBody>
          <a:bodyPr wrap="square" anchor="t">
            <a:spAutoFit/>
          </a:bodyPr>
          <a:lstStyle/>
          <a:p>
            <a:pPr algn="l">
              <a:lnSpc>
                <a:spcPct val="105000"/>
              </a:lnSpc>
              <a:spcAft>
                <a:spcPts val="600"/>
              </a:spcAft>
            </a:pPr>
            <a:r>
              <a:rPr sz="1300" b="1">
                <a:solidFill>
                  <a:srgbClr val="DB4B0D"/>
                </a:solidFill>
                <a:latin typeface="Calibri"/>
              </a:rPr>
              <a:t>SUPPLY  ·  acquiring providers</a:t>
            </a:r>
          </a:p>
        </p:txBody>
      </p:sp>
      <p:sp>
        <p:nvSpPr>
          <p:cNvPr id="14" name="TextBox 13"/>
          <p:cNvSpPr txBox="1"/>
          <p:nvPr/>
        </p:nvSpPr>
        <p:spPr>
          <a:xfrm>
            <a:off x="6537960" y="2560320"/>
            <a:ext cx="4709160" cy="3108960"/>
          </a:xfrm>
          <a:prstGeom prst="rect">
            <a:avLst/>
          </a:prstGeom>
          <a:noFill/>
        </p:spPr>
        <p:txBody>
          <a:bodyPr wrap="square">
            <a:spAutoFit/>
          </a:bodyPr>
          <a:lstStyle/>
          <a:p>
            <a:pPr>
              <a:lnSpc>
                <a:spcPct val="105000"/>
              </a:lnSpc>
              <a:spcAft>
                <a:spcPts val="900"/>
              </a:spcAft>
            </a:pPr>
            <a:r>
              <a:rPr sz="1200" b="1">
                <a:solidFill>
                  <a:srgbClr val="DB4B0D"/>
                </a:solidFill>
                <a:latin typeface="Calibri"/>
              </a:rPr>
              <a:t>▸  </a:t>
            </a:r>
            <a:r>
              <a:rPr sz="1200" b="1">
                <a:solidFill>
                  <a:srgbClr val="111828"/>
                </a:solidFill>
                <a:latin typeface="Calibri"/>
              </a:rPr>
              <a:t>Door-to-door — </a:t>
            </a:r>
            <a:r>
              <a:rPr sz="1200" b="0">
                <a:solidFill>
                  <a:srgbClr val="CFD3DA"/>
                </a:solidFill>
                <a:latin typeface="Calibri"/>
              </a:rPr>
              <a:t>Karachi trade hubs (Saddar, Lea Market, Sohrab Goth).</a:t>
            </a:r>
          </a:p>
          <a:p>
            <a:pPr>
              <a:lnSpc>
                <a:spcPct val="105000"/>
              </a:lnSpc>
              <a:spcAft>
                <a:spcPts val="900"/>
              </a:spcAft>
            </a:pPr>
            <a:r>
              <a:rPr sz="1200" b="1">
                <a:solidFill>
                  <a:srgbClr val="DB4B0D"/>
                </a:solidFill>
                <a:latin typeface="Calibri"/>
              </a:rPr>
              <a:t>▸  </a:t>
            </a:r>
            <a:r>
              <a:rPr sz="1200" b="1">
                <a:solidFill>
                  <a:srgbClr val="111828"/>
                </a:solidFill>
                <a:latin typeface="Calibri"/>
              </a:rPr>
              <a:t>Ustad / contractor referrals — </a:t>
            </a:r>
            <a:r>
              <a:rPr sz="1200" b="0">
                <a:solidFill>
                  <a:srgbClr val="CFD3DA"/>
                </a:solidFill>
                <a:latin typeface="Calibri"/>
              </a:rPr>
              <a:t>master tradesmen refer apprentices.</a:t>
            </a:r>
          </a:p>
          <a:p>
            <a:pPr>
              <a:lnSpc>
                <a:spcPct val="105000"/>
              </a:lnSpc>
              <a:spcAft>
                <a:spcPts val="900"/>
              </a:spcAft>
            </a:pPr>
            <a:r>
              <a:rPr sz="1200" b="1">
                <a:solidFill>
                  <a:srgbClr val="DB4B0D"/>
                </a:solidFill>
                <a:latin typeface="Calibri"/>
              </a:rPr>
              <a:t>▸  </a:t>
            </a:r>
            <a:r>
              <a:rPr sz="1200" b="1">
                <a:solidFill>
                  <a:srgbClr val="111828"/>
                </a:solidFill>
                <a:latin typeface="Calibri"/>
              </a:rPr>
              <a:t>Provider-led word-of-mouth — </a:t>
            </a:r>
            <a:r>
              <a:rPr sz="1200" b="0">
                <a:solidFill>
                  <a:srgbClr val="CFD3DA"/>
                </a:solidFill>
                <a:latin typeface="Calibri"/>
              </a:rPr>
              <a:t>satisfied pros recruit peers, at zero cost.</a:t>
            </a:r>
          </a:p>
          <a:p>
            <a:pPr>
              <a:lnSpc>
                <a:spcPct val="105000"/>
              </a:lnSpc>
              <a:spcAft>
                <a:spcPts val="900"/>
              </a:spcAft>
            </a:pPr>
            <a:r>
              <a:rPr sz="1200" b="1">
                <a:solidFill>
                  <a:srgbClr val="DB4B0D"/>
                </a:solidFill>
                <a:latin typeface="Calibri"/>
              </a:rPr>
              <a:t>▸  </a:t>
            </a:r>
            <a:r>
              <a:rPr sz="1200" b="1">
                <a:solidFill>
                  <a:srgbClr val="111828"/>
                </a:solidFill>
                <a:latin typeface="Calibri"/>
              </a:rPr>
              <a:t>Trade associations — </a:t>
            </a:r>
            <a:r>
              <a:rPr sz="1200" b="0">
                <a:solidFill>
                  <a:srgbClr val="CFD3DA"/>
                </a:solidFill>
                <a:latin typeface="Calibri"/>
              </a:rPr>
              <a:t>electrician &amp; plumber guild outreach.</a:t>
            </a:r>
          </a:p>
        </p:txBody>
      </p:sp>
      <p:sp>
        <p:nvSpPr>
          <p:cNvPr id="15" name="TextBox 14"/>
          <p:cNvSpPr txBox="1"/>
          <p:nvPr/>
        </p:nvSpPr>
        <p:spPr>
          <a:xfrm>
            <a:off x="731520" y="5897880"/>
            <a:ext cx="10698480" cy="365760"/>
          </a:xfrm>
          <a:prstGeom prst="rect">
            <a:avLst/>
          </a:prstGeom>
          <a:noFill/>
        </p:spPr>
        <p:txBody>
          <a:bodyPr wrap="square" anchor="t">
            <a:spAutoFit/>
          </a:bodyPr>
          <a:lstStyle/>
          <a:p>
            <a:pPr algn="l">
              <a:lnSpc>
                <a:spcPct val="105000"/>
              </a:lnSpc>
              <a:spcAft>
                <a:spcPts val="600"/>
              </a:spcAft>
            </a:pPr>
            <a:r>
              <a:rPr sz="1100" b="1">
                <a:solidFill>
                  <a:srgbClr val="111828"/>
                </a:solidFill>
                <a:latin typeface="Calibri"/>
              </a:rPr>
              <a:t>Referral loops on both sides drive CAC down over time as the network compounds.</a:t>
            </a:r>
          </a:p>
        </p:txBody>
      </p:sp>
      <p:sp>
        <p:nvSpPr>
          <p:cNvPr id="16" name="TextBox 15"/>
          <p:cNvSpPr txBox="1"/>
          <p:nvPr/>
        </p:nvSpPr>
        <p:spPr>
          <a:xfrm>
            <a:off x="457200" y="6446520"/>
            <a:ext cx="7315200" cy="320040"/>
          </a:xfrm>
          <a:prstGeom prst="rect">
            <a:avLst/>
          </a:prstGeom>
          <a:noFill/>
        </p:spPr>
        <p:txBody>
          <a:bodyPr wrap="square" anchor="t">
            <a:spAutoFit/>
          </a:bodyPr>
          <a:lstStyle/>
          <a:p>
            <a:pPr algn="l">
              <a:lnSpc>
                <a:spcPct val="105000"/>
              </a:lnSpc>
              <a:spcAft>
                <a:spcPts val="600"/>
              </a:spcAft>
            </a:pPr>
            <a:r>
              <a:rPr sz="900" b="1">
                <a:solidFill>
                  <a:srgbClr val="DB4B0D"/>
                </a:solidFill>
                <a:latin typeface="Calibri"/>
              </a:rPr>
              <a:t>USTAZ</a:t>
            </a:r>
            <a:r>
              <a:rPr sz="900" b="0">
                <a:solidFill>
                  <a:srgbClr val="6B707A"/>
                </a:solidFill>
                <a:latin typeface="Calibri"/>
              </a:rPr>
              <a:t>   ustaz-bice.vercel.app</a:t>
            </a:r>
          </a:p>
        </p:txBody>
      </p:sp>
      <p:sp>
        <p:nvSpPr>
          <p:cNvPr id="17" name="TextBox 16"/>
          <p:cNvSpPr txBox="1"/>
          <p:nvPr/>
        </p:nvSpPr>
        <p:spPr>
          <a:xfrm>
            <a:off x="11338560" y="6446520"/>
            <a:ext cx="548640" cy="320040"/>
          </a:xfrm>
          <a:prstGeom prst="rect">
            <a:avLst/>
          </a:prstGeom>
          <a:noFill/>
        </p:spPr>
        <p:txBody>
          <a:bodyPr wrap="square" anchor="t">
            <a:spAutoFit/>
          </a:bodyPr>
          <a:lstStyle/>
          <a:p>
            <a:pPr algn="r">
              <a:lnSpc>
                <a:spcPct val="105000"/>
              </a:lnSpc>
              <a:spcAft>
                <a:spcPts val="600"/>
              </a:spcAft>
            </a:pPr>
            <a:r>
              <a:rPr sz="900" b="1">
                <a:solidFill>
                  <a:srgbClr val="6B707A"/>
                </a:solidFill>
                <a:latin typeface="Calibri"/>
              </a:rPr>
              <a:t>11</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57200" y="640080"/>
            <a:ext cx="109728" cy="1051560"/>
          </a:xfrm>
          <a:prstGeom prst="rect">
            <a:avLst/>
          </a:prstGeom>
          <a:solidFill>
            <a:srgbClr val="DB4B0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11155680" y="-548640"/>
            <a:ext cx="1645920" cy="1645920"/>
          </a:xfrm>
          <a:prstGeom prst="ellipse">
            <a:avLst/>
          </a:prstGeom>
          <a:solidFill>
            <a:srgbClr val="FCEE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566928"/>
            <a:ext cx="9144000" cy="365760"/>
          </a:xfrm>
          <a:prstGeom prst="rect">
            <a:avLst/>
          </a:prstGeom>
          <a:noFill/>
        </p:spPr>
        <p:txBody>
          <a:bodyPr wrap="square" anchor="t">
            <a:spAutoFit/>
          </a:bodyPr>
          <a:lstStyle/>
          <a:p>
            <a:pPr algn="l">
              <a:lnSpc>
                <a:spcPct val="105000"/>
              </a:lnSpc>
              <a:spcAft>
                <a:spcPts val="600"/>
              </a:spcAft>
            </a:pPr>
            <a:r>
              <a:rPr sz="1200" b="1">
                <a:solidFill>
                  <a:srgbClr val="DB4B0D"/>
                </a:solidFill>
                <a:latin typeface="Calibri"/>
              </a:rPr>
              <a:t>11. REVENUE STREAMS &amp; BUSINESS MODEL</a:t>
            </a:r>
          </a:p>
        </p:txBody>
      </p:sp>
      <p:sp>
        <p:nvSpPr>
          <p:cNvPr id="6" name="TextBox 5"/>
          <p:cNvSpPr txBox="1"/>
          <p:nvPr/>
        </p:nvSpPr>
        <p:spPr>
          <a:xfrm>
            <a:off x="713232" y="914400"/>
            <a:ext cx="10515600" cy="822960"/>
          </a:xfrm>
          <a:prstGeom prst="rect">
            <a:avLst/>
          </a:prstGeom>
          <a:noFill/>
        </p:spPr>
        <p:txBody>
          <a:bodyPr wrap="square" anchor="t">
            <a:spAutoFit/>
          </a:bodyPr>
          <a:lstStyle/>
          <a:p>
            <a:pPr algn="l">
              <a:lnSpc>
                <a:spcPct val="105000"/>
              </a:lnSpc>
              <a:spcAft>
                <a:spcPts val="600"/>
              </a:spcAft>
            </a:pPr>
            <a:r>
              <a:rPr sz="3000" b="1">
                <a:solidFill>
                  <a:srgbClr val="111828"/>
                </a:solidFill>
                <a:latin typeface="Calibri"/>
              </a:rPr>
              <a:t>Free credit, then a 12% prepaid commission</a:t>
            </a:r>
          </a:p>
        </p:txBody>
      </p:sp>
      <p:sp>
        <p:nvSpPr>
          <p:cNvPr id="7" name="Rectangle 6"/>
          <p:cNvSpPr/>
          <p:nvPr/>
        </p:nvSpPr>
        <p:spPr>
          <a:xfrm>
            <a:off x="731520" y="1783080"/>
            <a:ext cx="5669280" cy="3657600"/>
          </a:xfrm>
          <a:prstGeom prst="rect">
            <a:avLst/>
          </a:prstGeom>
          <a:solidFill>
            <a:srgbClr val="1118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31520" y="1783080"/>
            <a:ext cx="5669280" cy="109728"/>
          </a:xfrm>
          <a:prstGeom prst="rect">
            <a:avLst/>
          </a:prstGeom>
          <a:solidFill>
            <a:srgbClr val="DB4B0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2011680"/>
            <a:ext cx="5212080" cy="457200"/>
          </a:xfrm>
          <a:prstGeom prst="rect">
            <a:avLst/>
          </a:prstGeom>
          <a:noFill/>
        </p:spPr>
        <p:txBody>
          <a:bodyPr wrap="square" anchor="t">
            <a:spAutoFit/>
          </a:bodyPr>
          <a:lstStyle/>
          <a:p>
            <a:pPr algn="l">
              <a:lnSpc>
                <a:spcPct val="105000"/>
              </a:lnSpc>
              <a:spcAft>
                <a:spcPts val="600"/>
              </a:spcAft>
            </a:pPr>
            <a:r>
              <a:rPr sz="1300" b="1">
                <a:solidFill>
                  <a:srgbClr val="DB4B0D"/>
                </a:solidFill>
                <a:latin typeface="Calibri"/>
              </a:rPr>
              <a:t>HOW WE EARN  ·  prepaid wallet</a:t>
            </a:r>
          </a:p>
        </p:txBody>
      </p:sp>
      <p:sp>
        <p:nvSpPr>
          <p:cNvPr id="10" name="Oval 9"/>
          <p:cNvSpPr/>
          <p:nvPr/>
        </p:nvSpPr>
        <p:spPr>
          <a:xfrm>
            <a:off x="1005840" y="2514600"/>
            <a:ext cx="411480" cy="411480"/>
          </a:xfrm>
          <a:prstGeom prst="ellipse">
            <a:avLst/>
          </a:prstGeom>
          <a:solidFill>
            <a:srgbClr val="DB4B0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05840" y="2514600"/>
            <a:ext cx="411480" cy="411480"/>
          </a:xfrm>
          <a:prstGeom prst="rect">
            <a:avLst/>
          </a:prstGeom>
          <a:noFill/>
        </p:spPr>
        <p:txBody>
          <a:bodyPr wrap="square" anchor="ctr">
            <a:spAutoFit/>
          </a:bodyPr>
          <a:lstStyle/>
          <a:p>
            <a:pPr algn="ctr">
              <a:lnSpc>
                <a:spcPct val="105000"/>
              </a:lnSpc>
              <a:spcAft>
                <a:spcPts val="600"/>
              </a:spcAft>
            </a:pPr>
            <a:r>
              <a:rPr sz="1300" b="1">
                <a:solidFill>
                  <a:srgbClr val="FFFFFF"/>
                </a:solidFill>
                <a:latin typeface="Calibri"/>
              </a:rPr>
              <a:t>1</a:t>
            </a:r>
          </a:p>
        </p:txBody>
      </p:sp>
      <p:sp>
        <p:nvSpPr>
          <p:cNvPr id="12" name="TextBox 11"/>
          <p:cNvSpPr txBox="1"/>
          <p:nvPr/>
        </p:nvSpPr>
        <p:spPr>
          <a:xfrm>
            <a:off x="1554480" y="2478024"/>
            <a:ext cx="4663440" cy="914400"/>
          </a:xfrm>
          <a:prstGeom prst="rect">
            <a:avLst/>
          </a:prstGeom>
          <a:noFill/>
        </p:spPr>
        <p:txBody>
          <a:bodyPr wrap="square" anchor="t">
            <a:spAutoFit/>
          </a:bodyPr>
          <a:lstStyle/>
          <a:p>
            <a:pPr algn="l">
              <a:lnSpc>
                <a:spcPct val="103000"/>
              </a:lnSpc>
              <a:spcAft>
                <a:spcPts val="200"/>
              </a:spcAft>
            </a:pPr>
            <a:r>
              <a:rPr sz="1250" b="1">
                <a:solidFill>
                  <a:srgbClr val="FFFFFF"/>
                </a:solidFill>
                <a:latin typeface="Calibri"/>
              </a:rPr>
              <a:t>Free Rs. 500 welcome credit</a:t>
            </a:r>
          </a:p>
          <a:p>
            <a:pPr algn="l">
              <a:lnSpc>
                <a:spcPct val="103000"/>
              </a:lnSpc>
              <a:spcAft>
                <a:spcPts val="200"/>
              </a:spcAft>
            </a:pPr>
            <a:r>
              <a:rPr sz="1050" b="0">
                <a:solidFill>
                  <a:srgbClr val="CFD3DA"/>
                </a:solidFill>
                <a:latin typeface="Calibri"/>
              </a:rPr>
              <a:t>Every new provider claims Rs. 500 on their dashboard — start earning with no upfront cost.</a:t>
            </a:r>
          </a:p>
        </p:txBody>
      </p:sp>
      <p:sp>
        <p:nvSpPr>
          <p:cNvPr id="13" name="Oval 12"/>
          <p:cNvSpPr/>
          <p:nvPr/>
        </p:nvSpPr>
        <p:spPr>
          <a:xfrm>
            <a:off x="1005840" y="3447288"/>
            <a:ext cx="411480" cy="411480"/>
          </a:xfrm>
          <a:prstGeom prst="ellipse">
            <a:avLst/>
          </a:prstGeom>
          <a:solidFill>
            <a:srgbClr val="DB4B0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005840" y="3447288"/>
            <a:ext cx="411480" cy="411480"/>
          </a:xfrm>
          <a:prstGeom prst="rect">
            <a:avLst/>
          </a:prstGeom>
          <a:noFill/>
        </p:spPr>
        <p:txBody>
          <a:bodyPr wrap="square" anchor="ctr">
            <a:spAutoFit/>
          </a:bodyPr>
          <a:lstStyle/>
          <a:p>
            <a:pPr algn="ctr">
              <a:lnSpc>
                <a:spcPct val="105000"/>
              </a:lnSpc>
              <a:spcAft>
                <a:spcPts val="600"/>
              </a:spcAft>
            </a:pPr>
            <a:r>
              <a:rPr sz="1300" b="1">
                <a:solidFill>
                  <a:srgbClr val="FFFFFF"/>
                </a:solidFill>
                <a:latin typeface="Calibri"/>
              </a:rPr>
              <a:t>2</a:t>
            </a:r>
          </a:p>
        </p:txBody>
      </p:sp>
      <p:sp>
        <p:nvSpPr>
          <p:cNvPr id="15" name="TextBox 14"/>
          <p:cNvSpPr txBox="1"/>
          <p:nvPr/>
        </p:nvSpPr>
        <p:spPr>
          <a:xfrm>
            <a:off x="1554480" y="3410712"/>
            <a:ext cx="4663440" cy="914400"/>
          </a:xfrm>
          <a:prstGeom prst="rect">
            <a:avLst/>
          </a:prstGeom>
          <a:noFill/>
        </p:spPr>
        <p:txBody>
          <a:bodyPr wrap="square" anchor="t">
            <a:spAutoFit/>
          </a:bodyPr>
          <a:lstStyle/>
          <a:p>
            <a:pPr algn="l">
              <a:lnSpc>
                <a:spcPct val="103000"/>
              </a:lnSpc>
              <a:spcAft>
                <a:spcPts val="200"/>
              </a:spcAft>
            </a:pPr>
            <a:r>
              <a:rPr sz="1250" b="1">
                <a:solidFill>
                  <a:srgbClr val="FFFFFF"/>
                </a:solidFill>
                <a:latin typeface="Calibri"/>
              </a:rPr>
              <a:t>12% deducted per completed job</a:t>
            </a:r>
          </a:p>
          <a:p>
            <a:pPr algn="l">
              <a:lnSpc>
                <a:spcPct val="103000"/>
              </a:lnSpc>
              <a:spcAft>
                <a:spcPts val="200"/>
              </a:spcAft>
            </a:pPr>
            <a:r>
              <a:rPr sz="1050" b="0">
                <a:solidFill>
                  <a:srgbClr val="CFD3DA"/>
                </a:solidFill>
                <a:latin typeface="Calibri"/>
              </a:rPr>
              <a:t>On each finished job the platform deducts a 12% commission from the provider's wallet (e.g. a Rs. 500 job → Rs. 60).</a:t>
            </a:r>
          </a:p>
        </p:txBody>
      </p:sp>
      <p:sp>
        <p:nvSpPr>
          <p:cNvPr id="16" name="Oval 15"/>
          <p:cNvSpPr/>
          <p:nvPr/>
        </p:nvSpPr>
        <p:spPr>
          <a:xfrm>
            <a:off x="1005840" y="4379976"/>
            <a:ext cx="411480" cy="411480"/>
          </a:xfrm>
          <a:prstGeom prst="ellipse">
            <a:avLst/>
          </a:prstGeom>
          <a:solidFill>
            <a:srgbClr val="DB4B0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005840" y="4379976"/>
            <a:ext cx="411480" cy="411480"/>
          </a:xfrm>
          <a:prstGeom prst="rect">
            <a:avLst/>
          </a:prstGeom>
          <a:noFill/>
        </p:spPr>
        <p:txBody>
          <a:bodyPr wrap="square" anchor="ctr">
            <a:spAutoFit/>
          </a:bodyPr>
          <a:lstStyle/>
          <a:p>
            <a:pPr algn="ctr">
              <a:lnSpc>
                <a:spcPct val="105000"/>
              </a:lnSpc>
              <a:spcAft>
                <a:spcPts val="600"/>
              </a:spcAft>
            </a:pPr>
            <a:r>
              <a:rPr sz="1300" b="1">
                <a:solidFill>
                  <a:srgbClr val="FFFFFF"/>
                </a:solidFill>
                <a:latin typeface="Calibri"/>
              </a:rPr>
              <a:t>3</a:t>
            </a:r>
          </a:p>
        </p:txBody>
      </p:sp>
      <p:sp>
        <p:nvSpPr>
          <p:cNvPr id="18" name="TextBox 17"/>
          <p:cNvSpPr txBox="1"/>
          <p:nvPr/>
        </p:nvSpPr>
        <p:spPr>
          <a:xfrm>
            <a:off x="1554480" y="4343400"/>
            <a:ext cx="4663440" cy="914400"/>
          </a:xfrm>
          <a:prstGeom prst="rect">
            <a:avLst/>
          </a:prstGeom>
          <a:noFill/>
        </p:spPr>
        <p:txBody>
          <a:bodyPr wrap="square" anchor="t">
            <a:spAutoFit/>
          </a:bodyPr>
          <a:lstStyle/>
          <a:p>
            <a:pPr algn="l">
              <a:lnSpc>
                <a:spcPct val="103000"/>
              </a:lnSpc>
              <a:spcAft>
                <a:spcPts val="200"/>
              </a:spcAft>
            </a:pPr>
            <a:r>
              <a:rPr sz="1250" b="1">
                <a:solidFill>
                  <a:srgbClr val="FFFFFF"/>
                </a:solidFill>
                <a:latin typeface="Calibri"/>
              </a:rPr>
              <a:t>Top up when credit runs low</a:t>
            </a:r>
          </a:p>
          <a:p>
            <a:pPr algn="l">
              <a:lnSpc>
                <a:spcPct val="103000"/>
              </a:lnSpc>
              <a:spcAft>
                <a:spcPts val="200"/>
              </a:spcAft>
            </a:pPr>
            <a:r>
              <a:rPr sz="1050" b="0">
                <a:solidFill>
                  <a:srgbClr val="CFD3DA"/>
                </a:solidFill>
                <a:latin typeface="Calibri"/>
              </a:rPr>
              <a:t>The free Rs. 500 credit covers the first several jobs; then the provider tops up to keep receiving jobs (0 balance = paused).</a:t>
            </a:r>
          </a:p>
        </p:txBody>
      </p:sp>
      <p:sp>
        <p:nvSpPr>
          <p:cNvPr id="19" name="Rectangle 18"/>
          <p:cNvSpPr/>
          <p:nvPr/>
        </p:nvSpPr>
        <p:spPr>
          <a:xfrm>
            <a:off x="6675120" y="1783080"/>
            <a:ext cx="4754880" cy="3657600"/>
          </a:xfrm>
          <a:prstGeom prst="rect">
            <a:avLst/>
          </a:prstGeom>
          <a:solidFill>
            <a:srgbClr val="FFFFFF"/>
          </a:solidFill>
          <a:ln w="12700">
            <a:solidFill>
              <a:srgbClr val="F8C9A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675120" y="1783080"/>
            <a:ext cx="4754880" cy="109728"/>
          </a:xfrm>
          <a:prstGeom prst="rect">
            <a:avLst/>
          </a:prstGeom>
          <a:solidFill>
            <a:srgbClr val="DB4B0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949440" y="2011680"/>
            <a:ext cx="4206240" cy="457200"/>
          </a:xfrm>
          <a:prstGeom prst="rect">
            <a:avLst/>
          </a:prstGeom>
          <a:noFill/>
        </p:spPr>
        <p:txBody>
          <a:bodyPr wrap="square" anchor="t">
            <a:spAutoFit/>
          </a:bodyPr>
          <a:lstStyle/>
          <a:p>
            <a:pPr algn="l">
              <a:lnSpc>
                <a:spcPct val="105000"/>
              </a:lnSpc>
              <a:spcAft>
                <a:spcPts val="600"/>
              </a:spcAft>
            </a:pPr>
            <a:r>
              <a:rPr sz="1300" b="1">
                <a:solidFill>
                  <a:srgbClr val="DB4B0D"/>
                </a:solidFill>
                <a:latin typeface="Calibri"/>
              </a:rPr>
              <a:t>TOP-UP PACKAGES</a:t>
            </a:r>
          </a:p>
        </p:txBody>
      </p:sp>
      <p:sp>
        <p:nvSpPr>
          <p:cNvPr id="22" name="Rectangle 21"/>
          <p:cNvSpPr/>
          <p:nvPr/>
        </p:nvSpPr>
        <p:spPr>
          <a:xfrm>
            <a:off x="6949440" y="2514600"/>
            <a:ext cx="4206240" cy="713232"/>
          </a:xfrm>
          <a:prstGeom prst="rect">
            <a:avLst/>
          </a:prstGeom>
          <a:solidFill>
            <a:srgbClr val="FCEE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949440" y="2514600"/>
            <a:ext cx="91440" cy="713232"/>
          </a:xfrm>
          <a:prstGeom prst="rect">
            <a:avLst/>
          </a:prstGeom>
          <a:solidFill>
            <a:srgbClr val="DB4B0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132320" y="2514600"/>
            <a:ext cx="2103120" cy="713232"/>
          </a:xfrm>
          <a:prstGeom prst="rect">
            <a:avLst/>
          </a:prstGeom>
          <a:noFill/>
        </p:spPr>
        <p:txBody>
          <a:bodyPr wrap="square" anchor="ctr">
            <a:spAutoFit/>
          </a:bodyPr>
          <a:lstStyle/>
          <a:p>
            <a:pPr algn="l">
              <a:lnSpc>
                <a:spcPct val="100000"/>
              </a:lnSpc>
              <a:spcAft>
                <a:spcPts val="100"/>
              </a:spcAft>
            </a:pPr>
            <a:r>
              <a:rPr sz="1300" b="1">
                <a:solidFill>
                  <a:srgbClr val="111828"/>
                </a:solidFill>
                <a:latin typeface="Calibri"/>
              </a:rPr>
              <a:t>Starter</a:t>
            </a:r>
          </a:p>
          <a:p>
            <a:pPr algn="l">
              <a:lnSpc>
                <a:spcPct val="100000"/>
              </a:lnSpc>
              <a:spcAft>
                <a:spcPts val="100"/>
              </a:spcAft>
            </a:pPr>
            <a:r>
              <a:rPr sz="950" b="0">
                <a:solidFill>
                  <a:srgbClr val="3A3F4A"/>
                </a:solidFill>
                <a:latin typeface="Calibri"/>
              </a:rPr>
              <a:t>Just testing</a:t>
            </a:r>
          </a:p>
        </p:txBody>
      </p:sp>
      <p:sp>
        <p:nvSpPr>
          <p:cNvPr id="25" name="TextBox 24"/>
          <p:cNvSpPr txBox="1"/>
          <p:nvPr/>
        </p:nvSpPr>
        <p:spPr>
          <a:xfrm>
            <a:off x="9144000" y="2514600"/>
            <a:ext cx="1920240" cy="713232"/>
          </a:xfrm>
          <a:prstGeom prst="rect">
            <a:avLst/>
          </a:prstGeom>
          <a:noFill/>
        </p:spPr>
        <p:txBody>
          <a:bodyPr wrap="square" anchor="ctr">
            <a:spAutoFit/>
          </a:bodyPr>
          <a:lstStyle/>
          <a:p>
            <a:pPr algn="r">
              <a:lnSpc>
                <a:spcPct val="105000"/>
              </a:lnSpc>
              <a:spcAft>
                <a:spcPts val="600"/>
              </a:spcAft>
            </a:pPr>
            <a:r>
              <a:rPr sz="1600" b="1">
                <a:solidFill>
                  <a:srgbClr val="DB4B0D"/>
                </a:solidFill>
                <a:latin typeface="Calibri"/>
              </a:rPr>
              <a:t>Rs. 500</a:t>
            </a:r>
          </a:p>
        </p:txBody>
      </p:sp>
      <p:sp>
        <p:nvSpPr>
          <p:cNvPr id="26" name="Rectangle 25"/>
          <p:cNvSpPr/>
          <p:nvPr/>
        </p:nvSpPr>
        <p:spPr>
          <a:xfrm>
            <a:off x="6949440" y="3319272"/>
            <a:ext cx="4206240" cy="713232"/>
          </a:xfrm>
          <a:prstGeom prst="rect">
            <a:avLst/>
          </a:prstGeom>
          <a:solidFill>
            <a:srgbClr val="FCEE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6949440" y="3319272"/>
            <a:ext cx="91440" cy="713232"/>
          </a:xfrm>
          <a:prstGeom prst="rect">
            <a:avLst/>
          </a:prstGeom>
          <a:solidFill>
            <a:srgbClr val="DB4B0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132320" y="3319272"/>
            <a:ext cx="2103120" cy="713232"/>
          </a:xfrm>
          <a:prstGeom prst="rect">
            <a:avLst/>
          </a:prstGeom>
          <a:noFill/>
        </p:spPr>
        <p:txBody>
          <a:bodyPr wrap="square" anchor="ctr">
            <a:spAutoFit/>
          </a:bodyPr>
          <a:lstStyle/>
          <a:p>
            <a:pPr algn="l">
              <a:lnSpc>
                <a:spcPct val="100000"/>
              </a:lnSpc>
              <a:spcAft>
                <a:spcPts val="100"/>
              </a:spcAft>
            </a:pPr>
            <a:r>
              <a:rPr sz="1300" b="1">
                <a:solidFill>
                  <a:srgbClr val="111828"/>
                </a:solidFill>
                <a:latin typeface="Calibri"/>
              </a:rPr>
              <a:t>Standard</a:t>
            </a:r>
          </a:p>
          <a:p>
            <a:pPr algn="l">
              <a:lnSpc>
                <a:spcPct val="100000"/>
              </a:lnSpc>
              <a:spcAft>
                <a:spcPts val="100"/>
              </a:spcAft>
            </a:pPr>
            <a:r>
              <a:rPr sz="950" b="0">
                <a:solidFill>
                  <a:srgbClr val="3A3F4A"/>
                </a:solidFill>
                <a:latin typeface="Calibri"/>
              </a:rPr>
              <a:t>Regular work  ·  popular</a:t>
            </a:r>
          </a:p>
        </p:txBody>
      </p:sp>
      <p:sp>
        <p:nvSpPr>
          <p:cNvPr id="29" name="TextBox 28"/>
          <p:cNvSpPr txBox="1"/>
          <p:nvPr/>
        </p:nvSpPr>
        <p:spPr>
          <a:xfrm>
            <a:off x="9144000" y="3319272"/>
            <a:ext cx="1920240" cy="713232"/>
          </a:xfrm>
          <a:prstGeom prst="rect">
            <a:avLst/>
          </a:prstGeom>
          <a:noFill/>
        </p:spPr>
        <p:txBody>
          <a:bodyPr wrap="square" anchor="ctr">
            <a:spAutoFit/>
          </a:bodyPr>
          <a:lstStyle/>
          <a:p>
            <a:pPr algn="r">
              <a:lnSpc>
                <a:spcPct val="105000"/>
              </a:lnSpc>
              <a:spcAft>
                <a:spcPts val="600"/>
              </a:spcAft>
            </a:pPr>
            <a:r>
              <a:rPr sz="1600" b="1">
                <a:solidFill>
                  <a:srgbClr val="DB4B0D"/>
                </a:solidFill>
                <a:latin typeface="Calibri"/>
              </a:rPr>
              <a:t>Rs. 1,000</a:t>
            </a:r>
          </a:p>
        </p:txBody>
      </p:sp>
      <p:sp>
        <p:nvSpPr>
          <p:cNvPr id="30" name="Rectangle 29"/>
          <p:cNvSpPr/>
          <p:nvPr/>
        </p:nvSpPr>
        <p:spPr>
          <a:xfrm>
            <a:off x="6949440" y="4123944"/>
            <a:ext cx="4206240" cy="713232"/>
          </a:xfrm>
          <a:prstGeom prst="rect">
            <a:avLst/>
          </a:prstGeom>
          <a:solidFill>
            <a:srgbClr val="FCEE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6949440" y="4123944"/>
            <a:ext cx="91440" cy="713232"/>
          </a:xfrm>
          <a:prstGeom prst="rect">
            <a:avLst/>
          </a:prstGeom>
          <a:solidFill>
            <a:srgbClr val="DB4B0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7132320" y="4123944"/>
            <a:ext cx="2103120" cy="713232"/>
          </a:xfrm>
          <a:prstGeom prst="rect">
            <a:avLst/>
          </a:prstGeom>
          <a:noFill/>
        </p:spPr>
        <p:txBody>
          <a:bodyPr wrap="square" anchor="ctr">
            <a:spAutoFit/>
          </a:bodyPr>
          <a:lstStyle/>
          <a:p>
            <a:pPr algn="l">
              <a:lnSpc>
                <a:spcPct val="100000"/>
              </a:lnSpc>
              <a:spcAft>
                <a:spcPts val="100"/>
              </a:spcAft>
            </a:pPr>
            <a:r>
              <a:rPr sz="1300" b="1">
                <a:solidFill>
                  <a:srgbClr val="111828"/>
                </a:solidFill>
                <a:latin typeface="Calibri"/>
              </a:rPr>
              <a:t>Pro</a:t>
            </a:r>
          </a:p>
          <a:p>
            <a:pPr algn="l">
              <a:lnSpc>
                <a:spcPct val="100000"/>
              </a:lnSpc>
              <a:spcAft>
                <a:spcPts val="100"/>
              </a:spcAft>
            </a:pPr>
            <a:r>
              <a:rPr sz="950" b="0">
                <a:solidFill>
                  <a:srgbClr val="3A3F4A"/>
                </a:solidFill>
                <a:latin typeface="Calibri"/>
              </a:rPr>
              <a:t>Full-time</a:t>
            </a:r>
          </a:p>
        </p:txBody>
      </p:sp>
      <p:sp>
        <p:nvSpPr>
          <p:cNvPr id="33" name="TextBox 32"/>
          <p:cNvSpPr txBox="1"/>
          <p:nvPr/>
        </p:nvSpPr>
        <p:spPr>
          <a:xfrm>
            <a:off x="9144000" y="4123944"/>
            <a:ext cx="1920240" cy="713232"/>
          </a:xfrm>
          <a:prstGeom prst="rect">
            <a:avLst/>
          </a:prstGeom>
          <a:noFill/>
        </p:spPr>
        <p:txBody>
          <a:bodyPr wrap="square" anchor="ctr">
            <a:spAutoFit/>
          </a:bodyPr>
          <a:lstStyle/>
          <a:p>
            <a:pPr algn="r">
              <a:lnSpc>
                <a:spcPct val="105000"/>
              </a:lnSpc>
              <a:spcAft>
                <a:spcPts val="600"/>
              </a:spcAft>
            </a:pPr>
            <a:r>
              <a:rPr sz="1600" b="1">
                <a:solidFill>
                  <a:srgbClr val="DB4B0D"/>
                </a:solidFill>
                <a:latin typeface="Calibri"/>
              </a:rPr>
              <a:t>Rs. 2,000</a:t>
            </a:r>
          </a:p>
        </p:txBody>
      </p:sp>
      <p:sp>
        <p:nvSpPr>
          <p:cNvPr id="34" name="TextBox 33"/>
          <p:cNvSpPr txBox="1"/>
          <p:nvPr/>
        </p:nvSpPr>
        <p:spPr>
          <a:xfrm>
            <a:off x="6949440" y="5029200"/>
            <a:ext cx="4297680" cy="365760"/>
          </a:xfrm>
          <a:prstGeom prst="rect">
            <a:avLst/>
          </a:prstGeom>
          <a:noFill/>
        </p:spPr>
        <p:txBody>
          <a:bodyPr wrap="square" anchor="t">
            <a:spAutoFit/>
          </a:bodyPr>
          <a:lstStyle/>
          <a:p>
            <a:pPr algn="l">
              <a:lnSpc>
                <a:spcPct val="100000"/>
              </a:lnSpc>
              <a:spcAft>
                <a:spcPts val="600"/>
              </a:spcAft>
            </a:pPr>
            <a:r>
              <a:rPr sz="1000" b="0">
                <a:solidFill>
                  <a:srgbClr val="3A3F4A"/>
                </a:solidFill>
                <a:latin typeface="Calibri"/>
              </a:rPr>
              <a:t>Pay via Easypaisa · JazzCash · Bank → upload receipt → admin credits wallet.</a:t>
            </a:r>
          </a:p>
        </p:txBody>
      </p:sp>
      <p:sp>
        <p:nvSpPr>
          <p:cNvPr id="35" name="Rectangle 34"/>
          <p:cNvSpPr/>
          <p:nvPr/>
        </p:nvSpPr>
        <p:spPr>
          <a:xfrm>
            <a:off x="731520" y="5532120"/>
            <a:ext cx="10698480" cy="777240"/>
          </a:xfrm>
          <a:prstGeom prst="rect">
            <a:avLst/>
          </a:prstGeom>
          <a:solidFill>
            <a:srgbClr val="FCEE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960120" y="5532120"/>
            <a:ext cx="10424160" cy="777240"/>
          </a:xfrm>
          <a:prstGeom prst="rect">
            <a:avLst/>
          </a:prstGeom>
          <a:noFill/>
        </p:spPr>
        <p:txBody>
          <a:bodyPr wrap="square" anchor="ctr">
            <a:spAutoFit/>
          </a:bodyPr>
          <a:lstStyle/>
          <a:p>
            <a:pPr algn="l">
              <a:lnSpc>
                <a:spcPct val="102000"/>
              </a:lnSpc>
              <a:spcAft>
                <a:spcPts val="200"/>
              </a:spcAft>
            </a:pPr>
            <a:r>
              <a:rPr sz="1100" b="1">
                <a:solidFill>
                  <a:srgbClr val="DB4B0D"/>
                </a:solidFill>
                <a:latin typeface="Calibri"/>
              </a:rPr>
              <a:t>Status: </a:t>
            </a:r>
            <a:r>
              <a:rPr sz="1050" b="0">
                <a:solidFill>
                  <a:srgbClr val="111828"/>
                </a:solidFill>
                <a:latin typeface="Calibri"/>
              </a:rPr>
              <a:t>the 12% monetization engine is fully built &amp; live in-product. Pre-revenue today — pilot providers run on the free Rs. 500 credit, so commission collected ≈ Rs. 0 so far; revenue starts as they exhaust credit and top up.</a:t>
            </a:r>
          </a:p>
          <a:p>
            <a:pPr algn="l">
              <a:lnSpc>
                <a:spcPct val="102000"/>
              </a:lnSpc>
              <a:spcAft>
                <a:spcPts val="200"/>
              </a:spcAft>
            </a:pPr>
            <a:r>
              <a:rPr sz="1050" b="0">
                <a:solidFill>
                  <a:srgbClr val="3A3F4A"/>
                </a:solidFill>
                <a:latin typeface="Calibri"/>
              </a:rPr>
              <a:t>Sharia (ujrah): fee charged ONLY on completed, customer-confirmed jobs; unused prepaid credit fully refundable; Sharia advisory via NIC pre-launch. No interest, no ambiguity.</a:t>
            </a:r>
          </a:p>
        </p:txBody>
      </p:sp>
      <p:sp>
        <p:nvSpPr>
          <p:cNvPr id="37" name="TextBox 36"/>
          <p:cNvSpPr txBox="1"/>
          <p:nvPr/>
        </p:nvSpPr>
        <p:spPr>
          <a:xfrm>
            <a:off x="457200" y="6446520"/>
            <a:ext cx="7315200" cy="320040"/>
          </a:xfrm>
          <a:prstGeom prst="rect">
            <a:avLst/>
          </a:prstGeom>
          <a:noFill/>
        </p:spPr>
        <p:txBody>
          <a:bodyPr wrap="square" anchor="t">
            <a:spAutoFit/>
          </a:bodyPr>
          <a:lstStyle/>
          <a:p>
            <a:pPr algn="l">
              <a:lnSpc>
                <a:spcPct val="105000"/>
              </a:lnSpc>
              <a:spcAft>
                <a:spcPts val="600"/>
              </a:spcAft>
            </a:pPr>
            <a:r>
              <a:rPr sz="900" b="1">
                <a:solidFill>
                  <a:srgbClr val="DB4B0D"/>
                </a:solidFill>
                <a:latin typeface="Calibri"/>
              </a:rPr>
              <a:t>USTAZ</a:t>
            </a:r>
            <a:r>
              <a:rPr sz="900" b="0">
                <a:solidFill>
                  <a:srgbClr val="6B707A"/>
                </a:solidFill>
                <a:latin typeface="Calibri"/>
              </a:rPr>
              <a:t>   ustaz-bice.vercel.app</a:t>
            </a:r>
          </a:p>
        </p:txBody>
      </p:sp>
      <p:sp>
        <p:nvSpPr>
          <p:cNvPr id="38" name="TextBox 37"/>
          <p:cNvSpPr txBox="1"/>
          <p:nvPr/>
        </p:nvSpPr>
        <p:spPr>
          <a:xfrm>
            <a:off x="11338560" y="6446520"/>
            <a:ext cx="548640" cy="320040"/>
          </a:xfrm>
          <a:prstGeom prst="rect">
            <a:avLst/>
          </a:prstGeom>
          <a:noFill/>
        </p:spPr>
        <p:txBody>
          <a:bodyPr wrap="square" anchor="t">
            <a:spAutoFit/>
          </a:bodyPr>
          <a:lstStyle/>
          <a:p>
            <a:pPr algn="r">
              <a:lnSpc>
                <a:spcPct val="105000"/>
              </a:lnSpc>
              <a:spcAft>
                <a:spcPts val="600"/>
              </a:spcAft>
            </a:pPr>
            <a:r>
              <a:rPr sz="900" b="1">
                <a:solidFill>
                  <a:srgbClr val="6B707A"/>
                </a:solidFill>
                <a:latin typeface="Calibri"/>
              </a:rPr>
              <a:t>12</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57200" y="640080"/>
            <a:ext cx="109728" cy="1051560"/>
          </a:xfrm>
          <a:prstGeom prst="rect">
            <a:avLst/>
          </a:prstGeom>
          <a:solidFill>
            <a:srgbClr val="DB4B0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11155680" y="-548640"/>
            <a:ext cx="1645920" cy="1645920"/>
          </a:xfrm>
          <a:prstGeom prst="ellipse">
            <a:avLst/>
          </a:prstGeom>
          <a:solidFill>
            <a:srgbClr val="FCEE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566928"/>
            <a:ext cx="9144000" cy="365760"/>
          </a:xfrm>
          <a:prstGeom prst="rect">
            <a:avLst/>
          </a:prstGeom>
          <a:noFill/>
        </p:spPr>
        <p:txBody>
          <a:bodyPr wrap="square" anchor="t">
            <a:spAutoFit/>
          </a:bodyPr>
          <a:lstStyle/>
          <a:p>
            <a:pPr algn="l">
              <a:lnSpc>
                <a:spcPct val="105000"/>
              </a:lnSpc>
              <a:spcAft>
                <a:spcPts val="600"/>
              </a:spcAft>
            </a:pPr>
            <a:r>
              <a:rPr sz="1200" b="1">
                <a:solidFill>
                  <a:srgbClr val="DB4B0D"/>
                </a:solidFill>
                <a:latin typeface="Calibri"/>
              </a:rPr>
              <a:t>12. COST STRUCTURE  (CapEx vs OpEx)</a:t>
            </a:r>
          </a:p>
        </p:txBody>
      </p:sp>
      <p:sp>
        <p:nvSpPr>
          <p:cNvPr id="6" name="TextBox 5"/>
          <p:cNvSpPr txBox="1"/>
          <p:nvPr/>
        </p:nvSpPr>
        <p:spPr>
          <a:xfrm>
            <a:off x="713232" y="914400"/>
            <a:ext cx="10515600" cy="822960"/>
          </a:xfrm>
          <a:prstGeom prst="rect">
            <a:avLst/>
          </a:prstGeom>
          <a:noFill/>
        </p:spPr>
        <p:txBody>
          <a:bodyPr wrap="square" anchor="t">
            <a:spAutoFit/>
          </a:bodyPr>
          <a:lstStyle/>
          <a:p>
            <a:pPr algn="l">
              <a:lnSpc>
                <a:spcPct val="105000"/>
              </a:lnSpc>
              <a:spcAft>
                <a:spcPts val="600"/>
              </a:spcAft>
            </a:pPr>
            <a:r>
              <a:rPr sz="3000" b="1">
                <a:solidFill>
                  <a:srgbClr val="111828"/>
                </a:solidFill>
                <a:latin typeface="Calibri"/>
              </a:rPr>
              <a:t>A lean, software-margin business</a:t>
            </a:r>
          </a:p>
        </p:txBody>
      </p:sp>
      <p:sp>
        <p:nvSpPr>
          <p:cNvPr id="7" name="Rectangle 6"/>
          <p:cNvSpPr/>
          <p:nvPr/>
        </p:nvSpPr>
        <p:spPr>
          <a:xfrm>
            <a:off x="731520" y="1783080"/>
            <a:ext cx="3200400" cy="3200400"/>
          </a:xfrm>
          <a:prstGeom prst="rect">
            <a:avLst/>
          </a:prstGeom>
          <a:solidFill>
            <a:srgbClr val="FCEE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31520" y="1783080"/>
            <a:ext cx="3200400" cy="109728"/>
          </a:xfrm>
          <a:prstGeom prst="rect">
            <a:avLst/>
          </a:prstGeom>
          <a:solidFill>
            <a:srgbClr val="DB4B0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60120" y="1993392"/>
            <a:ext cx="2743200" cy="457200"/>
          </a:xfrm>
          <a:prstGeom prst="rect">
            <a:avLst/>
          </a:prstGeom>
          <a:noFill/>
        </p:spPr>
        <p:txBody>
          <a:bodyPr wrap="square" anchor="t">
            <a:spAutoFit/>
          </a:bodyPr>
          <a:lstStyle/>
          <a:p>
            <a:pPr algn="l">
              <a:lnSpc>
                <a:spcPct val="105000"/>
              </a:lnSpc>
              <a:spcAft>
                <a:spcPts val="600"/>
              </a:spcAft>
            </a:pPr>
            <a:r>
              <a:rPr sz="1300" b="1">
                <a:solidFill>
                  <a:srgbClr val="DB4B0D"/>
                </a:solidFill>
                <a:latin typeface="Calibri"/>
              </a:rPr>
              <a:t>CAPEX · one-time</a:t>
            </a:r>
          </a:p>
        </p:txBody>
      </p:sp>
      <p:sp>
        <p:nvSpPr>
          <p:cNvPr id="10" name="TextBox 9"/>
          <p:cNvSpPr txBox="1"/>
          <p:nvPr/>
        </p:nvSpPr>
        <p:spPr>
          <a:xfrm>
            <a:off x="960120" y="2487168"/>
            <a:ext cx="2834640" cy="2377440"/>
          </a:xfrm>
          <a:prstGeom prst="rect">
            <a:avLst/>
          </a:prstGeom>
          <a:noFill/>
        </p:spPr>
        <p:txBody>
          <a:bodyPr wrap="square">
            <a:spAutoFit/>
          </a:bodyPr>
          <a:lstStyle/>
          <a:p>
            <a:pPr>
              <a:lnSpc>
                <a:spcPct val="105000"/>
              </a:lnSpc>
              <a:spcAft>
                <a:spcPts val="1000"/>
              </a:spcAft>
            </a:pPr>
            <a:r>
              <a:rPr sz="1150" b="1">
                <a:solidFill>
                  <a:srgbClr val="DB4B0D"/>
                </a:solidFill>
                <a:latin typeface="Calibri"/>
              </a:rPr>
              <a:t>▸  </a:t>
            </a:r>
            <a:r>
              <a:rPr sz="1150">
                <a:solidFill>
                  <a:srgbClr val="3A3F4A"/>
                </a:solidFill>
                <a:latin typeface="Calibri"/>
              </a:rPr>
              <a:t>Product dev — done (founder-built)</a:t>
            </a:r>
          </a:p>
          <a:p>
            <a:pPr>
              <a:lnSpc>
                <a:spcPct val="105000"/>
              </a:lnSpc>
              <a:spcAft>
                <a:spcPts val="1000"/>
              </a:spcAft>
            </a:pPr>
            <a:r>
              <a:rPr sz="1150" b="1">
                <a:solidFill>
                  <a:srgbClr val="DB4B0D"/>
                </a:solidFill>
                <a:latin typeface="Calibri"/>
              </a:rPr>
              <a:t>▸  </a:t>
            </a:r>
            <a:r>
              <a:rPr sz="1150">
                <a:solidFill>
                  <a:srgbClr val="3A3F4A"/>
                </a:solidFill>
                <a:latin typeface="Calibri"/>
              </a:rPr>
              <a:t>Office space &amp; setup</a:t>
            </a:r>
          </a:p>
          <a:p>
            <a:pPr>
              <a:lnSpc>
                <a:spcPct val="105000"/>
              </a:lnSpc>
              <a:spcAft>
                <a:spcPts val="1000"/>
              </a:spcAft>
            </a:pPr>
            <a:r>
              <a:rPr sz="1150" b="1">
                <a:solidFill>
                  <a:srgbClr val="DB4B0D"/>
                </a:solidFill>
                <a:latin typeface="Calibri"/>
              </a:rPr>
              <a:t>▸  </a:t>
            </a:r>
            <a:r>
              <a:rPr sz="1150">
                <a:solidFill>
                  <a:srgbClr val="3A3F4A"/>
                </a:solidFill>
                <a:latin typeface="Calibri"/>
              </a:rPr>
              <a:t>Brand &amp; design system</a:t>
            </a:r>
          </a:p>
          <a:p>
            <a:pPr>
              <a:lnSpc>
                <a:spcPct val="105000"/>
              </a:lnSpc>
              <a:spcAft>
                <a:spcPts val="1000"/>
              </a:spcAft>
            </a:pPr>
            <a:r>
              <a:rPr sz="1150" b="1">
                <a:solidFill>
                  <a:srgbClr val="DB4B0D"/>
                </a:solidFill>
                <a:latin typeface="Calibri"/>
              </a:rPr>
              <a:t>▸  </a:t>
            </a:r>
            <a:r>
              <a:rPr sz="1150">
                <a:solidFill>
                  <a:srgbClr val="3A3F4A"/>
                </a:solidFill>
                <a:latin typeface="Calibri"/>
              </a:rPr>
              <a:t>Native mobile app build</a:t>
            </a:r>
          </a:p>
          <a:p>
            <a:pPr>
              <a:lnSpc>
                <a:spcPct val="105000"/>
              </a:lnSpc>
              <a:spcAft>
                <a:spcPts val="1000"/>
              </a:spcAft>
            </a:pPr>
            <a:r>
              <a:rPr sz="1150" b="1">
                <a:solidFill>
                  <a:srgbClr val="DB4B0D"/>
                </a:solidFill>
                <a:latin typeface="Calibri"/>
              </a:rPr>
              <a:t>▸  </a:t>
            </a:r>
            <a:r>
              <a:rPr sz="1150">
                <a:solidFill>
                  <a:srgbClr val="3A3F4A"/>
                </a:solidFill>
                <a:latin typeface="Calibri"/>
              </a:rPr>
              <a:t>Verification system (one-time build)</a:t>
            </a:r>
          </a:p>
        </p:txBody>
      </p:sp>
      <p:sp>
        <p:nvSpPr>
          <p:cNvPr id="11" name="TextBox 10"/>
          <p:cNvSpPr txBox="1"/>
          <p:nvPr/>
        </p:nvSpPr>
        <p:spPr>
          <a:xfrm>
            <a:off x="4160520" y="1828800"/>
            <a:ext cx="7315200" cy="365760"/>
          </a:xfrm>
          <a:prstGeom prst="rect">
            <a:avLst/>
          </a:prstGeom>
          <a:noFill/>
        </p:spPr>
        <p:txBody>
          <a:bodyPr wrap="square" anchor="t">
            <a:spAutoFit/>
          </a:bodyPr>
          <a:lstStyle/>
          <a:p>
            <a:pPr algn="l">
              <a:lnSpc>
                <a:spcPct val="105000"/>
              </a:lnSpc>
              <a:spcAft>
                <a:spcPts val="600"/>
              </a:spcAft>
            </a:pPr>
            <a:r>
              <a:rPr sz="1200" b="1">
                <a:solidFill>
                  <a:srgbClr val="DB4B0D"/>
                </a:solidFill>
                <a:latin typeface="Calibri"/>
              </a:rPr>
              <a:t>OPEX · monthly  </a:t>
            </a:r>
            <a:r>
              <a:rPr sz="1000" b="0">
                <a:solidFill>
                  <a:srgbClr val="3A3F4A"/>
                </a:solidFill>
                <a:latin typeface="Calibri"/>
              </a:rPr>
              <a:t>(PKR — illustrative 2025 list prices)</a:t>
            </a:r>
          </a:p>
        </p:txBody>
      </p:sp>
      <p:graphicFrame>
        <p:nvGraphicFramePr>
          <p:cNvPr id="12" name="Table 11"/>
          <p:cNvGraphicFramePr>
            <a:graphicFrameLocks noGrp="1"/>
          </p:cNvGraphicFramePr>
          <p:nvPr/>
        </p:nvGraphicFramePr>
        <p:xfrm>
          <a:off x="4160520" y="2240280"/>
          <a:ext cx="7269480" cy="2697480"/>
        </p:xfrm>
        <a:graphic>
          <a:graphicData uri="http://schemas.openxmlformats.org/drawingml/2006/table">
            <a:tbl>
              <a:tblPr firstRow="1" bandRow="1">
                <a:tableStyleId>{5C22544A-7EE6-4342-B048-85BDC9FD1C3A}</a:tableStyleId>
              </a:tblPr>
              <a:tblGrid>
                <a:gridCol w="3246120"/>
                <a:gridCol w="2011680"/>
                <a:gridCol w="2011680"/>
              </a:tblGrid>
              <a:tr h="385354">
                <a:tc>
                  <a:txBody>
                    <a:bodyPr/>
                    <a:lstStyle/>
                    <a:p>
                      <a:pPr algn="l"/>
                      <a:r>
                        <a:rPr sz="1100" b="1">
                          <a:solidFill>
                            <a:srgbClr val="FFFFFF"/>
                          </a:solidFill>
                          <a:latin typeface="Calibri"/>
                        </a:rPr>
                        <a:t>Line item</a:t>
                      </a:r>
                    </a:p>
                  </a:txBody>
                  <a:tcPr>
                    <a:solidFill>
                      <a:srgbClr val="111828"/>
                    </a:solidFill>
                  </a:tcPr>
                </a:tc>
                <a:tc>
                  <a:txBody>
                    <a:bodyPr/>
                    <a:lstStyle/>
                    <a:p>
                      <a:pPr algn="ctr"/>
                      <a:r>
                        <a:rPr sz="1100" b="1">
                          <a:solidFill>
                            <a:srgbClr val="FFFFFF"/>
                          </a:solidFill>
                          <a:latin typeface="Calibri"/>
                        </a:rPr>
                        <a:t>Pre-revenue</a:t>
                      </a:r>
                    </a:p>
                  </a:txBody>
                  <a:tcPr>
                    <a:solidFill>
                      <a:srgbClr val="111828"/>
                    </a:solidFill>
                  </a:tcPr>
                </a:tc>
                <a:tc>
                  <a:txBody>
                    <a:bodyPr/>
                    <a:lstStyle/>
                    <a:p>
                      <a:pPr algn="ctr"/>
                      <a:r>
                        <a:rPr sz="1100" b="1">
                          <a:solidFill>
                            <a:srgbClr val="FFFFFF"/>
                          </a:solidFill>
                          <a:latin typeface="Calibri"/>
                        </a:rPr>
                        <a:t>500 jobs/mo</a:t>
                      </a:r>
                    </a:p>
                  </a:txBody>
                  <a:tcPr>
                    <a:solidFill>
                      <a:srgbClr val="111828"/>
                    </a:solidFill>
                  </a:tcPr>
                </a:tc>
              </a:tr>
              <a:tr h="385354">
                <a:tc>
                  <a:txBody>
                    <a:bodyPr/>
                    <a:lstStyle/>
                    <a:p>
                      <a:pPr algn="l"/>
                      <a:r>
                        <a:rPr sz="1100" b="1">
                          <a:solidFill>
                            <a:srgbClr val="111828"/>
                          </a:solidFill>
                          <a:latin typeface="Calibri"/>
                        </a:rPr>
                        <a:t>Supabase + Vercel</a:t>
                      </a:r>
                    </a:p>
                  </a:txBody>
                  <a:tcPr>
                    <a:solidFill>
                      <a:srgbClr val="FCEEE2"/>
                    </a:solidFill>
                  </a:tcPr>
                </a:tc>
                <a:tc>
                  <a:txBody>
                    <a:bodyPr/>
                    <a:lstStyle/>
                    <a:p>
                      <a:pPr algn="ctr"/>
                      <a:r>
                        <a:rPr sz="1100" b="0">
                          <a:solidFill>
                            <a:srgbClr val="DB4B0D"/>
                          </a:solidFill>
                          <a:latin typeface="Calibri"/>
                        </a:rPr>
                        <a:t>~8–12K</a:t>
                      </a:r>
                    </a:p>
                  </a:txBody>
                  <a:tcPr>
                    <a:solidFill>
                      <a:srgbClr val="FCEEE2"/>
                    </a:solidFill>
                  </a:tcPr>
                </a:tc>
                <a:tc>
                  <a:txBody>
                    <a:bodyPr/>
                    <a:lstStyle/>
                    <a:p>
                      <a:pPr algn="ctr"/>
                      <a:r>
                        <a:rPr sz="1100" b="0">
                          <a:solidFill>
                            <a:srgbClr val="DB4B0D"/>
                          </a:solidFill>
                          <a:latin typeface="Calibri"/>
                        </a:rPr>
                        <a:t>~15–25K</a:t>
                      </a:r>
                    </a:p>
                  </a:txBody>
                  <a:tcPr>
                    <a:solidFill>
                      <a:srgbClr val="FCEEE2"/>
                    </a:solidFill>
                  </a:tcPr>
                </a:tc>
              </a:tr>
              <a:tr h="385354">
                <a:tc>
                  <a:txBody>
                    <a:bodyPr/>
                    <a:lstStyle/>
                    <a:p>
                      <a:pPr algn="l"/>
                      <a:r>
                        <a:rPr sz="1100" b="1">
                          <a:solidFill>
                            <a:srgbClr val="111828"/>
                          </a:solidFill>
                          <a:latin typeface="Calibri"/>
                        </a:rPr>
                        <a:t>Twilio OTP</a:t>
                      </a:r>
                    </a:p>
                  </a:txBody>
                  <a:tcPr>
                    <a:solidFill>
                      <a:srgbClr val="FFFFFF"/>
                    </a:solidFill>
                  </a:tcPr>
                </a:tc>
                <a:tc>
                  <a:txBody>
                    <a:bodyPr/>
                    <a:lstStyle/>
                    <a:p>
                      <a:pPr algn="ctr"/>
                      <a:r>
                        <a:rPr sz="1100" b="0">
                          <a:solidFill>
                            <a:srgbClr val="DB4B0D"/>
                          </a:solidFill>
                          <a:latin typeface="Calibri"/>
                        </a:rPr>
                        <a:t>~3K</a:t>
                      </a:r>
                    </a:p>
                  </a:txBody>
                  <a:tcPr>
                    <a:solidFill>
                      <a:srgbClr val="FFFFFF"/>
                    </a:solidFill>
                  </a:tcPr>
                </a:tc>
                <a:tc>
                  <a:txBody>
                    <a:bodyPr/>
                    <a:lstStyle/>
                    <a:p>
                      <a:pPr algn="ctr"/>
                      <a:r>
                        <a:rPr sz="1100" b="0">
                          <a:solidFill>
                            <a:srgbClr val="DB4B0D"/>
                          </a:solidFill>
                          <a:latin typeface="Calibri"/>
                        </a:rPr>
                        <a:t>~8K</a:t>
                      </a:r>
                    </a:p>
                  </a:txBody>
                  <a:tcPr>
                    <a:solidFill>
                      <a:srgbClr val="FFFFFF"/>
                    </a:solidFill>
                  </a:tcPr>
                </a:tc>
              </a:tr>
              <a:tr h="385354">
                <a:tc>
                  <a:txBody>
                    <a:bodyPr/>
                    <a:lstStyle/>
                    <a:p>
                      <a:pPr algn="l"/>
                      <a:r>
                        <a:rPr sz="1100" b="1">
                          <a:solidFill>
                            <a:srgbClr val="111828"/>
                          </a:solidFill>
                          <a:latin typeface="Calibri"/>
                        </a:rPr>
                        <a:t>Google Maps API</a:t>
                      </a:r>
                    </a:p>
                  </a:txBody>
                  <a:tcPr>
                    <a:solidFill>
                      <a:srgbClr val="FCEEE2"/>
                    </a:solidFill>
                  </a:tcPr>
                </a:tc>
                <a:tc>
                  <a:txBody>
                    <a:bodyPr/>
                    <a:lstStyle/>
                    <a:p>
                      <a:pPr algn="ctr"/>
                      <a:r>
                        <a:rPr sz="1100" b="0">
                          <a:solidFill>
                            <a:srgbClr val="DB4B0D"/>
                          </a:solidFill>
                          <a:latin typeface="Calibri"/>
                        </a:rPr>
                        <a:t>~2K</a:t>
                      </a:r>
                    </a:p>
                  </a:txBody>
                  <a:tcPr>
                    <a:solidFill>
                      <a:srgbClr val="FCEEE2"/>
                    </a:solidFill>
                  </a:tcPr>
                </a:tc>
                <a:tc>
                  <a:txBody>
                    <a:bodyPr/>
                    <a:lstStyle/>
                    <a:p>
                      <a:pPr algn="ctr"/>
                      <a:r>
                        <a:rPr sz="1100" b="0">
                          <a:solidFill>
                            <a:srgbClr val="DB4B0D"/>
                          </a:solidFill>
                          <a:latin typeface="Calibri"/>
                        </a:rPr>
                        <a:t>~6K</a:t>
                      </a:r>
                    </a:p>
                  </a:txBody>
                  <a:tcPr>
                    <a:solidFill>
                      <a:srgbClr val="FCEEE2"/>
                    </a:solidFill>
                  </a:tcPr>
                </a:tc>
              </a:tr>
              <a:tr h="385354">
                <a:tc>
                  <a:txBody>
                    <a:bodyPr/>
                    <a:lstStyle/>
                    <a:p>
                      <a:pPr algn="l"/>
                      <a:r>
                        <a:rPr sz="1100" b="1">
                          <a:solidFill>
                            <a:srgbClr val="111828"/>
                          </a:solidFill>
                          <a:latin typeface="Calibri"/>
                        </a:rPr>
                        <a:t>FCM / Resend</a:t>
                      </a:r>
                    </a:p>
                  </a:txBody>
                  <a:tcPr>
                    <a:solidFill>
                      <a:srgbClr val="FFFFFF"/>
                    </a:solidFill>
                  </a:tcPr>
                </a:tc>
                <a:tc>
                  <a:txBody>
                    <a:bodyPr/>
                    <a:lstStyle/>
                    <a:p>
                      <a:pPr algn="ctr"/>
                      <a:r>
                        <a:rPr sz="1100" b="0">
                          <a:solidFill>
                            <a:srgbClr val="DB4B0D"/>
                          </a:solidFill>
                          <a:latin typeface="Calibri"/>
                        </a:rPr>
                        <a:t>Free</a:t>
                      </a:r>
                    </a:p>
                  </a:txBody>
                  <a:tcPr>
                    <a:solidFill>
                      <a:srgbClr val="FFFFFF"/>
                    </a:solidFill>
                  </a:tcPr>
                </a:tc>
                <a:tc>
                  <a:txBody>
                    <a:bodyPr/>
                    <a:lstStyle/>
                    <a:p>
                      <a:pPr algn="ctr"/>
                      <a:r>
                        <a:rPr sz="1100" b="0">
                          <a:solidFill>
                            <a:srgbClr val="DB4B0D"/>
                          </a:solidFill>
                          <a:latin typeface="Calibri"/>
                        </a:rPr>
                        <a:t>Free</a:t>
                      </a:r>
                    </a:p>
                  </a:txBody>
                  <a:tcPr>
                    <a:solidFill>
                      <a:srgbClr val="FFFFFF"/>
                    </a:solidFill>
                  </a:tcPr>
                </a:tc>
              </a:tr>
              <a:tr h="385354">
                <a:tc>
                  <a:txBody>
                    <a:bodyPr/>
                    <a:lstStyle/>
                    <a:p>
                      <a:pPr algn="l"/>
                      <a:r>
                        <a:rPr sz="1100" b="1">
                          <a:solidFill>
                            <a:srgbClr val="111828"/>
                          </a:solidFill>
                          <a:latin typeface="Calibri"/>
                        </a:rPr>
                        <a:t>Domain &amp; misc</a:t>
                      </a:r>
                    </a:p>
                  </a:txBody>
                  <a:tcPr>
                    <a:solidFill>
                      <a:srgbClr val="FCEEE2"/>
                    </a:solidFill>
                  </a:tcPr>
                </a:tc>
                <a:tc>
                  <a:txBody>
                    <a:bodyPr/>
                    <a:lstStyle/>
                    <a:p>
                      <a:pPr algn="ctr"/>
                      <a:r>
                        <a:rPr sz="1100" b="0">
                          <a:solidFill>
                            <a:srgbClr val="DB4B0D"/>
                          </a:solidFill>
                          <a:latin typeface="Calibri"/>
                        </a:rPr>
                        <a:t>~3K</a:t>
                      </a:r>
                    </a:p>
                  </a:txBody>
                  <a:tcPr>
                    <a:solidFill>
                      <a:srgbClr val="FCEEE2"/>
                    </a:solidFill>
                  </a:tcPr>
                </a:tc>
                <a:tc>
                  <a:txBody>
                    <a:bodyPr/>
                    <a:lstStyle/>
                    <a:p>
                      <a:pPr algn="ctr"/>
                      <a:r>
                        <a:rPr sz="1100" b="0">
                          <a:solidFill>
                            <a:srgbClr val="DB4B0D"/>
                          </a:solidFill>
                          <a:latin typeface="Calibri"/>
                        </a:rPr>
                        <a:t>~3K</a:t>
                      </a:r>
                    </a:p>
                  </a:txBody>
                  <a:tcPr>
                    <a:solidFill>
                      <a:srgbClr val="FCEEE2"/>
                    </a:solidFill>
                  </a:tcPr>
                </a:tc>
              </a:tr>
              <a:tr h="385356">
                <a:tc>
                  <a:txBody>
                    <a:bodyPr/>
                    <a:lstStyle/>
                    <a:p>
                      <a:pPr algn="l"/>
                      <a:r>
                        <a:rPr sz="1100" b="1">
                          <a:solidFill>
                            <a:srgbClr val="111828"/>
                          </a:solidFill>
                          <a:latin typeface="Calibri"/>
                        </a:rPr>
                        <a:t>Total cloud burn</a:t>
                      </a:r>
                    </a:p>
                  </a:txBody>
                  <a:tcPr>
                    <a:solidFill>
                      <a:srgbClr val="F8C9A8"/>
                    </a:solidFill>
                  </a:tcPr>
                </a:tc>
                <a:tc>
                  <a:txBody>
                    <a:bodyPr/>
                    <a:lstStyle/>
                    <a:p>
                      <a:pPr algn="ctr"/>
                      <a:r>
                        <a:rPr sz="1100" b="1">
                          <a:solidFill>
                            <a:srgbClr val="111828"/>
                          </a:solidFill>
                          <a:latin typeface="Calibri"/>
                        </a:rPr>
                        <a:t>~16–20K</a:t>
                      </a:r>
                    </a:p>
                  </a:txBody>
                  <a:tcPr>
                    <a:solidFill>
                      <a:srgbClr val="F8C9A8"/>
                    </a:solidFill>
                  </a:tcPr>
                </a:tc>
                <a:tc>
                  <a:txBody>
                    <a:bodyPr/>
                    <a:lstStyle/>
                    <a:p>
                      <a:pPr algn="ctr"/>
                      <a:r>
                        <a:rPr sz="1100" b="1">
                          <a:solidFill>
                            <a:srgbClr val="111828"/>
                          </a:solidFill>
                          <a:latin typeface="Calibri"/>
                        </a:rPr>
                        <a:t>~32–42K</a:t>
                      </a:r>
                    </a:p>
                  </a:txBody>
                  <a:tcPr>
                    <a:solidFill>
                      <a:srgbClr val="F8C9A8"/>
                    </a:solidFill>
                  </a:tcPr>
                </a:tc>
              </a:tr>
            </a:tbl>
          </a:graphicData>
        </a:graphic>
      </p:graphicFrame>
      <p:sp>
        <p:nvSpPr>
          <p:cNvPr id="13" name="Rectangle 12"/>
          <p:cNvSpPr/>
          <p:nvPr/>
        </p:nvSpPr>
        <p:spPr>
          <a:xfrm>
            <a:off x="731520" y="5102352"/>
            <a:ext cx="10698480" cy="1024128"/>
          </a:xfrm>
          <a:prstGeom prst="rect">
            <a:avLst/>
          </a:prstGeom>
          <a:solidFill>
            <a:srgbClr val="1118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60120" y="5175504"/>
            <a:ext cx="10332720" cy="914400"/>
          </a:xfrm>
          <a:prstGeom prst="rect">
            <a:avLst/>
          </a:prstGeom>
          <a:noFill/>
        </p:spPr>
        <p:txBody>
          <a:bodyPr wrap="square" anchor="t">
            <a:spAutoFit/>
          </a:bodyPr>
          <a:lstStyle/>
          <a:p>
            <a:pPr algn="l">
              <a:lnSpc>
                <a:spcPct val="104000"/>
              </a:lnSpc>
              <a:spcAft>
                <a:spcPts val="300"/>
              </a:spcAft>
            </a:pPr>
            <a:r>
              <a:rPr sz="1200" b="1">
                <a:solidFill>
                  <a:srgbClr val="DB4B0D"/>
                </a:solidFill>
                <a:latin typeface="Calibri"/>
              </a:rPr>
              <a:t>With NIC Karachi incubation:  </a:t>
            </a:r>
            <a:r>
              <a:rPr sz="1100" b="0">
                <a:solidFill>
                  <a:srgbClr val="FFFFFF"/>
                </a:solidFill>
                <a:latin typeface="Calibri"/>
              </a:rPr>
              <a:t>free office + zero utilities save ~PKR 80–120K/mo — that single saving dwarfs our entire cloud burn, redirected straight into provider acquisition.</a:t>
            </a:r>
          </a:p>
          <a:p>
            <a:pPr algn="l">
              <a:lnSpc>
                <a:spcPct val="104000"/>
              </a:lnSpc>
              <a:spcAft>
                <a:spcPts val="300"/>
              </a:spcAft>
            </a:pPr>
            <a:r>
              <a:rPr sz="1000" b="1">
                <a:solidFill>
                  <a:srgbClr val="CFD3DA"/>
                </a:solidFill>
                <a:latin typeface="Calibri"/>
              </a:rPr>
              <a:t>Variable OpEx (scales with volume): per-query KYC/identity checks + field acquisition (agent + signups). The free Rs. 500 credit is a non-cash virtual token — it delays commission, not upfront cash.</a:t>
            </a:r>
          </a:p>
        </p:txBody>
      </p:sp>
      <p:sp>
        <p:nvSpPr>
          <p:cNvPr id="15" name="TextBox 14"/>
          <p:cNvSpPr txBox="1"/>
          <p:nvPr/>
        </p:nvSpPr>
        <p:spPr>
          <a:xfrm>
            <a:off x="457200" y="6446520"/>
            <a:ext cx="7315200" cy="320040"/>
          </a:xfrm>
          <a:prstGeom prst="rect">
            <a:avLst/>
          </a:prstGeom>
          <a:noFill/>
        </p:spPr>
        <p:txBody>
          <a:bodyPr wrap="square" anchor="t">
            <a:spAutoFit/>
          </a:bodyPr>
          <a:lstStyle/>
          <a:p>
            <a:pPr algn="l">
              <a:lnSpc>
                <a:spcPct val="105000"/>
              </a:lnSpc>
              <a:spcAft>
                <a:spcPts val="600"/>
              </a:spcAft>
            </a:pPr>
            <a:r>
              <a:rPr sz="900" b="1">
                <a:solidFill>
                  <a:srgbClr val="DB4B0D"/>
                </a:solidFill>
                <a:latin typeface="Calibri"/>
              </a:rPr>
              <a:t>USTAZ</a:t>
            </a:r>
            <a:r>
              <a:rPr sz="900" b="0">
                <a:solidFill>
                  <a:srgbClr val="6B707A"/>
                </a:solidFill>
                <a:latin typeface="Calibri"/>
              </a:rPr>
              <a:t>   ustaz-bice.vercel.app</a:t>
            </a:r>
          </a:p>
        </p:txBody>
      </p:sp>
      <p:sp>
        <p:nvSpPr>
          <p:cNvPr id="16" name="TextBox 15"/>
          <p:cNvSpPr txBox="1"/>
          <p:nvPr/>
        </p:nvSpPr>
        <p:spPr>
          <a:xfrm>
            <a:off x="11338560" y="6446520"/>
            <a:ext cx="548640" cy="320040"/>
          </a:xfrm>
          <a:prstGeom prst="rect">
            <a:avLst/>
          </a:prstGeom>
          <a:noFill/>
        </p:spPr>
        <p:txBody>
          <a:bodyPr wrap="square" anchor="t">
            <a:spAutoFit/>
          </a:bodyPr>
          <a:lstStyle/>
          <a:p>
            <a:pPr algn="r">
              <a:lnSpc>
                <a:spcPct val="105000"/>
              </a:lnSpc>
              <a:spcAft>
                <a:spcPts val="600"/>
              </a:spcAft>
            </a:pPr>
            <a:r>
              <a:rPr sz="900" b="1">
                <a:solidFill>
                  <a:srgbClr val="6B707A"/>
                </a:solidFill>
                <a:latin typeface="Calibri"/>
              </a:rPr>
              <a:t>13</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57200" y="640080"/>
            <a:ext cx="109728" cy="1051560"/>
          </a:xfrm>
          <a:prstGeom prst="rect">
            <a:avLst/>
          </a:prstGeom>
          <a:solidFill>
            <a:srgbClr val="DB4B0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11155680" y="-548640"/>
            <a:ext cx="1645920" cy="1645920"/>
          </a:xfrm>
          <a:prstGeom prst="ellipse">
            <a:avLst/>
          </a:prstGeom>
          <a:solidFill>
            <a:srgbClr val="FCEE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566928"/>
            <a:ext cx="9144000" cy="365760"/>
          </a:xfrm>
          <a:prstGeom prst="rect">
            <a:avLst/>
          </a:prstGeom>
          <a:noFill/>
        </p:spPr>
        <p:txBody>
          <a:bodyPr wrap="square" anchor="t">
            <a:spAutoFit/>
          </a:bodyPr>
          <a:lstStyle/>
          <a:p>
            <a:pPr algn="l">
              <a:lnSpc>
                <a:spcPct val="105000"/>
              </a:lnSpc>
              <a:spcAft>
                <a:spcPts val="600"/>
              </a:spcAft>
            </a:pPr>
            <a:r>
              <a:rPr sz="1200" b="1">
                <a:solidFill>
                  <a:srgbClr val="DB4B0D"/>
                </a:solidFill>
                <a:latin typeface="Calibri"/>
              </a:rPr>
              <a:t>13. FINANCIALS</a:t>
            </a:r>
          </a:p>
        </p:txBody>
      </p:sp>
      <p:sp>
        <p:nvSpPr>
          <p:cNvPr id="6" name="TextBox 5"/>
          <p:cNvSpPr txBox="1"/>
          <p:nvPr/>
        </p:nvSpPr>
        <p:spPr>
          <a:xfrm>
            <a:off x="713232" y="914400"/>
            <a:ext cx="10515600" cy="822960"/>
          </a:xfrm>
          <a:prstGeom prst="rect">
            <a:avLst/>
          </a:prstGeom>
          <a:noFill/>
        </p:spPr>
        <p:txBody>
          <a:bodyPr wrap="square" anchor="t">
            <a:spAutoFit/>
          </a:bodyPr>
          <a:lstStyle/>
          <a:p>
            <a:pPr algn="l">
              <a:lnSpc>
                <a:spcPct val="105000"/>
              </a:lnSpc>
              <a:spcAft>
                <a:spcPts val="600"/>
              </a:spcAft>
            </a:pPr>
            <a:r>
              <a:rPr sz="3000" b="1">
                <a:solidFill>
                  <a:srgbClr val="111828"/>
                </a:solidFill>
                <a:latin typeface="Calibri"/>
              </a:rPr>
              <a:t>Lean burn, scalable margins</a:t>
            </a:r>
          </a:p>
        </p:txBody>
      </p:sp>
      <p:sp>
        <p:nvSpPr>
          <p:cNvPr id="7" name="TextBox 6"/>
          <p:cNvSpPr txBox="1"/>
          <p:nvPr/>
        </p:nvSpPr>
        <p:spPr>
          <a:xfrm>
            <a:off x="731520" y="1783080"/>
            <a:ext cx="10515600" cy="457200"/>
          </a:xfrm>
          <a:prstGeom prst="rect">
            <a:avLst/>
          </a:prstGeom>
          <a:noFill/>
        </p:spPr>
        <p:txBody>
          <a:bodyPr wrap="square" anchor="t">
            <a:spAutoFit/>
          </a:bodyPr>
          <a:lstStyle/>
          <a:p>
            <a:pPr algn="l">
              <a:lnSpc>
                <a:spcPct val="105000"/>
              </a:lnSpc>
              <a:spcAft>
                <a:spcPts val="600"/>
              </a:spcAft>
            </a:pPr>
            <a:r>
              <a:rPr sz="1500" b="1">
                <a:solidFill>
                  <a:srgbClr val="DB4B0D"/>
                </a:solidFill>
                <a:latin typeface="Calibri"/>
              </a:rPr>
              <a:t>Pre-revenue MVP today — high-margin economics as marketplace liquidity builds.</a:t>
            </a:r>
          </a:p>
        </p:txBody>
      </p:sp>
      <p:sp>
        <p:nvSpPr>
          <p:cNvPr id="8" name="Rectangle 7"/>
          <p:cNvSpPr/>
          <p:nvPr/>
        </p:nvSpPr>
        <p:spPr>
          <a:xfrm>
            <a:off x="731520" y="2468880"/>
            <a:ext cx="3474720" cy="1828800"/>
          </a:xfrm>
          <a:prstGeom prst="rect">
            <a:avLst/>
          </a:prstGeom>
          <a:solidFill>
            <a:srgbClr val="FFFFFF"/>
          </a:solidFill>
          <a:ln w="12700">
            <a:solidFill>
              <a:srgbClr val="F8C9A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31520" y="2468880"/>
            <a:ext cx="3474720" cy="109728"/>
          </a:xfrm>
          <a:prstGeom prst="rect">
            <a:avLst/>
          </a:prstGeom>
          <a:solidFill>
            <a:srgbClr val="DB4B0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60120" y="2697480"/>
            <a:ext cx="3017520" cy="1554480"/>
          </a:xfrm>
          <a:prstGeom prst="rect">
            <a:avLst/>
          </a:prstGeom>
          <a:noFill/>
        </p:spPr>
        <p:txBody>
          <a:bodyPr wrap="square" anchor="t">
            <a:spAutoFit/>
          </a:bodyPr>
          <a:lstStyle/>
          <a:p>
            <a:pPr algn="l">
              <a:lnSpc>
                <a:spcPct val="112000"/>
              </a:lnSpc>
              <a:spcAft>
                <a:spcPts val="600"/>
              </a:spcAft>
            </a:pPr>
            <a:r>
              <a:rPr sz="1450" b="1">
                <a:solidFill>
                  <a:srgbClr val="111828"/>
                </a:solidFill>
                <a:latin typeface="Calibri"/>
              </a:rPr>
              <a:t>Revenue driver</a:t>
            </a:r>
          </a:p>
          <a:p>
            <a:pPr algn="l">
              <a:lnSpc>
                <a:spcPct val="112000"/>
              </a:lnSpc>
              <a:spcAft>
                <a:spcPts val="600"/>
              </a:spcAft>
            </a:pPr>
            <a:r>
              <a:rPr sz="1200" b="0">
                <a:solidFill>
                  <a:srgbClr val="3A3F4A"/>
                </a:solidFill>
                <a:latin typeface="Calibri"/>
              </a:rPr>
              <a:t>Completed jobs × commission per job. Grows with provider liquidity &amp; repeat rate.</a:t>
            </a:r>
          </a:p>
        </p:txBody>
      </p:sp>
      <p:sp>
        <p:nvSpPr>
          <p:cNvPr id="11" name="Rectangle 10"/>
          <p:cNvSpPr/>
          <p:nvPr/>
        </p:nvSpPr>
        <p:spPr>
          <a:xfrm>
            <a:off x="4389120" y="2468880"/>
            <a:ext cx="3474720" cy="1828800"/>
          </a:xfrm>
          <a:prstGeom prst="rect">
            <a:avLst/>
          </a:prstGeom>
          <a:solidFill>
            <a:srgbClr val="FFFFFF"/>
          </a:solidFill>
          <a:ln w="12700">
            <a:solidFill>
              <a:srgbClr val="F8C9A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389120" y="2468880"/>
            <a:ext cx="3474720" cy="109728"/>
          </a:xfrm>
          <a:prstGeom prst="rect">
            <a:avLst/>
          </a:prstGeom>
          <a:solidFill>
            <a:srgbClr val="DB4B0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617720" y="2697480"/>
            <a:ext cx="3017520" cy="1554480"/>
          </a:xfrm>
          <a:prstGeom prst="rect">
            <a:avLst/>
          </a:prstGeom>
          <a:noFill/>
        </p:spPr>
        <p:txBody>
          <a:bodyPr wrap="square" anchor="t">
            <a:spAutoFit/>
          </a:bodyPr>
          <a:lstStyle/>
          <a:p>
            <a:pPr algn="l">
              <a:lnSpc>
                <a:spcPct val="112000"/>
              </a:lnSpc>
              <a:spcAft>
                <a:spcPts val="600"/>
              </a:spcAft>
            </a:pPr>
            <a:r>
              <a:rPr sz="1450" b="1">
                <a:solidFill>
                  <a:srgbClr val="111828"/>
                </a:solidFill>
                <a:latin typeface="Calibri"/>
              </a:rPr>
              <a:t>Gross margin</a:t>
            </a:r>
          </a:p>
          <a:p>
            <a:pPr algn="l">
              <a:lnSpc>
                <a:spcPct val="112000"/>
              </a:lnSpc>
              <a:spcAft>
                <a:spcPts val="600"/>
              </a:spcAft>
            </a:pPr>
            <a:r>
              <a:rPr sz="1200" b="0">
                <a:solidFill>
                  <a:srgbClr val="3A3F4A"/>
                </a:solidFill>
                <a:latin typeface="Calibri"/>
              </a:rPr>
              <a:t>Software margins — minimal cost per transaction once a city reaches density.</a:t>
            </a:r>
          </a:p>
        </p:txBody>
      </p:sp>
      <p:sp>
        <p:nvSpPr>
          <p:cNvPr id="14" name="Rectangle 13"/>
          <p:cNvSpPr/>
          <p:nvPr/>
        </p:nvSpPr>
        <p:spPr>
          <a:xfrm>
            <a:off x="8046720" y="2468880"/>
            <a:ext cx="3474720" cy="1828800"/>
          </a:xfrm>
          <a:prstGeom prst="rect">
            <a:avLst/>
          </a:prstGeom>
          <a:solidFill>
            <a:srgbClr val="FFFFFF"/>
          </a:solidFill>
          <a:ln w="12700">
            <a:solidFill>
              <a:srgbClr val="F8C9A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8046720" y="2468880"/>
            <a:ext cx="3474720" cy="109728"/>
          </a:xfrm>
          <a:prstGeom prst="rect">
            <a:avLst/>
          </a:prstGeom>
          <a:solidFill>
            <a:srgbClr val="DB4B0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275320" y="2697480"/>
            <a:ext cx="3017520" cy="1554480"/>
          </a:xfrm>
          <a:prstGeom prst="rect">
            <a:avLst/>
          </a:prstGeom>
          <a:noFill/>
        </p:spPr>
        <p:txBody>
          <a:bodyPr wrap="square" anchor="t">
            <a:spAutoFit/>
          </a:bodyPr>
          <a:lstStyle/>
          <a:p>
            <a:pPr algn="l">
              <a:lnSpc>
                <a:spcPct val="112000"/>
              </a:lnSpc>
              <a:spcAft>
                <a:spcPts val="600"/>
              </a:spcAft>
            </a:pPr>
            <a:r>
              <a:rPr sz="1450" b="1">
                <a:solidFill>
                  <a:srgbClr val="111828"/>
                </a:solidFill>
                <a:latin typeface="Calibri"/>
              </a:rPr>
              <a:t>Burn</a:t>
            </a:r>
          </a:p>
          <a:p>
            <a:pPr algn="l">
              <a:lnSpc>
                <a:spcPct val="112000"/>
              </a:lnSpc>
              <a:spcAft>
                <a:spcPts val="600"/>
              </a:spcAft>
            </a:pPr>
            <a:r>
              <a:rPr sz="1200" b="0">
                <a:solidFill>
                  <a:srgbClr val="3A3F4A"/>
                </a:solidFill>
                <a:latin typeface="Calibri"/>
              </a:rPr>
              <a:t>Lean: cloud + APIs + acquisition. No inventory, no fleet, no salaries beyond core team.</a:t>
            </a:r>
          </a:p>
        </p:txBody>
      </p:sp>
      <p:sp>
        <p:nvSpPr>
          <p:cNvPr id="17" name="Rectangle 16"/>
          <p:cNvSpPr/>
          <p:nvPr/>
        </p:nvSpPr>
        <p:spPr>
          <a:xfrm>
            <a:off x="731520" y="4617720"/>
            <a:ext cx="10698480" cy="1508760"/>
          </a:xfrm>
          <a:prstGeom prst="rect">
            <a:avLst/>
          </a:prstGeom>
          <a:solidFill>
            <a:srgbClr val="FCEE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005840" y="4754880"/>
            <a:ext cx="10241280" cy="1280160"/>
          </a:xfrm>
          <a:prstGeom prst="rect">
            <a:avLst/>
          </a:prstGeom>
          <a:noFill/>
        </p:spPr>
        <p:txBody>
          <a:bodyPr wrap="square" anchor="t">
            <a:spAutoFit/>
          </a:bodyPr>
          <a:lstStyle/>
          <a:p>
            <a:pPr algn="l">
              <a:lnSpc>
                <a:spcPct val="112000"/>
              </a:lnSpc>
              <a:spcAft>
                <a:spcPts val="500"/>
              </a:spcAft>
            </a:pPr>
            <a:r>
              <a:rPr sz="1250" b="1">
                <a:solidFill>
                  <a:srgbClr val="111828"/>
                </a:solidFill>
                <a:latin typeface="Calibri"/>
              </a:rPr>
              <a:t>Pre-revenue — joining NIC to build professional financial models with mentorship support.</a:t>
            </a:r>
          </a:p>
          <a:p>
            <a:pPr algn="l">
              <a:lnSpc>
                <a:spcPct val="112000"/>
              </a:lnSpc>
              <a:spcAft>
                <a:spcPts val="500"/>
              </a:spcAft>
            </a:pPr>
            <a:r>
              <a:rPr sz="1200" b="1">
                <a:solidFill>
                  <a:srgbClr val="DB4B0D"/>
                </a:solidFill>
                <a:latin typeface="Calibri"/>
              </a:rPr>
              <a:t>Unit economics:  </a:t>
            </a:r>
            <a:r>
              <a:rPr sz="1150" b="0">
                <a:solidFill>
                  <a:srgbClr val="3A3F4A"/>
                </a:solidFill>
                <a:latin typeface="Calibri"/>
              </a:rPr>
              <a:t>avg job ≈ PKR 600  →  revenue/job = PKR 72  →  break-even ≈ 280 jobs/mo at ~PKR 20K cloud burn.</a:t>
            </a:r>
          </a:p>
          <a:p>
            <a:pPr algn="l">
              <a:lnSpc>
                <a:spcPct val="112000"/>
              </a:lnSpc>
              <a:spcAft>
                <a:spcPts val="500"/>
              </a:spcAft>
            </a:pPr>
            <a:r>
              <a:rPr sz="1050" b="1">
                <a:solidFill>
                  <a:srgbClr val="6B707A"/>
                </a:solidFill>
                <a:latin typeface="Calibri"/>
              </a:rPr>
              <a:t>Free Rs. 500 welcome credit = provider-acquisition cost. Figures illustrative until validated — detailed P&amp;L built during incubation.</a:t>
            </a:r>
          </a:p>
        </p:txBody>
      </p:sp>
      <p:sp>
        <p:nvSpPr>
          <p:cNvPr id="19" name="TextBox 18"/>
          <p:cNvSpPr txBox="1"/>
          <p:nvPr/>
        </p:nvSpPr>
        <p:spPr>
          <a:xfrm>
            <a:off x="457200" y="6446520"/>
            <a:ext cx="7315200" cy="320040"/>
          </a:xfrm>
          <a:prstGeom prst="rect">
            <a:avLst/>
          </a:prstGeom>
          <a:noFill/>
        </p:spPr>
        <p:txBody>
          <a:bodyPr wrap="square" anchor="t">
            <a:spAutoFit/>
          </a:bodyPr>
          <a:lstStyle/>
          <a:p>
            <a:pPr algn="l">
              <a:lnSpc>
                <a:spcPct val="105000"/>
              </a:lnSpc>
              <a:spcAft>
                <a:spcPts val="600"/>
              </a:spcAft>
            </a:pPr>
            <a:r>
              <a:rPr sz="900" b="1">
                <a:solidFill>
                  <a:srgbClr val="DB4B0D"/>
                </a:solidFill>
                <a:latin typeface="Calibri"/>
              </a:rPr>
              <a:t>USTAZ</a:t>
            </a:r>
            <a:r>
              <a:rPr sz="900" b="0">
                <a:solidFill>
                  <a:srgbClr val="6B707A"/>
                </a:solidFill>
                <a:latin typeface="Calibri"/>
              </a:rPr>
              <a:t>   ustaz-bice.vercel.app</a:t>
            </a:r>
          </a:p>
        </p:txBody>
      </p:sp>
      <p:sp>
        <p:nvSpPr>
          <p:cNvPr id="20" name="TextBox 19"/>
          <p:cNvSpPr txBox="1"/>
          <p:nvPr/>
        </p:nvSpPr>
        <p:spPr>
          <a:xfrm>
            <a:off x="11338560" y="6446520"/>
            <a:ext cx="548640" cy="320040"/>
          </a:xfrm>
          <a:prstGeom prst="rect">
            <a:avLst/>
          </a:prstGeom>
          <a:noFill/>
        </p:spPr>
        <p:txBody>
          <a:bodyPr wrap="square" anchor="t">
            <a:spAutoFit/>
          </a:bodyPr>
          <a:lstStyle/>
          <a:p>
            <a:pPr algn="r">
              <a:lnSpc>
                <a:spcPct val="105000"/>
              </a:lnSpc>
              <a:spcAft>
                <a:spcPts val="600"/>
              </a:spcAft>
            </a:pPr>
            <a:r>
              <a:rPr sz="900" b="1">
                <a:solidFill>
                  <a:srgbClr val="6B707A"/>
                </a:solidFill>
                <a:latin typeface="Calibri"/>
              </a:rPr>
              <a:t>14</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57200" y="640080"/>
            <a:ext cx="109728" cy="1051560"/>
          </a:xfrm>
          <a:prstGeom prst="rect">
            <a:avLst/>
          </a:prstGeom>
          <a:solidFill>
            <a:srgbClr val="DB4B0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11155680" y="-548640"/>
            <a:ext cx="1645920" cy="1645920"/>
          </a:xfrm>
          <a:prstGeom prst="ellipse">
            <a:avLst/>
          </a:prstGeom>
          <a:solidFill>
            <a:srgbClr val="FCEE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566928"/>
            <a:ext cx="9144000" cy="365760"/>
          </a:xfrm>
          <a:prstGeom prst="rect">
            <a:avLst/>
          </a:prstGeom>
          <a:noFill/>
        </p:spPr>
        <p:txBody>
          <a:bodyPr wrap="square" anchor="t">
            <a:spAutoFit/>
          </a:bodyPr>
          <a:lstStyle/>
          <a:p>
            <a:pPr algn="l">
              <a:lnSpc>
                <a:spcPct val="105000"/>
              </a:lnSpc>
              <a:spcAft>
                <a:spcPts val="600"/>
              </a:spcAft>
            </a:pPr>
            <a:r>
              <a:rPr sz="1200" b="1">
                <a:solidFill>
                  <a:srgbClr val="DB4B0D"/>
                </a:solidFill>
                <a:latin typeface="Calibri"/>
              </a:rPr>
              <a:t>14. LONG-TERM VISION &amp; EXIT STRATEGY</a:t>
            </a:r>
          </a:p>
        </p:txBody>
      </p:sp>
      <p:sp>
        <p:nvSpPr>
          <p:cNvPr id="6" name="TextBox 5"/>
          <p:cNvSpPr txBox="1"/>
          <p:nvPr/>
        </p:nvSpPr>
        <p:spPr>
          <a:xfrm>
            <a:off x="713232" y="914400"/>
            <a:ext cx="10515600" cy="822960"/>
          </a:xfrm>
          <a:prstGeom prst="rect">
            <a:avLst/>
          </a:prstGeom>
          <a:noFill/>
        </p:spPr>
        <p:txBody>
          <a:bodyPr wrap="square" anchor="t">
            <a:spAutoFit/>
          </a:bodyPr>
          <a:lstStyle/>
          <a:p>
            <a:pPr algn="l">
              <a:lnSpc>
                <a:spcPct val="105000"/>
              </a:lnSpc>
              <a:spcAft>
                <a:spcPts val="600"/>
              </a:spcAft>
            </a:pPr>
            <a:r>
              <a:rPr sz="3000" b="1">
                <a:solidFill>
                  <a:srgbClr val="111828"/>
                </a:solidFill>
                <a:latin typeface="Calibri"/>
              </a:rPr>
              <a:t>Building Pakistan's default home-services brand</a:t>
            </a:r>
          </a:p>
        </p:txBody>
      </p:sp>
      <p:sp>
        <p:nvSpPr>
          <p:cNvPr id="7" name="TextBox 6"/>
          <p:cNvSpPr txBox="1"/>
          <p:nvPr/>
        </p:nvSpPr>
        <p:spPr>
          <a:xfrm>
            <a:off x="731520" y="1783080"/>
            <a:ext cx="10515600" cy="457200"/>
          </a:xfrm>
          <a:prstGeom prst="rect">
            <a:avLst/>
          </a:prstGeom>
          <a:noFill/>
        </p:spPr>
        <p:txBody>
          <a:bodyPr wrap="square" anchor="t">
            <a:spAutoFit/>
          </a:bodyPr>
          <a:lstStyle/>
          <a:p>
            <a:pPr algn="l">
              <a:lnSpc>
                <a:spcPct val="105000"/>
              </a:lnSpc>
              <a:spcAft>
                <a:spcPts val="600"/>
              </a:spcAft>
            </a:pPr>
            <a:r>
              <a:rPr sz="1600" b="1">
                <a:solidFill>
                  <a:srgbClr val="DB4B0D"/>
                </a:solidFill>
                <a:latin typeface="Calibri"/>
              </a:rPr>
              <a:t>Exit path</a:t>
            </a:r>
          </a:p>
        </p:txBody>
      </p:sp>
      <p:sp>
        <p:nvSpPr>
          <p:cNvPr id="8" name="TextBox 7"/>
          <p:cNvSpPr txBox="1"/>
          <p:nvPr/>
        </p:nvSpPr>
        <p:spPr>
          <a:xfrm>
            <a:off x="731520" y="2286000"/>
            <a:ext cx="10607040" cy="1828800"/>
          </a:xfrm>
          <a:prstGeom prst="rect">
            <a:avLst/>
          </a:prstGeom>
          <a:noFill/>
        </p:spPr>
        <p:txBody>
          <a:bodyPr wrap="square">
            <a:spAutoFit/>
          </a:bodyPr>
          <a:lstStyle/>
          <a:p>
            <a:pPr>
              <a:lnSpc>
                <a:spcPct val="105000"/>
              </a:lnSpc>
              <a:spcAft>
                <a:spcPts val="1000"/>
              </a:spcAft>
            </a:pPr>
            <a:r>
              <a:rPr sz="1350" b="1">
                <a:solidFill>
                  <a:srgbClr val="DB4B0D"/>
                </a:solidFill>
                <a:latin typeface="Calibri"/>
              </a:rPr>
              <a:t>▸  </a:t>
            </a:r>
            <a:r>
              <a:rPr sz="1350" b="1">
                <a:solidFill>
                  <a:srgbClr val="111828"/>
                </a:solidFill>
                <a:latin typeface="Calibri"/>
              </a:rPr>
              <a:t>Primary — strategic acquisition: </a:t>
            </a:r>
            <a:r>
              <a:rPr sz="1350" b="0">
                <a:solidFill>
                  <a:srgbClr val="3A3F4A"/>
                </a:solidFill>
                <a:latin typeface="Calibri"/>
              </a:rPr>
              <a:t>by a super-app, classifieds leader, telco, or bank scaling into home services.</a:t>
            </a:r>
          </a:p>
          <a:p>
            <a:pPr>
              <a:lnSpc>
                <a:spcPct val="105000"/>
              </a:lnSpc>
              <a:spcAft>
                <a:spcPts val="1000"/>
              </a:spcAft>
            </a:pPr>
            <a:r>
              <a:rPr sz="1350" b="1">
                <a:solidFill>
                  <a:srgbClr val="DB4B0D"/>
                </a:solidFill>
                <a:latin typeface="Calibri"/>
              </a:rPr>
              <a:t>▸  </a:t>
            </a:r>
            <a:r>
              <a:rPr sz="1350" b="1">
                <a:solidFill>
                  <a:srgbClr val="111828"/>
                </a:solidFill>
                <a:latin typeface="Calibri"/>
              </a:rPr>
              <a:t>Likely acquirers: </a:t>
            </a:r>
            <a:r>
              <a:rPr sz="1350" b="0">
                <a:solidFill>
                  <a:srgbClr val="3A3F4A"/>
                </a:solidFill>
                <a:latin typeface="Calibri"/>
              </a:rPr>
              <a:t>Jazz / PTCL (telco super-app), OLX Pakistan (classifieds → services), Careem Pakistan, HBL / Meezan (bank-led services).</a:t>
            </a:r>
          </a:p>
          <a:p>
            <a:pPr>
              <a:lnSpc>
                <a:spcPct val="105000"/>
              </a:lnSpc>
              <a:spcAft>
                <a:spcPts val="1000"/>
              </a:spcAft>
            </a:pPr>
            <a:r>
              <a:rPr sz="1350" b="1">
                <a:solidFill>
                  <a:srgbClr val="DB4B0D"/>
                </a:solidFill>
                <a:latin typeface="Calibri"/>
              </a:rPr>
              <a:t>▸  </a:t>
            </a:r>
            <a:r>
              <a:rPr sz="1350" b="1">
                <a:solidFill>
                  <a:srgbClr val="111828"/>
                </a:solidFill>
                <a:latin typeface="Calibri"/>
              </a:rPr>
              <a:t>Secondary — regional roll-up → </a:t>
            </a:r>
            <a:r>
              <a:rPr sz="1350" b="0">
                <a:solidFill>
                  <a:srgbClr val="3A3F4A"/>
                </a:solidFill>
                <a:latin typeface="Calibri"/>
              </a:rPr>
              <a:t>dominate Pakistan, then list on PSX or expand to comparable markets.</a:t>
            </a:r>
          </a:p>
        </p:txBody>
      </p:sp>
      <p:sp>
        <p:nvSpPr>
          <p:cNvPr id="9" name="TextBox 8"/>
          <p:cNvSpPr txBox="1"/>
          <p:nvPr/>
        </p:nvSpPr>
        <p:spPr>
          <a:xfrm>
            <a:off x="731520" y="3977639"/>
            <a:ext cx="10515600" cy="457200"/>
          </a:xfrm>
          <a:prstGeom prst="rect">
            <a:avLst/>
          </a:prstGeom>
          <a:noFill/>
        </p:spPr>
        <p:txBody>
          <a:bodyPr wrap="square" anchor="t">
            <a:spAutoFit/>
          </a:bodyPr>
          <a:lstStyle/>
          <a:p>
            <a:pPr algn="l">
              <a:lnSpc>
                <a:spcPct val="105000"/>
              </a:lnSpc>
              <a:spcAft>
                <a:spcPts val="600"/>
              </a:spcAft>
            </a:pPr>
            <a:r>
              <a:rPr sz="1600" b="1">
                <a:solidFill>
                  <a:srgbClr val="DB4B0D"/>
                </a:solidFill>
                <a:latin typeface="Calibri"/>
              </a:rPr>
              <a:t>Corporate structure &amp; governance</a:t>
            </a:r>
          </a:p>
        </p:txBody>
      </p:sp>
      <p:sp>
        <p:nvSpPr>
          <p:cNvPr id="10" name="TextBox 9"/>
          <p:cNvSpPr txBox="1"/>
          <p:nvPr/>
        </p:nvSpPr>
        <p:spPr>
          <a:xfrm>
            <a:off x="731520" y="4480560"/>
            <a:ext cx="10607040" cy="1828800"/>
          </a:xfrm>
          <a:prstGeom prst="rect">
            <a:avLst/>
          </a:prstGeom>
          <a:noFill/>
        </p:spPr>
        <p:txBody>
          <a:bodyPr wrap="square">
            <a:spAutoFit/>
          </a:bodyPr>
          <a:lstStyle/>
          <a:p>
            <a:pPr>
              <a:lnSpc>
                <a:spcPct val="105000"/>
              </a:lnSpc>
              <a:spcAft>
                <a:spcPts val="1000"/>
              </a:spcAft>
            </a:pPr>
            <a:r>
              <a:rPr sz="1350" b="1">
                <a:solidFill>
                  <a:srgbClr val="DB4B0D"/>
                </a:solidFill>
                <a:latin typeface="Calibri"/>
              </a:rPr>
              <a:t>▸  </a:t>
            </a:r>
            <a:r>
              <a:rPr sz="1350" b="1">
                <a:solidFill>
                  <a:srgbClr val="111828"/>
                </a:solidFill>
                <a:latin typeface="Calibri"/>
              </a:rPr>
              <a:t>Today: </a:t>
            </a:r>
            <a:r>
              <a:rPr sz="1350" b="0">
                <a:solidFill>
                  <a:srgbClr val="3A3F4A"/>
                </a:solidFill>
                <a:latin typeface="Calibri"/>
              </a:rPr>
              <a:t>early-stage / unregistered — planning Pvt Ltd (SECP) registration within ~3–6 months of incubation, with NIC legal mentorship.</a:t>
            </a:r>
          </a:p>
          <a:p>
            <a:pPr>
              <a:lnSpc>
                <a:spcPct val="105000"/>
              </a:lnSpc>
              <a:spcAft>
                <a:spcPts val="1000"/>
              </a:spcAft>
            </a:pPr>
            <a:r>
              <a:rPr sz="1350" b="1">
                <a:solidFill>
                  <a:srgbClr val="DB4B0D"/>
                </a:solidFill>
                <a:latin typeface="Calibri"/>
              </a:rPr>
              <a:t>▸  </a:t>
            </a:r>
            <a:r>
              <a:rPr sz="1350" b="1">
                <a:solidFill>
                  <a:srgbClr val="111828"/>
                </a:solidFill>
                <a:latin typeface="Calibri"/>
              </a:rPr>
              <a:t>Equity: </a:t>
            </a:r>
            <a:r>
              <a:rPr sz="1350" b="0">
                <a:solidFill>
                  <a:srgbClr val="3A3F4A"/>
                </a:solidFill>
                <a:latin typeface="Calibri"/>
              </a:rPr>
              <a:t>3 co-founders on an agreed split; 4-year vesting + anti-dilution &amp; exit clauses to be formalised with NIC legal support pre-investment.</a:t>
            </a:r>
          </a:p>
        </p:txBody>
      </p:sp>
      <p:sp>
        <p:nvSpPr>
          <p:cNvPr id="11" name="TextBox 10"/>
          <p:cNvSpPr txBox="1"/>
          <p:nvPr/>
        </p:nvSpPr>
        <p:spPr>
          <a:xfrm>
            <a:off x="457200" y="6446520"/>
            <a:ext cx="7315200" cy="320040"/>
          </a:xfrm>
          <a:prstGeom prst="rect">
            <a:avLst/>
          </a:prstGeom>
          <a:noFill/>
        </p:spPr>
        <p:txBody>
          <a:bodyPr wrap="square" anchor="t">
            <a:spAutoFit/>
          </a:bodyPr>
          <a:lstStyle/>
          <a:p>
            <a:pPr algn="l">
              <a:lnSpc>
                <a:spcPct val="105000"/>
              </a:lnSpc>
              <a:spcAft>
                <a:spcPts val="600"/>
              </a:spcAft>
            </a:pPr>
            <a:r>
              <a:rPr sz="900" b="1">
                <a:solidFill>
                  <a:srgbClr val="DB4B0D"/>
                </a:solidFill>
                <a:latin typeface="Calibri"/>
              </a:rPr>
              <a:t>USTAZ</a:t>
            </a:r>
            <a:r>
              <a:rPr sz="900" b="0">
                <a:solidFill>
                  <a:srgbClr val="6B707A"/>
                </a:solidFill>
                <a:latin typeface="Calibri"/>
              </a:rPr>
              <a:t>   ustaz-bice.vercel.app</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lnSpc>
                <a:spcPct val="105000"/>
              </a:lnSpc>
              <a:spcAft>
                <a:spcPts val="600"/>
              </a:spcAft>
            </a:pPr>
            <a:r>
              <a:rPr sz="900" b="1">
                <a:solidFill>
                  <a:srgbClr val="6B707A"/>
                </a:solidFill>
                <a:latin typeface="Calibri"/>
              </a:rPr>
              <a:t>15</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57200" y="640080"/>
            <a:ext cx="109728" cy="1051560"/>
          </a:xfrm>
          <a:prstGeom prst="rect">
            <a:avLst/>
          </a:prstGeom>
          <a:solidFill>
            <a:srgbClr val="DB4B0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11155680" y="-548640"/>
            <a:ext cx="1645920" cy="1645920"/>
          </a:xfrm>
          <a:prstGeom prst="ellipse">
            <a:avLst/>
          </a:prstGeom>
          <a:solidFill>
            <a:srgbClr val="FCEE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566928"/>
            <a:ext cx="9144000" cy="365760"/>
          </a:xfrm>
          <a:prstGeom prst="rect">
            <a:avLst/>
          </a:prstGeom>
          <a:noFill/>
        </p:spPr>
        <p:txBody>
          <a:bodyPr wrap="square" anchor="t">
            <a:spAutoFit/>
          </a:bodyPr>
          <a:lstStyle/>
          <a:p>
            <a:pPr algn="l">
              <a:lnSpc>
                <a:spcPct val="105000"/>
              </a:lnSpc>
              <a:spcAft>
                <a:spcPts val="600"/>
              </a:spcAft>
            </a:pPr>
            <a:r>
              <a:rPr sz="1200" b="1">
                <a:solidFill>
                  <a:srgbClr val="DB4B0D"/>
                </a:solidFill>
                <a:latin typeface="Calibri"/>
              </a:rPr>
              <a:t>15. KEY METRICS &amp; PROJECTIONS</a:t>
            </a:r>
          </a:p>
        </p:txBody>
      </p:sp>
      <p:sp>
        <p:nvSpPr>
          <p:cNvPr id="6" name="TextBox 5"/>
          <p:cNvSpPr txBox="1"/>
          <p:nvPr/>
        </p:nvSpPr>
        <p:spPr>
          <a:xfrm>
            <a:off x="713232" y="914400"/>
            <a:ext cx="10515600" cy="822960"/>
          </a:xfrm>
          <a:prstGeom prst="rect">
            <a:avLst/>
          </a:prstGeom>
          <a:noFill/>
        </p:spPr>
        <p:txBody>
          <a:bodyPr wrap="square" anchor="t">
            <a:spAutoFit/>
          </a:bodyPr>
          <a:lstStyle/>
          <a:p>
            <a:pPr algn="l">
              <a:lnSpc>
                <a:spcPct val="105000"/>
              </a:lnSpc>
              <a:spcAft>
                <a:spcPts val="600"/>
              </a:spcAft>
            </a:pPr>
            <a:r>
              <a:rPr sz="3000" b="1">
                <a:solidFill>
                  <a:srgbClr val="111828"/>
                </a:solidFill>
                <a:latin typeface="Calibri"/>
              </a:rPr>
              <a:t>Bottom-up Year-1 economics (FY 2026)</a:t>
            </a:r>
          </a:p>
        </p:txBody>
      </p:sp>
      <p:sp>
        <p:nvSpPr>
          <p:cNvPr id="7" name="TextBox 6"/>
          <p:cNvSpPr txBox="1"/>
          <p:nvPr/>
        </p:nvSpPr>
        <p:spPr>
          <a:xfrm>
            <a:off x="731520" y="1737360"/>
            <a:ext cx="10607040" cy="548640"/>
          </a:xfrm>
          <a:prstGeom prst="rect">
            <a:avLst/>
          </a:prstGeom>
          <a:noFill/>
        </p:spPr>
        <p:txBody>
          <a:bodyPr wrap="square" anchor="t">
            <a:spAutoFit/>
          </a:bodyPr>
          <a:lstStyle/>
          <a:p>
            <a:pPr algn="l">
              <a:lnSpc>
                <a:spcPct val="105000"/>
              </a:lnSpc>
              <a:spcAft>
                <a:spcPts val="600"/>
              </a:spcAft>
            </a:pPr>
            <a:r>
              <a:rPr sz="1350" b="1">
                <a:solidFill>
                  <a:srgbClr val="DB4B0D"/>
                </a:solidFill>
                <a:latin typeface="Calibri"/>
              </a:rPr>
              <a:t>Bottom-up Year-1 plan (illustrative) — built from active providers × jobs × Rs. 72 commission/job.</a:t>
            </a:r>
          </a:p>
        </p:txBody>
      </p:sp>
      <p:graphicFrame>
        <p:nvGraphicFramePr>
          <p:cNvPr id="8" name="Table 7"/>
          <p:cNvGraphicFramePr>
            <a:graphicFrameLocks noGrp="1"/>
          </p:cNvGraphicFramePr>
          <p:nvPr/>
        </p:nvGraphicFramePr>
        <p:xfrm>
          <a:off x="731520" y="2331720"/>
          <a:ext cx="10698480" cy="2743200"/>
        </p:xfrm>
        <a:graphic>
          <a:graphicData uri="http://schemas.openxmlformats.org/drawingml/2006/table">
            <a:tbl>
              <a:tblPr firstRow="1" bandRow="1">
                <a:tableStyleId>{5C22544A-7EE6-4342-B048-85BDC9FD1C3A}</a:tableStyleId>
              </a:tblPr>
              <a:tblGrid>
                <a:gridCol w="2834640"/>
                <a:gridCol w="1965960"/>
                <a:gridCol w="1965960"/>
                <a:gridCol w="1965960"/>
                <a:gridCol w="1965960"/>
              </a:tblGrid>
              <a:tr h="457200">
                <a:tc>
                  <a:txBody>
                    <a:bodyPr/>
                    <a:lstStyle/>
                    <a:p>
                      <a:pPr algn="ctr"/>
                      <a:r>
                        <a:rPr sz="1200" b="1">
                          <a:solidFill>
                            <a:srgbClr val="FFFFFF"/>
                          </a:solidFill>
                          <a:latin typeface="Calibri"/>
                        </a:rPr>
                        <a:t>Metric</a:t>
                      </a:r>
                    </a:p>
                  </a:txBody>
                  <a:tcPr>
                    <a:solidFill>
                      <a:srgbClr val="111828"/>
                    </a:solidFill>
                  </a:tcPr>
                </a:tc>
                <a:tc>
                  <a:txBody>
                    <a:bodyPr/>
                    <a:lstStyle/>
                    <a:p>
                      <a:pPr algn="ctr"/>
                      <a:r>
                        <a:rPr sz="1200" b="1">
                          <a:solidFill>
                            <a:srgbClr val="FFFFFF"/>
                          </a:solidFill>
                          <a:latin typeface="Calibri"/>
                        </a:rPr>
                        <a:t>Q1 2026</a:t>
                      </a:r>
                    </a:p>
                  </a:txBody>
                  <a:tcPr>
                    <a:solidFill>
                      <a:srgbClr val="111828"/>
                    </a:solidFill>
                  </a:tcPr>
                </a:tc>
                <a:tc>
                  <a:txBody>
                    <a:bodyPr/>
                    <a:lstStyle/>
                    <a:p>
                      <a:pPr algn="ctr"/>
                      <a:r>
                        <a:rPr sz="1200" b="1">
                          <a:solidFill>
                            <a:srgbClr val="FFFFFF"/>
                          </a:solidFill>
                          <a:latin typeface="Calibri"/>
                        </a:rPr>
                        <a:t>Q2 2026</a:t>
                      </a:r>
                    </a:p>
                  </a:txBody>
                  <a:tcPr>
                    <a:solidFill>
                      <a:srgbClr val="111828"/>
                    </a:solidFill>
                  </a:tcPr>
                </a:tc>
                <a:tc>
                  <a:txBody>
                    <a:bodyPr/>
                    <a:lstStyle/>
                    <a:p>
                      <a:pPr algn="ctr"/>
                      <a:r>
                        <a:rPr sz="1200" b="1">
                          <a:solidFill>
                            <a:srgbClr val="FFFFFF"/>
                          </a:solidFill>
                          <a:latin typeface="Calibri"/>
                        </a:rPr>
                        <a:t>Q3 2026</a:t>
                      </a:r>
                    </a:p>
                  </a:txBody>
                  <a:tcPr>
                    <a:solidFill>
                      <a:srgbClr val="111828"/>
                    </a:solidFill>
                  </a:tcPr>
                </a:tc>
                <a:tc>
                  <a:txBody>
                    <a:bodyPr/>
                    <a:lstStyle/>
                    <a:p>
                      <a:pPr algn="ctr"/>
                      <a:r>
                        <a:rPr sz="1200" b="1">
                          <a:solidFill>
                            <a:srgbClr val="FFFFFF"/>
                          </a:solidFill>
                          <a:latin typeface="Calibri"/>
                        </a:rPr>
                        <a:t>Q4 2026</a:t>
                      </a:r>
                    </a:p>
                  </a:txBody>
                  <a:tcPr>
                    <a:solidFill>
                      <a:srgbClr val="111828"/>
                    </a:solidFill>
                  </a:tcPr>
                </a:tc>
              </a:tr>
              <a:tr h="457200">
                <a:tc>
                  <a:txBody>
                    <a:bodyPr/>
                    <a:lstStyle/>
                    <a:p>
                      <a:pPr algn="l"/>
                      <a:r>
                        <a:rPr sz="1200" b="1">
                          <a:solidFill>
                            <a:srgbClr val="111828"/>
                          </a:solidFill>
                          <a:latin typeface="Calibri"/>
                        </a:rPr>
                        <a:t>Active providers</a:t>
                      </a:r>
                    </a:p>
                  </a:txBody>
                  <a:tcPr>
                    <a:solidFill>
                      <a:srgbClr val="FFFFFF"/>
                    </a:solidFill>
                  </a:tcPr>
                </a:tc>
                <a:tc>
                  <a:txBody>
                    <a:bodyPr/>
                    <a:lstStyle/>
                    <a:p>
                      <a:pPr algn="ctr"/>
                      <a:r>
                        <a:rPr sz="1200" b="0">
                          <a:solidFill>
                            <a:srgbClr val="DB4B0D"/>
                          </a:solidFill>
                          <a:latin typeface="Calibri"/>
                        </a:rPr>
                        <a:t>40</a:t>
                      </a:r>
                    </a:p>
                  </a:txBody>
                  <a:tcPr>
                    <a:solidFill>
                      <a:srgbClr val="FCEEE2"/>
                    </a:solidFill>
                  </a:tcPr>
                </a:tc>
                <a:tc>
                  <a:txBody>
                    <a:bodyPr/>
                    <a:lstStyle/>
                    <a:p>
                      <a:pPr algn="ctr"/>
                      <a:r>
                        <a:rPr sz="1200" b="0">
                          <a:solidFill>
                            <a:srgbClr val="DB4B0D"/>
                          </a:solidFill>
                          <a:latin typeface="Calibri"/>
                        </a:rPr>
                        <a:t>75</a:t>
                      </a:r>
                    </a:p>
                  </a:txBody>
                  <a:tcPr>
                    <a:solidFill>
                      <a:srgbClr val="FCEEE2"/>
                    </a:solidFill>
                  </a:tcPr>
                </a:tc>
                <a:tc>
                  <a:txBody>
                    <a:bodyPr/>
                    <a:lstStyle/>
                    <a:p>
                      <a:pPr algn="ctr"/>
                      <a:r>
                        <a:rPr sz="1200" b="0">
                          <a:solidFill>
                            <a:srgbClr val="DB4B0D"/>
                          </a:solidFill>
                          <a:latin typeface="Calibri"/>
                        </a:rPr>
                        <a:t>120</a:t>
                      </a:r>
                    </a:p>
                  </a:txBody>
                  <a:tcPr>
                    <a:solidFill>
                      <a:srgbClr val="FCEEE2"/>
                    </a:solidFill>
                  </a:tcPr>
                </a:tc>
                <a:tc>
                  <a:txBody>
                    <a:bodyPr/>
                    <a:lstStyle/>
                    <a:p>
                      <a:pPr algn="ctr"/>
                      <a:r>
                        <a:rPr sz="1200" b="0">
                          <a:solidFill>
                            <a:srgbClr val="DB4B0D"/>
                          </a:solidFill>
                          <a:latin typeface="Calibri"/>
                        </a:rPr>
                        <a:t>175</a:t>
                      </a:r>
                    </a:p>
                  </a:txBody>
                  <a:tcPr>
                    <a:solidFill>
                      <a:srgbClr val="FCEEE2"/>
                    </a:solidFill>
                  </a:tcPr>
                </a:tc>
              </a:tr>
              <a:tr h="457200">
                <a:tc>
                  <a:txBody>
                    <a:bodyPr/>
                    <a:lstStyle/>
                    <a:p>
                      <a:pPr algn="l"/>
                      <a:r>
                        <a:rPr sz="1200" b="1">
                          <a:solidFill>
                            <a:srgbClr val="111828"/>
                          </a:solidFill>
                          <a:latin typeface="Calibri"/>
                        </a:rPr>
                        <a:t>Jobs / month</a:t>
                      </a:r>
                    </a:p>
                  </a:txBody>
                  <a:tcPr>
                    <a:solidFill>
                      <a:srgbClr val="FFFFFF"/>
                    </a:solidFill>
                  </a:tcPr>
                </a:tc>
                <a:tc>
                  <a:txBody>
                    <a:bodyPr/>
                    <a:lstStyle/>
                    <a:p>
                      <a:pPr algn="ctr"/>
                      <a:r>
                        <a:rPr sz="1200" b="0">
                          <a:solidFill>
                            <a:srgbClr val="DB4B0D"/>
                          </a:solidFill>
                          <a:latin typeface="Calibri"/>
                        </a:rPr>
                        <a:t>480</a:t>
                      </a:r>
                    </a:p>
                  </a:txBody>
                  <a:tcPr>
                    <a:solidFill>
                      <a:srgbClr val="FFFFFF"/>
                    </a:solidFill>
                  </a:tcPr>
                </a:tc>
                <a:tc>
                  <a:txBody>
                    <a:bodyPr/>
                    <a:lstStyle/>
                    <a:p>
                      <a:pPr algn="ctr"/>
                      <a:r>
                        <a:rPr sz="1200" b="0">
                          <a:solidFill>
                            <a:srgbClr val="DB4B0D"/>
                          </a:solidFill>
                          <a:latin typeface="Calibri"/>
                        </a:rPr>
                        <a:t>1,050</a:t>
                      </a:r>
                    </a:p>
                  </a:txBody>
                  <a:tcPr>
                    <a:solidFill>
                      <a:srgbClr val="FFFFFF"/>
                    </a:solidFill>
                  </a:tcPr>
                </a:tc>
                <a:tc>
                  <a:txBody>
                    <a:bodyPr/>
                    <a:lstStyle/>
                    <a:p>
                      <a:pPr algn="ctr"/>
                      <a:r>
                        <a:rPr sz="1200" b="0">
                          <a:solidFill>
                            <a:srgbClr val="DB4B0D"/>
                          </a:solidFill>
                          <a:latin typeface="Calibri"/>
                        </a:rPr>
                        <a:t>1,920</a:t>
                      </a:r>
                    </a:p>
                  </a:txBody>
                  <a:tcPr>
                    <a:solidFill>
                      <a:srgbClr val="FFFFFF"/>
                    </a:solidFill>
                  </a:tcPr>
                </a:tc>
                <a:tc>
                  <a:txBody>
                    <a:bodyPr/>
                    <a:lstStyle/>
                    <a:p>
                      <a:pPr algn="ctr"/>
                      <a:r>
                        <a:rPr sz="1200" b="0">
                          <a:solidFill>
                            <a:srgbClr val="DB4B0D"/>
                          </a:solidFill>
                          <a:latin typeface="Calibri"/>
                        </a:rPr>
                        <a:t>3,150</a:t>
                      </a:r>
                    </a:p>
                  </a:txBody>
                  <a:tcPr>
                    <a:solidFill>
                      <a:srgbClr val="FFFFFF"/>
                    </a:solidFill>
                  </a:tcPr>
                </a:tc>
              </a:tr>
              <a:tr h="457200">
                <a:tc>
                  <a:txBody>
                    <a:bodyPr/>
                    <a:lstStyle/>
                    <a:p>
                      <a:pPr algn="l"/>
                      <a:r>
                        <a:rPr sz="1200" b="1">
                          <a:solidFill>
                            <a:srgbClr val="111828"/>
                          </a:solidFill>
                          <a:latin typeface="Calibri"/>
                        </a:rPr>
                        <a:t>Commission / job</a:t>
                      </a:r>
                    </a:p>
                  </a:txBody>
                  <a:tcPr>
                    <a:solidFill>
                      <a:srgbClr val="FFFFFF"/>
                    </a:solidFill>
                  </a:tcPr>
                </a:tc>
                <a:tc>
                  <a:txBody>
                    <a:bodyPr/>
                    <a:lstStyle/>
                    <a:p>
                      <a:pPr algn="ctr"/>
                      <a:r>
                        <a:rPr sz="1200" b="0">
                          <a:solidFill>
                            <a:srgbClr val="DB4B0D"/>
                          </a:solidFill>
                          <a:latin typeface="Calibri"/>
                        </a:rPr>
                        <a:t>Rs. 72</a:t>
                      </a:r>
                    </a:p>
                  </a:txBody>
                  <a:tcPr>
                    <a:solidFill>
                      <a:srgbClr val="FCEEE2"/>
                    </a:solidFill>
                  </a:tcPr>
                </a:tc>
                <a:tc>
                  <a:txBody>
                    <a:bodyPr/>
                    <a:lstStyle/>
                    <a:p>
                      <a:pPr algn="ctr"/>
                      <a:r>
                        <a:rPr sz="1200" b="0">
                          <a:solidFill>
                            <a:srgbClr val="DB4B0D"/>
                          </a:solidFill>
                          <a:latin typeface="Calibri"/>
                        </a:rPr>
                        <a:t>Rs. 72</a:t>
                      </a:r>
                    </a:p>
                  </a:txBody>
                  <a:tcPr>
                    <a:solidFill>
                      <a:srgbClr val="FCEEE2"/>
                    </a:solidFill>
                  </a:tcPr>
                </a:tc>
                <a:tc>
                  <a:txBody>
                    <a:bodyPr/>
                    <a:lstStyle/>
                    <a:p>
                      <a:pPr algn="ctr"/>
                      <a:r>
                        <a:rPr sz="1200" b="0">
                          <a:solidFill>
                            <a:srgbClr val="DB4B0D"/>
                          </a:solidFill>
                          <a:latin typeface="Calibri"/>
                        </a:rPr>
                        <a:t>Rs. 72</a:t>
                      </a:r>
                    </a:p>
                  </a:txBody>
                  <a:tcPr>
                    <a:solidFill>
                      <a:srgbClr val="FCEEE2"/>
                    </a:solidFill>
                  </a:tcPr>
                </a:tc>
                <a:tc>
                  <a:txBody>
                    <a:bodyPr/>
                    <a:lstStyle/>
                    <a:p>
                      <a:pPr algn="ctr"/>
                      <a:r>
                        <a:rPr sz="1200" b="0">
                          <a:solidFill>
                            <a:srgbClr val="DB4B0D"/>
                          </a:solidFill>
                          <a:latin typeface="Calibri"/>
                        </a:rPr>
                        <a:t>Rs. 72</a:t>
                      </a:r>
                    </a:p>
                  </a:txBody>
                  <a:tcPr>
                    <a:solidFill>
                      <a:srgbClr val="FCEEE2"/>
                    </a:solidFill>
                  </a:tcPr>
                </a:tc>
              </a:tr>
              <a:tr h="457200">
                <a:tc>
                  <a:txBody>
                    <a:bodyPr/>
                    <a:lstStyle/>
                    <a:p>
                      <a:pPr algn="l"/>
                      <a:r>
                        <a:rPr sz="1200" b="1">
                          <a:solidFill>
                            <a:srgbClr val="111828"/>
                          </a:solidFill>
                          <a:latin typeface="Calibri"/>
                        </a:rPr>
                        <a:t>QRR — revenue (PKR)</a:t>
                      </a:r>
                    </a:p>
                  </a:txBody>
                  <a:tcPr>
                    <a:solidFill>
                      <a:srgbClr val="FFFFFF"/>
                    </a:solidFill>
                  </a:tcPr>
                </a:tc>
                <a:tc>
                  <a:txBody>
                    <a:bodyPr/>
                    <a:lstStyle/>
                    <a:p>
                      <a:pPr algn="ctr"/>
                      <a:r>
                        <a:rPr sz="1200" b="0">
                          <a:solidFill>
                            <a:srgbClr val="DB4B0D"/>
                          </a:solidFill>
                          <a:latin typeface="Calibri"/>
                        </a:rPr>
                        <a:t>~104K</a:t>
                      </a:r>
                    </a:p>
                  </a:txBody>
                  <a:tcPr>
                    <a:solidFill>
                      <a:srgbClr val="FFFFFF"/>
                    </a:solidFill>
                  </a:tcPr>
                </a:tc>
                <a:tc>
                  <a:txBody>
                    <a:bodyPr/>
                    <a:lstStyle/>
                    <a:p>
                      <a:pPr algn="ctr"/>
                      <a:r>
                        <a:rPr sz="1200" b="0">
                          <a:solidFill>
                            <a:srgbClr val="DB4B0D"/>
                          </a:solidFill>
                          <a:latin typeface="Calibri"/>
                        </a:rPr>
                        <a:t>~227K</a:t>
                      </a:r>
                    </a:p>
                  </a:txBody>
                  <a:tcPr>
                    <a:solidFill>
                      <a:srgbClr val="FFFFFF"/>
                    </a:solidFill>
                  </a:tcPr>
                </a:tc>
                <a:tc>
                  <a:txBody>
                    <a:bodyPr/>
                    <a:lstStyle/>
                    <a:p>
                      <a:pPr algn="ctr"/>
                      <a:r>
                        <a:rPr sz="1200" b="0">
                          <a:solidFill>
                            <a:srgbClr val="DB4B0D"/>
                          </a:solidFill>
                          <a:latin typeface="Calibri"/>
                        </a:rPr>
                        <a:t>~415K</a:t>
                      </a:r>
                    </a:p>
                  </a:txBody>
                  <a:tcPr>
                    <a:solidFill>
                      <a:srgbClr val="FFFFFF"/>
                    </a:solidFill>
                  </a:tcPr>
                </a:tc>
                <a:tc>
                  <a:txBody>
                    <a:bodyPr/>
                    <a:lstStyle/>
                    <a:p>
                      <a:pPr algn="ctr"/>
                      <a:r>
                        <a:rPr sz="1200" b="0">
                          <a:solidFill>
                            <a:srgbClr val="DB4B0D"/>
                          </a:solidFill>
                          <a:latin typeface="Calibri"/>
                        </a:rPr>
                        <a:t>~680K</a:t>
                      </a:r>
                    </a:p>
                  </a:txBody>
                  <a:tcPr>
                    <a:solidFill>
                      <a:srgbClr val="FFFFFF"/>
                    </a:solidFill>
                  </a:tcPr>
                </a:tc>
              </a:tr>
              <a:tr h="457200">
                <a:tc>
                  <a:txBody>
                    <a:bodyPr/>
                    <a:lstStyle/>
                    <a:p>
                      <a:pPr algn="l"/>
                      <a:r>
                        <a:rPr sz="1200" b="1">
                          <a:solidFill>
                            <a:srgbClr val="111828"/>
                          </a:solidFill>
                          <a:latin typeface="Calibri"/>
                        </a:rPr>
                        <a:t>Customer CAC (PKR)</a:t>
                      </a:r>
                    </a:p>
                  </a:txBody>
                  <a:tcPr>
                    <a:solidFill>
                      <a:srgbClr val="FFFFFF"/>
                    </a:solidFill>
                  </a:tcPr>
                </a:tc>
                <a:tc>
                  <a:txBody>
                    <a:bodyPr/>
                    <a:lstStyle/>
                    <a:p>
                      <a:pPr algn="ctr"/>
                      <a:r>
                        <a:rPr sz="1200" b="0">
                          <a:solidFill>
                            <a:srgbClr val="DB4B0D"/>
                          </a:solidFill>
                          <a:latin typeface="Calibri"/>
                        </a:rPr>
                        <a:t>500</a:t>
                      </a:r>
                    </a:p>
                  </a:txBody>
                  <a:tcPr>
                    <a:solidFill>
                      <a:srgbClr val="FCEEE2"/>
                    </a:solidFill>
                  </a:tcPr>
                </a:tc>
                <a:tc>
                  <a:txBody>
                    <a:bodyPr/>
                    <a:lstStyle/>
                    <a:p>
                      <a:pPr algn="ctr"/>
                      <a:r>
                        <a:rPr sz="1200" b="0">
                          <a:solidFill>
                            <a:srgbClr val="DB4B0D"/>
                          </a:solidFill>
                          <a:latin typeface="Calibri"/>
                        </a:rPr>
                        <a:t>350</a:t>
                      </a:r>
                    </a:p>
                  </a:txBody>
                  <a:tcPr>
                    <a:solidFill>
                      <a:srgbClr val="FCEEE2"/>
                    </a:solidFill>
                  </a:tcPr>
                </a:tc>
                <a:tc>
                  <a:txBody>
                    <a:bodyPr/>
                    <a:lstStyle/>
                    <a:p>
                      <a:pPr algn="ctr"/>
                      <a:r>
                        <a:rPr sz="1200" b="0">
                          <a:solidFill>
                            <a:srgbClr val="DB4B0D"/>
                          </a:solidFill>
                          <a:latin typeface="Calibri"/>
                        </a:rPr>
                        <a:t>230</a:t>
                      </a:r>
                    </a:p>
                  </a:txBody>
                  <a:tcPr>
                    <a:solidFill>
                      <a:srgbClr val="FCEEE2"/>
                    </a:solidFill>
                  </a:tcPr>
                </a:tc>
                <a:tc>
                  <a:txBody>
                    <a:bodyPr/>
                    <a:lstStyle/>
                    <a:p>
                      <a:pPr algn="ctr"/>
                      <a:r>
                        <a:rPr sz="1200" b="0">
                          <a:solidFill>
                            <a:srgbClr val="DB4B0D"/>
                          </a:solidFill>
                          <a:latin typeface="Calibri"/>
                        </a:rPr>
                        <a:t>150</a:t>
                      </a:r>
                    </a:p>
                  </a:txBody>
                  <a:tcPr>
                    <a:solidFill>
                      <a:srgbClr val="FCEEE2"/>
                    </a:solidFill>
                  </a:tcPr>
                </a:tc>
              </a:tr>
            </a:tbl>
          </a:graphicData>
        </a:graphic>
      </p:graphicFrame>
      <p:sp>
        <p:nvSpPr>
          <p:cNvPr id="9" name="TextBox 8"/>
          <p:cNvSpPr txBox="1"/>
          <p:nvPr/>
        </p:nvSpPr>
        <p:spPr>
          <a:xfrm>
            <a:off x="731520" y="5212080"/>
            <a:ext cx="10698480" cy="1005840"/>
          </a:xfrm>
          <a:prstGeom prst="rect">
            <a:avLst/>
          </a:prstGeom>
          <a:noFill/>
        </p:spPr>
        <p:txBody>
          <a:bodyPr wrap="square" anchor="t">
            <a:spAutoFit/>
          </a:bodyPr>
          <a:lstStyle/>
          <a:p>
            <a:pPr algn="l">
              <a:lnSpc>
                <a:spcPct val="110000"/>
              </a:lnSpc>
              <a:spcAft>
                <a:spcPts val="400"/>
              </a:spcAft>
            </a:pPr>
            <a:r>
              <a:rPr sz="1150" b="1">
                <a:solidFill>
                  <a:srgbClr val="DB4B0D"/>
                </a:solidFill>
                <a:latin typeface="Calibri"/>
              </a:rPr>
              <a:t>LTV ≈ Rs. 1,300 </a:t>
            </a:r>
            <a:r>
              <a:rPr sz="1150" b="0">
                <a:solidFill>
                  <a:srgbClr val="3A3F4A"/>
                </a:solidFill>
                <a:latin typeface="Calibri"/>
              </a:rPr>
              <a:t>(≈ 6 jobs/yr × Rs. 72 × ~3-yr retention).    </a:t>
            </a:r>
            <a:r>
              <a:rPr sz="1150" b="1">
                <a:solidFill>
                  <a:srgbClr val="111828"/>
                </a:solidFill>
                <a:latin typeface="Calibri"/>
              </a:rPr>
              <a:t>Customer CAC: Rs. 500 → Rs. 150 </a:t>
            </a:r>
            <a:r>
              <a:rPr sz="1150" b="0">
                <a:solidFill>
                  <a:srgbClr val="3A3F4A"/>
                </a:solidFill>
                <a:latin typeface="Calibri"/>
              </a:rPr>
              <a:t>as referral loops compound.</a:t>
            </a:r>
          </a:p>
          <a:p>
            <a:pPr algn="l">
              <a:lnSpc>
                <a:spcPct val="110000"/>
              </a:lnSpc>
              <a:spcAft>
                <a:spcPts val="400"/>
              </a:spcAft>
            </a:pPr>
            <a:r>
              <a:rPr sz="1050" b="1">
                <a:solidFill>
                  <a:srgbClr val="6B707A"/>
                </a:solidFill>
                <a:latin typeface="Calibri"/>
              </a:rPr>
              <a:t>Provider acquisition (field agent + signups) is budgeted separately. Year-1 revenue ≈ Rs. 1.4M (illustrative bottom-up) — validated in pilot, refined with NIC.</a:t>
            </a:r>
          </a:p>
        </p:txBody>
      </p:sp>
      <p:sp>
        <p:nvSpPr>
          <p:cNvPr id="10" name="TextBox 9"/>
          <p:cNvSpPr txBox="1"/>
          <p:nvPr/>
        </p:nvSpPr>
        <p:spPr>
          <a:xfrm>
            <a:off x="457200" y="6446520"/>
            <a:ext cx="7315200" cy="320040"/>
          </a:xfrm>
          <a:prstGeom prst="rect">
            <a:avLst/>
          </a:prstGeom>
          <a:noFill/>
        </p:spPr>
        <p:txBody>
          <a:bodyPr wrap="square" anchor="t">
            <a:spAutoFit/>
          </a:bodyPr>
          <a:lstStyle/>
          <a:p>
            <a:pPr algn="l">
              <a:lnSpc>
                <a:spcPct val="105000"/>
              </a:lnSpc>
              <a:spcAft>
                <a:spcPts val="600"/>
              </a:spcAft>
            </a:pPr>
            <a:r>
              <a:rPr sz="900" b="1">
                <a:solidFill>
                  <a:srgbClr val="DB4B0D"/>
                </a:solidFill>
                <a:latin typeface="Calibri"/>
              </a:rPr>
              <a:t>USTAZ</a:t>
            </a:r>
            <a:r>
              <a:rPr sz="900" b="0">
                <a:solidFill>
                  <a:srgbClr val="6B707A"/>
                </a:solidFill>
                <a:latin typeface="Calibri"/>
              </a:rPr>
              <a:t>   ustaz-bice.vercel.app</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lnSpc>
                <a:spcPct val="105000"/>
              </a:lnSpc>
              <a:spcAft>
                <a:spcPts val="600"/>
              </a:spcAft>
            </a:pPr>
            <a:r>
              <a:rPr sz="900" b="1">
                <a:solidFill>
                  <a:srgbClr val="6B707A"/>
                </a:solidFill>
                <a:latin typeface="Calibri"/>
              </a:rPr>
              <a:t>16</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57200" y="640080"/>
            <a:ext cx="109728" cy="1051560"/>
          </a:xfrm>
          <a:prstGeom prst="rect">
            <a:avLst/>
          </a:prstGeom>
          <a:solidFill>
            <a:srgbClr val="DB4B0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11155680" y="-548640"/>
            <a:ext cx="1645920" cy="1645920"/>
          </a:xfrm>
          <a:prstGeom prst="ellipse">
            <a:avLst/>
          </a:prstGeom>
          <a:solidFill>
            <a:srgbClr val="FCEE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566928"/>
            <a:ext cx="9144000" cy="365760"/>
          </a:xfrm>
          <a:prstGeom prst="rect">
            <a:avLst/>
          </a:prstGeom>
          <a:noFill/>
        </p:spPr>
        <p:txBody>
          <a:bodyPr wrap="square" anchor="t">
            <a:spAutoFit/>
          </a:bodyPr>
          <a:lstStyle/>
          <a:p>
            <a:pPr algn="l">
              <a:lnSpc>
                <a:spcPct val="105000"/>
              </a:lnSpc>
              <a:spcAft>
                <a:spcPts val="600"/>
              </a:spcAft>
            </a:pPr>
            <a:r>
              <a:rPr sz="1200" b="1">
                <a:solidFill>
                  <a:srgbClr val="DB4B0D"/>
                </a:solidFill>
                <a:latin typeface="Calibri"/>
              </a:rPr>
              <a:t>16. FOUNDERS &amp; CORE TEAM</a:t>
            </a:r>
          </a:p>
        </p:txBody>
      </p:sp>
      <p:sp>
        <p:nvSpPr>
          <p:cNvPr id="6" name="TextBox 5"/>
          <p:cNvSpPr txBox="1"/>
          <p:nvPr/>
        </p:nvSpPr>
        <p:spPr>
          <a:xfrm>
            <a:off x="713232" y="914400"/>
            <a:ext cx="10515600" cy="822960"/>
          </a:xfrm>
          <a:prstGeom prst="rect">
            <a:avLst/>
          </a:prstGeom>
          <a:noFill/>
        </p:spPr>
        <p:txBody>
          <a:bodyPr wrap="square" anchor="t">
            <a:spAutoFit/>
          </a:bodyPr>
          <a:lstStyle/>
          <a:p>
            <a:pPr algn="l">
              <a:lnSpc>
                <a:spcPct val="105000"/>
              </a:lnSpc>
              <a:spcAft>
                <a:spcPts val="600"/>
              </a:spcAft>
            </a:pPr>
            <a:r>
              <a:rPr sz="3000" b="1">
                <a:solidFill>
                  <a:srgbClr val="111828"/>
                </a:solidFill>
                <a:latin typeface="Calibri"/>
              </a:rPr>
              <a:t>Already built. Ready to scale.</a:t>
            </a:r>
          </a:p>
        </p:txBody>
      </p:sp>
      <p:sp>
        <p:nvSpPr>
          <p:cNvPr id="7" name="TextBox 6"/>
          <p:cNvSpPr txBox="1"/>
          <p:nvPr/>
        </p:nvSpPr>
        <p:spPr>
          <a:xfrm>
            <a:off x="731520" y="1737360"/>
            <a:ext cx="10515600" cy="457200"/>
          </a:xfrm>
          <a:prstGeom prst="rect">
            <a:avLst/>
          </a:prstGeom>
          <a:noFill/>
        </p:spPr>
        <p:txBody>
          <a:bodyPr wrap="square" anchor="t">
            <a:spAutoFit/>
          </a:bodyPr>
          <a:lstStyle/>
          <a:p>
            <a:pPr algn="l">
              <a:lnSpc>
                <a:spcPct val="105000"/>
              </a:lnSpc>
              <a:spcAft>
                <a:spcPts val="600"/>
              </a:spcAft>
            </a:pPr>
            <a:r>
              <a:rPr sz="1500" b="1">
                <a:solidFill>
                  <a:srgbClr val="DB4B0D"/>
                </a:solidFill>
                <a:latin typeface="Calibri"/>
              </a:rPr>
              <a:t>A technical founder, backed by product, finance, growth &amp; design.</a:t>
            </a:r>
          </a:p>
        </p:txBody>
      </p:sp>
      <p:sp>
        <p:nvSpPr>
          <p:cNvPr id="8" name="Rectangle 7"/>
          <p:cNvSpPr/>
          <p:nvPr/>
        </p:nvSpPr>
        <p:spPr>
          <a:xfrm>
            <a:off x="731520" y="2148840"/>
            <a:ext cx="3474720" cy="3383280"/>
          </a:xfrm>
          <a:prstGeom prst="rect">
            <a:avLst/>
          </a:prstGeom>
          <a:solidFill>
            <a:srgbClr val="1118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31520" y="2148840"/>
            <a:ext cx="3474720" cy="109728"/>
          </a:xfrm>
          <a:prstGeom prst="rect">
            <a:avLst/>
          </a:prstGeom>
          <a:solidFill>
            <a:srgbClr val="DB4B0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2103120" y="2423160"/>
            <a:ext cx="731520" cy="731520"/>
          </a:xfrm>
          <a:prstGeom prst="ellipse">
            <a:avLst/>
          </a:prstGeom>
          <a:solidFill>
            <a:srgbClr val="DB4B0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103120" y="2450592"/>
            <a:ext cx="731520" cy="658368"/>
          </a:xfrm>
          <a:prstGeom prst="rect">
            <a:avLst/>
          </a:prstGeom>
          <a:noFill/>
        </p:spPr>
        <p:txBody>
          <a:bodyPr wrap="square" anchor="ctr">
            <a:spAutoFit/>
          </a:bodyPr>
          <a:lstStyle/>
          <a:p>
            <a:pPr algn="ctr">
              <a:lnSpc>
                <a:spcPct val="105000"/>
              </a:lnSpc>
              <a:spcAft>
                <a:spcPts val="600"/>
              </a:spcAft>
            </a:pPr>
            <a:r>
              <a:rPr sz="1500" b="1">
                <a:solidFill>
                  <a:srgbClr val="FFFFFF"/>
                </a:solidFill>
                <a:latin typeface="Calibri"/>
              </a:rPr>
              <a:t>MAR</a:t>
            </a:r>
          </a:p>
        </p:txBody>
      </p:sp>
      <p:sp>
        <p:nvSpPr>
          <p:cNvPr id="12" name="TextBox 11"/>
          <p:cNvSpPr txBox="1"/>
          <p:nvPr/>
        </p:nvSpPr>
        <p:spPr>
          <a:xfrm>
            <a:off x="960120" y="3291840"/>
            <a:ext cx="3063240" cy="2194560"/>
          </a:xfrm>
          <a:prstGeom prst="rect">
            <a:avLst/>
          </a:prstGeom>
          <a:noFill/>
        </p:spPr>
        <p:txBody>
          <a:bodyPr wrap="square" anchor="t">
            <a:spAutoFit/>
          </a:bodyPr>
          <a:lstStyle/>
          <a:p>
            <a:pPr algn="l">
              <a:lnSpc>
                <a:spcPct val="106000"/>
              </a:lnSpc>
              <a:spcAft>
                <a:spcPts val="400"/>
              </a:spcAft>
            </a:pPr>
            <a:r>
              <a:rPr sz="1450" b="1">
                <a:solidFill>
                  <a:srgbClr val="FFFFFF"/>
                </a:solidFill>
                <a:latin typeface="Calibri"/>
              </a:rPr>
              <a:t>Marjan Ahmed</a:t>
            </a:r>
          </a:p>
          <a:p>
            <a:pPr algn="l">
              <a:lnSpc>
                <a:spcPct val="106000"/>
              </a:lnSpc>
              <a:spcAft>
                <a:spcPts val="400"/>
              </a:spcAft>
            </a:pPr>
            <a:r>
              <a:rPr sz="1100" b="1">
                <a:solidFill>
                  <a:srgbClr val="DB4B0D"/>
                </a:solidFill>
                <a:latin typeface="Calibri"/>
              </a:rPr>
              <a:t>Founder &amp; CEO</a:t>
            </a:r>
          </a:p>
          <a:p>
            <a:pPr algn="l">
              <a:lnSpc>
                <a:spcPct val="106000"/>
              </a:lnSpc>
              <a:spcAft>
                <a:spcPts val="400"/>
              </a:spcAft>
            </a:pPr>
            <a:r>
              <a:rPr sz="950" b="1">
                <a:solidFill>
                  <a:srgbClr val="CFD3DA"/>
                </a:solidFill>
                <a:latin typeface="Calibri"/>
              </a:rPr>
              <a:t>The Hacker / CTO — NIC archetype</a:t>
            </a:r>
          </a:p>
          <a:p>
            <a:pPr algn="l">
              <a:lnSpc>
                <a:spcPct val="106000"/>
              </a:lnSpc>
              <a:spcAft>
                <a:spcPts val="400"/>
              </a:spcAft>
            </a:pPr>
            <a:r>
              <a:rPr sz="1050" b="0">
                <a:solidFill>
                  <a:srgbClr val="CFD3DA"/>
                </a:solidFill>
                <a:latin typeface="Calibri"/>
              </a:rPr>
              <a:t>Full-stack engineer — built all of USTAZ solo at 17. GIAIC Senior · Agentic-AI engineer at Filion Capital · AI-finance hackathon winner.</a:t>
            </a:r>
          </a:p>
        </p:txBody>
      </p:sp>
      <p:sp>
        <p:nvSpPr>
          <p:cNvPr id="13" name="Rectangle 12"/>
          <p:cNvSpPr/>
          <p:nvPr/>
        </p:nvSpPr>
        <p:spPr>
          <a:xfrm>
            <a:off x="4389120" y="2148840"/>
            <a:ext cx="3474720" cy="3383280"/>
          </a:xfrm>
          <a:prstGeom prst="rect">
            <a:avLst/>
          </a:prstGeom>
          <a:solidFill>
            <a:srgbClr val="1118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4389120" y="2148840"/>
            <a:ext cx="3474720" cy="109728"/>
          </a:xfrm>
          <a:prstGeom prst="rect">
            <a:avLst/>
          </a:prstGeom>
          <a:solidFill>
            <a:srgbClr val="DB4B0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5760720" y="2423160"/>
            <a:ext cx="731520" cy="731520"/>
          </a:xfrm>
          <a:prstGeom prst="ellipse">
            <a:avLst/>
          </a:prstGeom>
          <a:solidFill>
            <a:srgbClr val="DB4B0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760720" y="2450592"/>
            <a:ext cx="731520" cy="658368"/>
          </a:xfrm>
          <a:prstGeom prst="rect">
            <a:avLst/>
          </a:prstGeom>
          <a:noFill/>
        </p:spPr>
        <p:txBody>
          <a:bodyPr wrap="square" anchor="ctr">
            <a:spAutoFit/>
          </a:bodyPr>
          <a:lstStyle/>
          <a:p>
            <a:pPr algn="ctr">
              <a:lnSpc>
                <a:spcPct val="105000"/>
              </a:lnSpc>
              <a:spcAft>
                <a:spcPts val="600"/>
              </a:spcAft>
            </a:pPr>
            <a:r>
              <a:rPr sz="1500" b="1">
                <a:solidFill>
                  <a:srgbClr val="FFFFFF"/>
                </a:solidFill>
                <a:latin typeface="Calibri"/>
              </a:rPr>
              <a:t>MAS</a:t>
            </a:r>
          </a:p>
        </p:txBody>
      </p:sp>
      <p:sp>
        <p:nvSpPr>
          <p:cNvPr id="17" name="TextBox 16"/>
          <p:cNvSpPr txBox="1"/>
          <p:nvPr/>
        </p:nvSpPr>
        <p:spPr>
          <a:xfrm>
            <a:off x="4617720" y="3291840"/>
            <a:ext cx="3063240" cy="2194560"/>
          </a:xfrm>
          <a:prstGeom prst="rect">
            <a:avLst/>
          </a:prstGeom>
          <a:noFill/>
        </p:spPr>
        <p:txBody>
          <a:bodyPr wrap="square" anchor="t">
            <a:spAutoFit/>
          </a:bodyPr>
          <a:lstStyle/>
          <a:p>
            <a:pPr algn="l">
              <a:lnSpc>
                <a:spcPct val="106000"/>
              </a:lnSpc>
              <a:spcAft>
                <a:spcPts val="400"/>
              </a:spcAft>
            </a:pPr>
            <a:r>
              <a:rPr sz="1450" b="1">
                <a:solidFill>
                  <a:srgbClr val="FFFFFF"/>
                </a:solidFill>
                <a:latin typeface="Calibri"/>
              </a:rPr>
              <a:t>Masood Alam</a:t>
            </a:r>
          </a:p>
          <a:p>
            <a:pPr algn="l">
              <a:lnSpc>
                <a:spcPct val="106000"/>
              </a:lnSpc>
              <a:spcAft>
                <a:spcPts val="400"/>
              </a:spcAft>
            </a:pPr>
            <a:r>
              <a:rPr sz="1100" b="1">
                <a:solidFill>
                  <a:srgbClr val="DB4B0D"/>
                </a:solidFill>
                <a:latin typeface="Calibri"/>
              </a:rPr>
              <a:t>Product Director &amp; Financial Consultant</a:t>
            </a:r>
          </a:p>
          <a:p>
            <a:pPr algn="l">
              <a:lnSpc>
                <a:spcPct val="106000"/>
              </a:lnSpc>
              <a:spcAft>
                <a:spcPts val="400"/>
              </a:spcAft>
            </a:pPr>
            <a:r>
              <a:rPr sz="950" b="1">
                <a:solidFill>
                  <a:srgbClr val="CFD3DA"/>
                </a:solidFill>
                <a:latin typeface="Calibri"/>
              </a:rPr>
              <a:t>The Hustler — NIC archetype</a:t>
            </a:r>
          </a:p>
          <a:p>
            <a:pPr algn="l">
              <a:lnSpc>
                <a:spcPct val="106000"/>
              </a:lnSpc>
              <a:spcAft>
                <a:spcPts val="400"/>
              </a:spcAft>
            </a:pPr>
            <a:r>
              <a:rPr sz="1050" b="0">
                <a:solidFill>
                  <a:srgbClr val="CFD3DA"/>
                </a:solidFill>
                <a:latin typeface="Calibri"/>
              </a:rPr>
              <a:t>Steers product direction and the commission / wallet financial model &amp; unit economics.</a:t>
            </a:r>
          </a:p>
        </p:txBody>
      </p:sp>
      <p:sp>
        <p:nvSpPr>
          <p:cNvPr id="18" name="Rectangle 17"/>
          <p:cNvSpPr/>
          <p:nvPr/>
        </p:nvSpPr>
        <p:spPr>
          <a:xfrm>
            <a:off x="8046720" y="2148840"/>
            <a:ext cx="3474720" cy="3383280"/>
          </a:xfrm>
          <a:prstGeom prst="rect">
            <a:avLst/>
          </a:prstGeom>
          <a:solidFill>
            <a:srgbClr val="1118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8046720" y="2148840"/>
            <a:ext cx="3474720" cy="109728"/>
          </a:xfrm>
          <a:prstGeom prst="rect">
            <a:avLst/>
          </a:prstGeom>
          <a:solidFill>
            <a:srgbClr val="DB4B0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9418320" y="2423160"/>
            <a:ext cx="731520" cy="731520"/>
          </a:xfrm>
          <a:prstGeom prst="ellipse">
            <a:avLst/>
          </a:prstGeom>
          <a:solidFill>
            <a:srgbClr val="DB4B0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9418320" y="2450592"/>
            <a:ext cx="731520" cy="658368"/>
          </a:xfrm>
          <a:prstGeom prst="rect">
            <a:avLst/>
          </a:prstGeom>
          <a:noFill/>
        </p:spPr>
        <p:txBody>
          <a:bodyPr wrap="square" anchor="ctr">
            <a:spAutoFit/>
          </a:bodyPr>
          <a:lstStyle/>
          <a:p>
            <a:pPr algn="ctr">
              <a:lnSpc>
                <a:spcPct val="105000"/>
              </a:lnSpc>
              <a:spcAft>
                <a:spcPts val="600"/>
              </a:spcAft>
            </a:pPr>
            <a:r>
              <a:rPr sz="1500" b="1">
                <a:solidFill>
                  <a:srgbClr val="FFFFFF"/>
                </a:solidFill>
                <a:latin typeface="Calibri"/>
              </a:rPr>
              <a:t>MSA</a:t>
            </a:r>
          </a:p>
        </p:txBody>
      </p:sp>
      <p:sp>
        <p:nvSpPr>
          <p:cNvPr id="22" name="TextBox 21"/>
          <p:cNvSpPr txBox="1"/>
          <p:nvPr/>
        </p:nvSpPr>
        <p:spPr>
          <a:xfrm>
            <a:off x="8275320" y="3291840"/>
            <a:ext cx="3063240" cy="2194560"/>
          </a:xfrm>
          <a:prstGeom prst="rect">
            <a:avLst/>
          </a:prstGeom>
          <a:noFill/>
        </p:spPr>
        <p:txBody>
          <a:bodyPr wrap="square" anchor="t">
            <a:spAutoFit/>
          </a:bodyPr>
          <a:lstStyle/>
          <a:p>
            <a:pPr algn="l">
              <a:lnSpc>
                <a:spcPct val="106000"/>
              </a:lnSpc>
              <a:spcAft>
                <a:spcPts val="400"/>
              </a:spcAft>
            </a:pPr>
            <a:r>
              <a:rPr sz="1450" b="1">
                <a:solidFill>
                  <a:srgbClr val="FFFFFF"/>
                </a:solidFill>
                <a:latin typeface="Calibri"/>
              </a:rPr>
              <a:t>Muhammad Sufyan Ahmed</a:t>
            </a:r>
          </a:p>
          <a:p>
            <a:pPr algn="l">
              <a:lnSpc>
                <a:spcPct val="106000"/>
              </a:lnSpc>
              <a:spcAft>
                <a:spcPts val="400"/>
              </a:spcAft>
            </a:pPr>
            <a:r>
              <a:rPr sz="1100" b="1">
                <a:solidFill>
                  <a:srgbClr val="DB4B0D"/>
                </a:solidFill>
                <a:latin typeface="Calibri"/>
              </a:rPr>
              <a:t>CMO &amp; Designer</a:t>
            </a:r>
          </a:p>
          <a:p>
            <a:pPr algn="l">
              <a:lnSpc>
                <a:spcPct val="106000"/>
              </a:lnSpc>
              <a:spcAft>
                <a:spcPts val="400"/>
              </a:spcAft>
            </a:pPr>
            <a:r>
              <a:rPr sz="950" b="1">
                <a:solidFill>
                  <a:srgbClr val="CFD3DA"/>
                </a:solidFill>
                <a:latin typeface="Calibri"/>
              </a:rPr>
              <a:t>Growth &amp; Brand — NIC archetype</a:t>
            </a:r>
          </a:p>
          <a:p>
            <a:pPr algn="l">
              <a:lnSpc>
                <a:spcPct val="106000"/>
              </a:lnSpc>
              <a:spcAft>
                <a:spcPts val="400"/>
              </a:spcAft>
            </a:pPr>
            <a:r>
              <a:rPr sz="1050" b="0">
                <a:solidFill>
                  <a:srgbClr val="CFD3DA"/>
                </a:solidFill>
                <a:latin typeface="Calibri"/>
              </a:rPr>
              <a:t>Owns brand, growth marketing and the product design system &amp; UX.</a:t>
            </a:r>
          </a:p>
        </p:txBody>
      </p:sp>
      <p:sp>
        <p:nvSpPr>
          <p:cNvPr id="23" name="TextBox 22"/>
          <p:cNvSpPr txBox="1"/>
          <p:nvPr/>
        </p:nvSpPr>
        <p:spPr>
          <a:xfrm>
            <a:off x="731520" y="5669280"/>
            <a:ext cx="10698480" cy="566928"/>
          </a:xfrm>
          <a:prstGeom prst="rect">
            <a:avLst/>
          </a:prstGeom>
          <a:noFill/>
        </p:spPr>
        <p:txBody>
          <a:bodyPr wrap="square" anchor="t">
            <a:spAutoFit/>
          </a:bodyPr>
          <a:lstStyle/>
          <a:p>
            <a:pPr algn="l">
              <a:lnSpc>
                <a:spcPct val="104000"/>
              </a:lnSpc>
              <a:spcAft>
                <a:spcPts val="600"/>
              </a:spcAft>
            </a:pPr>
            <a:r>
              <a:rPr sz="1200" b="1">
                <a:solidFill>
                  <a:srgbClr val="DB4B0D"/>
                </a:solidFill>
                <a:latin typeface="Calibri"/>
              </a:rPr>
              <a:t>Staying lean: </a:t>
            </a:r>
            <a:r>
              <a:rPr sz="1050" b="0">
                <a:solidFill>
                  <a:srgbClr val="3A3F4A"/>
                </a:solidFill>
                <a:latin typeface="Calibri"/>
              </a:rPr>
              <a:t>we batch-verify through trade associations &amp; guild leaders (20–30 tradesmen at a time) as proxy aggregators — so 3 founders scale supply without drowning in manual checks. Post-incubation: recruit a COO for city ops (NIC helps).</a:t>
            </a:r>
          </a:p>
        </p:txBody>
      </p:sp>
      <p:sp>
        <p:nvSpPr>
          <p:cNvPr id="24" name="TextBox 23"/>
          <p:cNvSpPr txBox="1"/>
          <p:nvPr/>
        </p:nvSpPr>
        <p:spPr>
          <a:xfrm>
            <a:off x="457200" y="6446520"/>
            <a:ext cx="7315200" cy="320040"/>
          </a:xfrm>
          <a:prstGeom prst="rect">
            <a:avLst/>
          </a:prstGeom>
          <a:noFill/>
        </p:spPr>
        <p:txBody>
          <a:bodyPr wrap="square" anchor="t">
            <a:spAutoFit/>
          </a:bodyPr>
          <a:lstStyle/>
          <a:p>
            <a:pPr algn="l">
              <a:lnSpc>
                <a:spcPct val="105000"/>
              </a:lnSpc>
              <a:spcAft>
                <a:spcPts val="600"/>
              </a:spcAft>
            </a:pPr>
            <a:r>
              <a:rPr sz="900" b="1">
                <a:solidFill>
                  <a:srgbClr val="DB4B0D"/>
                </a:solidFill>
                <a:latin typeface="Calibri"/>
              </a:rPr>
              <a:t>USTAZ</a:t>
            </a:r>
            <a:r>
              <a:rPr sz="900" b="0">
                <a:solidFill>
                  <a:srgbClr val="6B707A"/>
                </a:solidFill>
                <a:latin typeface="Calibri"/>
              </a:rPr>
              <a:t>   ustaz-bice.vercel.app</a:t>
            </a:r>
          </a:p>
        </p:txBody>
      </p:sp>
      <p:sp>
        <p:nvSpPr>
          <p:cNvPr id="25" name="TextBox 24"/>
          <p:cNvSpPr txBox="1"/>
          <p:nvPr/>
        </p:nvSpPr>
        <p:spPr>
          <a:xfrm>
            <a:off x="11338560" y="6446520"/>
            <a:ext cx="548640" cy="320040"/>
          </a:xfrm>
          <a:prstGeom prst="rect">
            <a:avLst/>
          </a:prstGeom>
          <a:noFill/>
        </p:spPr>
        <p:txBody>
          <a:bodyPr wrap="square" anchor="t">
            <a:spAutoFit/>
          </a:bodyPr>
          <a:lstStyle/>
          <a:p>
            <a:pPr algn="r">
              <a:lnSpc>
                <a:spcPct val="105000"/>
              </a:lnSpc>
              <a:spcAft>
                <a:spcPts val="600"/>
              </a:spcAft>
            </a:pPr>
            <a:r>
              <a:rPr sz="900" b="1">
                <a:solidFill>
                  <a:srgbClr val="6B707A"/>
                </a:solidFill>
                <a:latin typeface="Calibri"/>
              </a:rPr>
              <a:t>17</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4206240" cy="6858000"/>
          </a:xfrm>
          <a:prstGeom prst="rect">
            <a:avLst/>
          </a:prstGeom>
          <a:solidFill>
            <a:srgbClr val="1118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914400" y="4937760"/>
            <a:ext cx="2377440" cy="2377440"/>
          </a:xfrm>
          <a:prstGeom prst="ellipse">
            <a:avLst/>
          </a:prstGeom>
          <a:solidFill>
            <a:srgbClr val="DB4B0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2468880"/>
            <a:ext cx="3291840" cy="1280160"/>
          </a:xfrm>
          <a:prstGeom prst="rect">
            <a:avLst/>
          </a:prstGeom>
          <a:noFill/>
        </p:spPr>
        <p:txBody>
          <a:bodyPr wrap="square" anchor="t">
            <a:spAutoFit/>
          </a:bodyPr>
          <a:lstStyle/>
          <a:p>
            <a:pPr algn="l">
              <a:lnSpc>
                <a:spcPct val="105000"/>
              </a:lnSpc>
              <a:spcAft>
                <a:spcPts val="800"/>
              </a:spcAft>
            </a:pPr>
            <a:r>
              <a:rPr sz="4400" b="1">
                <a:solidFill>
                  <a:srgbClr val="FFFFFF"/>
                </a:solidFill>
                <a:latin typeface="Calibri"/>
              </a:rPr>
              <a:t>USTAZ</a:t>
            </a:r>
          </a:p>
          <a:p>
            <a:pPr algn="l">
              <a:lnSpc>
                <a:spcPct val="105000"/>
              </a:lnSpc>
              <a:spcAft>
                <a:spcPts val="800"/>
              </a:spcAft>
            </a:pPr>
            <a:r>
              <a:rPr sz="1400" b="1">
                <a:solidFill>
                  <a:srgbClr val="DB4B0D"/>
                </a:solidFill>
                <a:latin typeface="Calibri"/>
              </a:rPr>
              <a:t>Trusted pros, on demand.</a:t>
            </a:r>
          </a:p>
        </p:txBody>
      </p:sp>
      <p:sp>
        <p:nvSpPr>
          <p:cNvPr id="6" name="TextBox 5"/>
          <p:cNvSpPr txBox="1"/>
          <p:nvPr/>
        </p:nvSpPr>
        <p:spPr>
          <a:xfrm>
            <a:off x="4754880" y="1280160"/>
            <a:ext cx="6858000" cy="731520"/>
          </a:xfrm>
          <a:prstGeom prst="rect">
            <a:avLst/>
          </a:prstGeom>
          <a:noFill/>
        </p:spPr>
        <p:txBody>
          <a:bodyPr wrap="square" anchor="t">
            <a:spAutoFit/>
          </a:bodyPr>
          <a:lstStyle/>
          <a:p>
            <a:pPr algn="l">
              <a:lnSpc>
                <a:spcPct val="105000"/>
              </a:lnSpc>
              <a:spcAft>
                <a:spcPts val="600"/>
              </a:spcAft>
            </a:pPr>
            <a:r>
              <a:rPr sz="4000" b="1">
                <a:solidFill>
                  <a:srgbClr val="111828"/>
                </a:solidFill>
                <a:latin typeface="Calibri"/>
              </a:rPr>
              <a:t>Thank you</a:t>
            </a:r>
          </a:p>
        </p:txBody>
      </p:sp>
      <p:sp>
        <p:nvSpPr>
          <p:cNvPr id="7" name="TextBox 6"/>
          <p:cNvSpPr txBox="1"/>
          <p:nvPr/>
        </p:nvSpPr>
        <p:spPr>
          <a:xfrm>
            <a:off x="4754880" y="2286000"/>
            <a:ext cx="6858000" cy="457200"/>
          </a:xfrm>
          <a:prstGeom prst="rect">
            <a:avLst/>
          </a:prstGeom>
          <a:noFill/>
        </p:spPr>
        <p:txBody>
          <a:bodyPr wrap="square" anchor="t">
            <a:spAutoFit/>
          </a:bodyPr>
          <a:lstStyle/>
          <a:p>
            <a:pPr algn="l">
              <a:lnSpc>
                <a:spcPct val="105000"/>
              </a:lnSpc>
              <a:spcAft>
                <a:spcPts val="600"/>
              </a:spcAft>
            </a:pPr>
            <a:r>
              <a:rPr sz="1300" b="1">
                <a:solidFill>
                  <a:srgbClr val="DB4B0D"/>
                </a:solidFill>
                <a:latin typeface="Calibri"/>
              </a:rPr>
              <a:t>CONTACT</a:t>
            </a:r>
          </a:p>
        </p:txBody>
      </p:sp>
      <p:sp>
        <p:nvSpPr>
          <p:cNvPr id="8" name="Rectangle 7"/>
          <p:cNvSpPr/>
          <p:nvPr/>
        </p:nvSpPr>
        <p:spPr>
          <a:xfrm>
            <a:off x="4754880" y="2944368"/>
            <a:ext cx="109728" cy="365760"/>
          </a:xfrm>
          <a:prstGeom prst="rect">
            <a:avLst/>
          </a:prstGeom>
          <a:solidFill>
            <a:srgbClr val="DB4B0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983480" y="2880360"/>
            <a:ext cx="1828800" cy="457200"/>
          </a:xfrm>
          <a:prstGeom prst="rect">
            <a:avLst/>
          </a:prstGeom>
          <a:noFill/>
        </p:spPr>
        <p:txBody>
          <a:bodyPr wrap="square" anchor="ctr">
            <a:spAutoFit/>
          </a:bodyPr>
          <a:lstStyle/>
          <a:p>
            <a:pPr algn="l">
              <a:lnSpc>
                <a:spcPct val="105000"/>
              </a:lnSpc>
              <a:spcAft>
                <a:spcPts val="600"/>
              </a:spcAft>
            </a:pPr>
            <a:r>
              <a:rPr sz="1300" b="1">
                <a:solidFill>
                  <a:srgbClr val="111828"/>
                </a:solidFill>
                <a:latin typeface="Calibri"/>
              </a:rPr>
              <a:t>Website</a:t>
            </a:r>
          </a:p>
        </p:txBody>
      </p:sp>
      <p:sp>
        <p:nvSpPr>
          <p:cNvPr id="10" name="TextBox 9"/>
          <p:cNvSpPr txBox="1"/>
          <p:nvPr/>
        </p:nvSpPr>
        <p:spPr>
          <a:xfrm>
            <a:off x="6766560" y="2880360"/>
            <a:ext cx="4754880" cy="457200"/>
          </a:xfrm>
          <a:prstGeom prst="rect">
            <a:avLst/>
          </a:prstGeom>
          <a:noFill/>
        </p:spPr>
        <p:txBody>
          <a:bodyPr wrap="square" anchor="ctr">
            <a:spAutoFit/>
          </a:bodyPr>
          <a:lstStyle/>
          <a:p>
            <a:pPr algn="l">
              <a:lnSpc>
                <a:spcPct val="105000"/>
              </a:lnSpc>
              <a:spcAft>
                <a:spcPts val="600"/>
              </a:spcAft>
            </a:pPr>
            <a:r>
              <a:rPr sz="1300" b="0">
                <a:solidFill>
                  <a:srgbClr val="3A3F4A"/>
                </a:solidFill>
                <a:latin typeface="Calibri"/>
              </a:rPr>
              <a:t>ustaz-bice.vercel.app</a:t>
            </a:r>
          </a:p>
        </p:txBody>
      </p:sp>
      <p:sp>
        <p:nvSpPr>
          <p:cNvPr id="11" name="Rectangle 10"/>
          <p:cNvSpPr/>
          <p:nvPr/>
        </p:nvSpPr>
        <p:spPr>
          <a:xfrm>
            <a:off x="4754880" y="3511296"/>
            <a:ext cx="109728" cy="365760"/>
          </a:xfrm>
          <a:prstGeom prst="rect">
            <a:avLst/>
          </a:prstGeom>
          <a:solidFill>
            <a:srgbClr val="DB4B0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983480" y="3447288"/>
            <a:ext cx="1828800" cy="457200"/>
          </a:xfrm>
          <a:prstGeom prst="rect">
            <a:avLst/>
          </a:prstGeom>
          <a:noFill/>
        </p:spPr>
        <p:txBody>
          <a:bodyPr wrap="square" anchor="ctr">
            <a:spAutoFit/>
          </a:bodyPr>
          <a:lstStyle/>
          <a:p>
            <a:pPr algn="l">
              <a:lnSpc>
                <a:spcPct val="105000"/>
              </a:lnSpc>
              <a:spcAft>
                <a:spcPts val="600"/>
              </a:spcAft>
            </a:pPr>
            <a:r>
              <a:rPr sz="1300" b="1">
                <a:solidFill>
                  <a:srgbClr val="111828"/>
                </a:solidFill>
                <a:latin typeface="Calibri"/>
              </a:rPr>
              <a:t>Email</a:t>
            </a:r>
          </a:p>
        </p:txBody>
      </p:sp>
      <p:sp>
        <p:nvSpPr>
          <p:cNvPr id="13" name="TextBox 12"/>
          <p:cNvSpPr txBox="1"/>
          <p:nvPr/>
        </p:nvSpPr>
        <p:spPr>
          <a:xfrm>
            <a:off x="6766560" y="3447288"/>
            <a:ext cx="4754880" cy="457200"/>
          </a:xfrm>
          <a:prstGeom prst="rect">
            <a:avLst/>
          </a:prstGeom>
          <a:noFill/>
        </p:spPr>
        <p:txBody>
          <a:bodyPr wrap="square" anchor="ctr">
            <a:spAutoFit/>
          </a:bodyPr>
          <a:lstStyle/>
          <a:p>
            <a:pPr algn="l">
              <a:lnSpc>
                <a:spcPct val="105000"/>
              </a:lnSpc>
              <a:spcAft>
                <a:spcPts val="600"/>
              </a:spcAft>
            </a:pPr>
            <a:r>
              <a:rPr sz="1300" b="0">
                <a:solidFill>
                  <a:srgbClr val="3A3F4A"/>
                </a:solidFill>
                <a:latin typeface="Calibri"/>
              </a:rPr>
              <a:t>marjanahmed.dev@gmail.com</a:t>
            </a:r>
          </a:p>
        </p:txBody>
      </p:sp>
      <p:sp>
        <p:nvSpPr>
          <p:cNvPr id="14" name="Rectangle 13"/>
          <p:cNvSpPr/>
          <p:nvPr/>
        </p:nvSpPr>
        <p:spPr>
          <a:xfrm>
            <a:off x="4754880" y="4078224"/>
            <a:ext cx="109728" cy="365760"/>
          </a:xfrm>
          <a:prstGeom prst="rect">
            <a:avLst/>
          </a:prstGeom>
          <a:solidFill>
            <a:srgbClr val="DB4B0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983480" y="4014216"/>
            <a:ext cx="1828800" cy="457200"/>
          </a:xfrm>
          <a:prstGeom prst="rect">
            <a:avLst/>
          </a:prstGeom>
          <a:noFill/>
        </p:spPr>
        <p:txBody>
          <a:bodyPr wrap="square" anchor="ctr">
            <a:spAutoFit/>
          </a:bodyPr>
          <a:lstStyle/>
          <a:p>
            <a:pPr algn="l">
              <a:lnSpc>
                <a:spcPct val="105000"/>
              </a:lnSpc>
              <a:spcAft>
                <a:spcPts val="600"/>
              </a:spcAft>
            </a:pPr>
            <a:r>
              <a:rPr sz="1300" b="1">
                <a:solidFill>
                  <a:srgbClr val="111828"/>
                </a:solidFill>
                <a:latin typeface="Calibri"/>
              </a:rPr>
              <a:t>Founder</a:t>
            </a:r>
          </a:p>
        </p:txBody>
      </p:sp>
      <p:sp>
        <p:nvSpPr>
          <p:cNvPr id="16" name="TextBox 15"/>
          <p:cNvSpPr txBox="1"/>
          <p:nvPr/>
        </p:nvSpPr>
        <p:spPr>
          <a:xfrm>
            <a:off x="6766560" y="4014216"/>
            <a:ext cx="4754880" cy="457200"/>
          </a:xfrm>
          <a:prstGeom prst="rect">
            <a:avLst/>
          </a:prstGeom>
          <a:noFill/>
        </p:spPr>
        <p:txBody>
          <a:bodyPr wrap="square" anchor="ctr">
            <a:spAutoFit/>
          </a:bodyPr>
          <a:lstStyle/>
          <a:p>
            <a:pPr algn="l">
              <a:lnSpc>
                <a:spcPct val="105000"/>
              </a:lnSpc>
              <a:spcAft>
                <a:spcPts val="600"/>
              </a:spcAft>
            </a:pPr>
            <a:r>
              <a:rPr sz="1300" b="0">
                <a:solidFill>
                  <a:srgbClr val="3A3F4A"/>
                </a:solidFill>
                <a:latin typeface="Calibri"/>
              </a:rPr>
              <a:t>Marjan Ahmed — Founder &amp; CEO</a:t>
            </a:r>
          </a:p>
        </p:txBody>
      </p:sp>
      <p:sp>
        <p:nvSpPr>
          <p:cNvPr id="17" name="Rectangle 16"/>
          <p:cNvSpPr/>
          <p:nvPr/>
        </p:nvSpPr>
        <p:spPr>
          <a:xfrm>
            <a:off x="4754880" y="4645152"/>
            <a:ext cx="109728" cy="365760"/>
          </a:xfrm>
          <a:prstGeom prst="rect">
            <a:avLst/>
          </a:prstGeom>
          <a:solidFill>
            <a:srgbClr val="DB4B0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983480" y="4581144"/>
            <a:ext cx="1828800" cy="457200"/>
          </a:xfrm>
          <a:prstGeom prst="rect">
            <a:avLst/>
          </a:prstGeom>
          <a:noFill/>
        </p:spPr>
        <p:txBody>
          <a:bodyPr wrap="square" anchor="ctr">
            <a:spAutoFit/>
          </a:bodyPr>
          <a:lstStyle/>
          <a:p>
            <a:pPr algn="l">
              <a:lnSpc>
                <a:spcPct val="105000"/>
              </a:lnSpc>
              <a:spcAft>
                <a:spcPts val="600"/>
              </a:spcAft>
            </a:pPr>
            <a:r>
              <a:rPr sz="1300" b="1">
                <a:solidFill>
                  <a:srgbClr val="111828"/>
                </a:solidFill>
                <a:latin typeface="Calibri"/>
              </a:rPr>
              <a:t>Location</a:t>
            </a:r>
          </a:p>
        </p:txBody>
      </p:sp>
      <p:sp>
        <p:nvSpPr>
          <p:cNvPr id="19" name="TextBox 18"/>
          <p:cNvSpPr txBox="1"/>
          <p:nvPr/>
        </p:nvSpPr>
        <p:spPr>
          <a:xfrm>
            <a:off x="6766560" y="4581144"/>
            <a:ext cx="4754880" cy="457200"/>
          </a:xfrm>
          <a:prstGeom prst="rect">
            <a:avLst/>
          </a:prstGeom>
          <a:noFill/>
        </p:spPr>
        <p:txBody>
          <a:bodyPr wrap="square" anchor="ctr">
            <a:spAutoFit/>
          </a:bodyPr>
          <a:lstStyle/>
          <a:p>
            <a:pPr algn="l">
              <a:lnSpc>
                <a:spcPct val="105000"/>
              </a:lnSpc>
              <a:spcAft>
                <a:spcPts val="600"/>
              </a:spcAft>
            </a:pPr>
            <a:r>
              <a:rPr sz="1300" b="0">
                <a:solidFill>
                  <a:srgbClr val="3A3F4A"/>
                </a:solidFill>
                <a:latin typeface="Calibri"/>
              </a:rPr>
              <a:t>Karachi, Pakistan</a:t>
            </a:r>
          </a:p>
        </p:txBody>
      </p:sp>
      <p:sp>
        <p:nvSpPr>
          <p:cNvPr id="20" name="TextBox 19"/>
          <p:cNvSpPr txBox="1"/>
          <p:nvPr/>
        </p:nvSpPr>
        <p:spPr>
          <a:xfrm>
            <a:off x="4754880" y="5669280"/>
            <a:ext cx="6858000" cy="457200"/>
          </a:xfrm>
          <a:prstGeom prst="rect">
            <a:avLst/>
          </a:prstGeom>
          <a:noFill/>
        </p:spPr>
        <p:txBody>
          <a:bodyPr wrap="square" anchor="t">
            <a:spAutoFit/>
          </a:bodyPr>
          <a:lstStyle/>
          <a:p>
            <a:pPr algn="l">
              <a:lnSpc>
                <a:spcPct val="105000"/>
              </a:lnSpc>
              <a:spcAft>
                <a:spcPts val="600"/>
              </a:spcAft>
            </a:pPr>
            <a:r>
              <a:rPr sz="1100" b="0">
                <a:solidFill>
                  <a:srgbClr val="6B707A"/>
                </a:solidFill>
                <a:latin typeface="Calibri"/>
              </a:rPr>
              <a:t>Applying for NIC Karachi incubation</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